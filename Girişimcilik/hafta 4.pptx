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5" r:id="rId20"/>
    <p:sldId id="288" r:id="rId21"/>
    <p:sldId id="289" r:id="rId22"/>
    <p:sldId id="290" r:id="rId23"/>
    <p:sldId id="291" r:id="rId24"/>
    <p:sldId id="274" r:id="rId25"/>
    <p:sldId id="275" r:id="rId26"/>
    <p:sldId id="276" r:id="rId27"/>
    <p:sldId id="283" r:id="rId28"/>
    <p:sldId id="277" r:id="rId29"/>
    <p:sldId id="278" r:id="rId30"/>
    <p:sldId id="286" r:id="rId31"/>
    <p:sldId id="287" r:id="rId32"/>
    <p:sldId id="279" r:id="rId33"/>
    <p:sldId id="280" r:id="rId34"/>
    <p:sldId id="281" r:id="rId35"/>
    <p:sldId id="282" r:id="rId36"/>
    <p:sldId id="284" r:id="rId3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BEF4E5-6DA4-45FF-B73B-365757C8E947}" v="3" dt="2025-10-14T11:59:09.609"/>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T CETIN" userId="2e2693f6-b6ea-444e-bae2-ae104160d18b" providerId="ADAL" clId="{0CBEF4E5-6DA4-45FF-B73B-365757C8E947}"/>
    <pc:docChg chg="undo custSel addSld delSld modSld">
      <pc:chgData name="AHMET CETIN" userId="2e2693f6-b6ea-444e-bae2-ae104160d18b" providerId="ADAL" clId="{0CBEF4E5-6DA4-45FF-B73B-365757C8E947}" dt="2025-10-14T11:59:09.609" v="915"/>
      <pc:docMkLst>
        <pc:docMk/>
      </pc:docMkLst>
      <pc:sldChg chg="modSp new mod">
        <pc:chgData name="AHMET CETIN" userId="2e2693f6-b6ea-444e-bae2-ae104160d18b" providerId="ADAL" clId="{0CBEF4E5-6DA4-45FF-B73B-365757C8E947}" dt="2025-10-02T15:50:03.919" v="19" actId="20577"/>
        <pc:sldMkLst>
          <pc:docMk/>
          <pc:sldMk cId="2034965683" sldId="256"/>
        </pc:sldMkLst>
        <pc:spChg chg="mod">
          <ac:chgData name="AHMET CETIN" userId="2e2693f6-b6ea-444e-bae2-ae104160d18b" providerId="ADAL" clId="{0CBEF4E5-6DA4-45FF-B73B-365757C8E947}" dt="2025-10-02T15:50:03.919" v="19" actId="20577"/>
          <ac:spMkLst>
            <pc:docMk/>
            <pc:sldMk cId="2034965683" sldId="256"/>
            <ac:spMk id="2" creationId="{CC2E9891-1498-8EFD-AA1F-158973B666BB}"/>
          </ac:spMkLst>
        </pc:spChg>
      </pc:sldChg>
      <pc:sldChg chg="addSp delSp modSp new mod">
        <pc:chgData name="AHMET CETIN" userId="2e2693f6-b6ea-444e-bae2-ae104160d18b" providerId="ADAL" clId="{0CBEF4E5-6DA4-45FF-B73B-365757C8E947}" dt="2025-10-02T15:51:05.352" v="25" actId="14100"/>
        <pc:sldMkLst>
          <pc:docMk/>
          <pc:sldMk cId="3256339101" sldId="257"/>
        </pc:sldMkLst>
        <pc:spChg chg="mod">
          <ac:chgData name="AHMET CETIN" userId="2e2693f6-b6ea-444e-bae2-ae104160d18b" providerId="ADAL" clId="{0CBEF4E5-6DA4-45FF-B73B-365757C8E947}" dt="2025-10-02T15:50:15.304" v="21"/>
          <ac:spMkLst>
            <pc:docMk/>
            <pc:sldMk cId="3256339101" sldId="257"/>
            <ac:spMk id="2" creationId="{958FFAD3-DDE7-FF3C-8193-AABB44582370}"/>
          </ac:spMkLst>
        </pc:spChg>
        <pc:picChg chg="add mod ord">
          <ac:chgData name="AHMET CETIN" userId="2e2693f6-b6ea-444e-bae2-ae104160d18b" providerId="ADAL" clId="{0CBEF4E5-6DA4-45FF-B73B-365757C8E947}" dt="2025-10-02T15:51:05.352" v="25" actId="14100"/>
          <ac:picMkLst>
            <pc:docMk/>
            <pc:sldMk cId="3256339101" sldId="257"/>
            <ac:picMk id="5" creationId="{A06A3D51-D352-E9CB-6FCD-F68227093ACE}"/>
          </ac:picMkLst>
        </pc:picChg>
      </pc:sldChg>
      <pc:sldChg chg="modSp new mod">
        <pc:chgData name="AHMET CETIN" userId="2e2693f6-b6ea-444e-bae2-ae104160d18b" providerId="ADAL" clId="{0CBEF4E5-6DA4-45FF-B73B-365757C8E947}" dt="2025-10-14T09:38:52.457" v="830" actId="5793"/>
        <pc:sldMkLst>
          <pc:docMk/>
          <pc:sldMk cId="425590339" sldId="258"/>
        </pc:sldMkLst>
        <pc:spChg chg="mod">
          <ac:chgData name="AHMET CETIN" userId="2e2693f6-b6ea-444e-bae2-ae104160d18b" providerId="ADAL" clId="{0CBEF4E5-6DA4-45FF-B73B-365757C8E947}" dt="2025-10-02T15:51:50.024" v="27"/>
          <ac:spMkLst>
            <pc:docMk/>
            <pc:sldMk cId="425590339" sldId="258"/>
            <ac:spMk id="2" creationId="{D72DE2B7-C6CB-9334-6D2A-36D1F5CBD361}"/>
          </ac:spMkLst>
        </pc:spChg>
        <pc:spChg chg="mod">
          <ac:chgData name="AHMET CETIN" userId="2e2693f6-b6ea-444e-bae2-ae104160d18b" providerId="ADAL" clId="{0CBEF4E5-6DA4-45FF-B73B-365757C8E947}" dt="2025-10-14T09:38:52.457" v="830" actId="5793"/>
          <ac:spMkLst>
            <pc:docMk/>
            <pc:sldMk cId="425590339" sldId="258"/>
            <ac:spMk id="3" creationId="{AC0E52D5-3B36-A17D-2481-95C0161D45F7}"/>
          </ac:spMkLst>
        </pc:spChg>
      </pc:sldChg>
      <pc:sldChg chg="modSp new mod">
        <pc:chgData name="AHMET CETIN" userId="2e2693f6-b6ea-444e-bae2-ae104160d18b" providerId="ADAL" clId="{0CBEF4E5-6DA4-45FF-B73B-365757C8E947}" dt="2025-10-02T15:52:22.916" v="31" actId="27636"/>
        <pc:sldMkLst>
          <pc:docMk/>
          <pc:sldMk cId="537326334" sldId="259"/>
        </pc:sldMkLst>
        <pc:spChg chg="mod">
          <ac:chgData name="AHMET CETIN" userId="2e2693f6-b6ea-444e-bae2-ae104160d18b" providerId="ADAL" clId="{0CBEF4E5-6DA4-45FF-B73B-365757C8E947}" dt="2025-10-02T15:52:22.916" v="31" actId="27636"/>
          <ac:spMkLst>
            <pc:docMk/>
            <pc:sldMk cId="537326334" sldId="259"/>
            <ac:spMk id="3" creationId="{4D4C7CE8-EDDF-F9F0-29B0-68CF085E11A8}"/>
          </ac:spMkLst>
        </pc:spChg>
      </pc:sldChg>
      <pc:sldChg chg="modSp new mod">
        <pc:chgData name="AHMET CETIN" userId="2e2693f6-b6ea-444e-bae2-ae104160d18b" providerId="ADAL" clId="{0CBEF4E5-6DA4-45FF-B73B-365757C8E947}" dt="2025-10-02T15:52:33.700" v="33"/>
        <pc:sldMkLst>
          <pc:docMk/>
          <pc:sldMk cId="3184877481" sldId="260"/>
        </pc:sldMkLst>
        <pc:spChg chg="mod">
          <ac:chgData name="AHMET CETIN" userId="2e2693f6-b6ea-444e-bae2-ae104160d18b" providerId="ADAL" clId="{0CBEF4E5-6DA4-45FF-B73B-365757C8E947}" dt="2025-10-02T15:52:33.700" v="33"/>
          <ac:spMkLst>
            <pc:docMk/>
            <pc:sldMk cId="3184877481" sldId="260"/>
            <ac:spMk id="3" creationId="{A256A892-E6E8-D3A7-7A84-613FC15114BD}"/>
          </ac:spMkLst>
        </pc:spChg>
      </pc:sldChg>
      <pc:sldChg chg="delSp modSp new mod">
        <pc:chgData name="AHMET CETIN" userId="2e2693f6-b6ea-444e-bae2-ae104160d18b" providerId="ADAL" clId="{0CBEF4E5-6DA4-45FF-B73B-365757C8E947}" dt="2025-10-04T12:26:40.942" v="43" actId="478"/>
        <pc:sldMkLst>
          <pc:docMk/>
          <pc:sldMk cId="3670420056" sldId="261"/>
        </pc:sldMkLst>
        <pc:spChg chg="mod">
          <ac:chgData name="AHMET CETIN" userId="2e2693f6-b6ea-444e-bae2-ae104160d18b" providerId="ADAL" clId="{0CBEF4E5-6DA4-45FF-B73B-365757C8E947}" dt="2025-10-02T15:52:44.741" v="36" actId="27636"/>
          <ac:spMkLst>
            <pc:docMk/>
            <pc:sldMk cId="3670420056" sldId="261"/>
            <ac:spMk id="3" creationId="{2A56BC5F-67AB-37EB-C048-4C17FFCE092C}"/>
          </ac:spMkLst>
        </pc:spChg>
      </pc:sldChg>
      <pc:sldChg chg="modSp new mod">
        <pc:chgData name="AHMET CETIN" userId="2e2693f6-b6ea-444e-bae2-ae104160d18b" providerId="ADAL" clId="{0CBEF4E5-6DA4-45FF-B73B-365757C8E947}" dt="2025-10-14T09:41:24.025" v="841" actId="20577"/>
        <pc:sldMkLst>
          <pc:docMk/>
          <pc:sldMk cId="940117544" sldId="262"/>
        </pc:sldMkLst>
        <pc:spChg chg="mod">
          <ac:chgData name="AHMET CETIN" userId="2e2693f6-b6ea-444e-bae2-ae104160d18b" providerId="ADAL" clId="{0CBEF4E5-6DA4-45FF-B73B-365757C8E947}" dt="2025-10-14T09:41:24.025" v="841" actId="20577"/>
          <ac:spMkLst>
            <pc:docMk/>
            <pc:sldMk cId="940117544" sldId="262"/>
            <ac:spMk id="3" creationId="{23D3A220-3422-1924-AB18-4B2E0DA657EE}"/>
          </ac:spMkLst>
        </pc:spChg>
      </pc:sldChg>
      <pc:sldChg chg="modSp new mod">
        <pc:chgData name="AHMET CETIN" userId="2e2693f6-b6ea-444e-bae2-ae104160d18b" providerId="ADAL" clId="{0CBEF4E5-6DA4-45FF-B73B-365757C8E947}" dt="2025-10-02T15:53:13.688" v="42" actId="27636"/>
        <pc:sldMkLst>
          <pc:docMk/>
          <pc:sldMk cId="2251242063" sldId="263"/>
        </pc:sldMkLst>
        <pc:spChg chg="mod">
          <ac:chgData name="AHMET CETIN" userId="2e2693f6-b6ea-444e-bae2-ae104160d18b" providerId="ADAL" clId="{0CBEF4E5-6DA4-45FF-B73B-365757C8E947}" dt="2025-10-02T15:53:13.688" v="42" actId="27636"/>
          <ac:spMkLst>
            <pc:docMk/>
            <pc:sldMk cId="2251242063" sldId="263"/>
            <ac:spMk id="3" creationId="{81066888-4BA1-DC59-2208-8E45480E1D99}"/>
          </ac:spMkLst>
        </pc:spChg>
      </pc:sldChg>
      <pc:sldChg chg="modSp new mod">
        <pc:chgData name="AHMET CETIN" userId="2e2693f6-b6ea-444e-bae2-ae104160d18b" providerId="ADAL" clId="{0CBEF4E5-6DA4-45FF-B73B-365757C8E947}" dt="2025-10-14T09:42:12.984" v="842" actId="114"/>
        <pc:sldMkLst>
          <pc:docMk/>
          <pc:sldMk cId="2717921256" sldId="264"/>
        </pc:sldMkLst>
        <pc:spChg chg="mod">
          <ac:chgData name="AHMET CETIN" userId="2e2693f6-b6ea-444e-bae2-ae104160d18b" providerId="ADAL" clId="{0CBEF4E5-6DA4-45FF-B73B-365757C8E947}" dt="2025-10-04T12:27:17.942" v="90" actId="20577"/>
          <ac:spMkLst>
            <pc:docMk/>
            <pc:sldMk cId="2717921256" sldId="264"/>
            <ac:spMk id="2" creationId="{B0078B29-7983-4DE8-EE33-D3582A989090}"/>
          </ac:spMkLst>
        </pc:spChg>
        <pc:spChg chg="mod">
          <ac:chgData name="AHMET CETIN" userId="2e2693f6-b6ea-444e-bae2-ae104160d18b" providerId="ADAL" clId="{0CBEF4E5-6DA4-45FF-B73B-365757C8E947}" dt="2025-10-14T09:42:12.984" v="842" actId="114"/>
          <ac:spMkLst>
            <pc:docMk/>
            <pc:sldMk cId="2717921256" sldId="264"/>
            <ac:spMk id="3" creationId="{29E0446D-9214-D07B-15E5-8F82B7EB03C4}"/>
          </ac:spMkLst>
        </pc:spChg>
      </pc:sldChg>
      <pc:sldChg chg="delSp modSp new mod">
        <pc:chgData name="AHMET CETIN" userId="2e2693f6-b6ea-444e-bae2-ae104160d18b" providerId="ADAL" clId="{0CBEF4E5-6DA4-45FF-B73B-365757C8E947}" dt="2025-10-14T09:45:21.710" v="863" actId="20577"/>
        <pc:sldMkLst>
          <pc:docMk/>
          <pc:sldMk cId="3454434892" sldId="265"/>
        </pc:sldMkLst>
        <pc:spChg chg="mod">
          <ac:chgData name="AHMET CETIN" userId="2e2693f6-b6ea-444e-bae2-ae104160d18b" providerId="ADAL" clId="{0CBEF4E5-6DA4-45FF-B73B-365757C8E947}" dt="2025-10-14T09:45:21.710" v="863" actId="20577"/>
          <ac:spMkLst>
            <pc:docMk/>
            <pc:sldMk cId="3454434892" sldId="265"/>
            <ac:spMk id="3" creationId="{C28ADD1D-B492-C986-D51B-CA6931CC8CD6}"/>
          </ac:spMkLst>
        </pc:spChg>
      </pc:sldChg>
      <pc:sldChg chg="delSp modSp new mod">
        <pc:chgData name="AHMET CETIN" userId="2e2693f6-b6ea-444e-bae2-ae104160d18b" providerId="ADAL" clId="{0CBEF4E5-6DA4-45FF-B73B-365757C8E947}" dt="2025-10-04T12:49:59.461" v="779" actId="478"/>
        <pc:sldMkLst>
          <pc:docMk/>
          <pc:sldMk cId="3212938748" sldId="266"/>
        </pc:sldMkLst>
        <pc:spChg chg="mod">
          <ac:chgData name="AHMET CETIN" userId="2e2693f6-b6ea-444e-bae2-ae104160d18b" providerId="ADAL" clId="{0CBEF4E5-6DA4-45FF-B73B-365757C8E947}" dt="2025-10-04T12:29:19.724" v="150" actId="20577"/>
          <ac:spMkLst>
            <pc:docMk/>
            <pc:sldMk cId="3212938748" sldId="266"/>
            <ac:spMk id="3" creationId="{8457F53A-8EEB-F4E2-66F0-B8673D2C90F2}"/>
          </ac:spMkLst>
        </pc:spChg>
      </pc:sldChg>
      <pc:sldChg chg="delSp modSp new mod">
        <pc:chgData name="AHMET CETIN" userId="2e2693f6-b6ea-444e-bae2-ae104160d18b" providerId="ADAL" clId="{0CBEF4E5-6DA4-45FF-B73B-365757C8E947}" dt="2025-10-04T12:49:56.661" v="778" actId="478"/>
        <pc:sldMkLst>
          <pc:docMk/>
          <pc:sldMk cId="3097476996" sldId="267"/>
        </pc:sldMkLst>
        <pc:spChg chg="mod">
          <ac:chgData name="AHMET CETIN" userId="2e2693f6-b6ea-444e-bae2-ae104160d18b" providerId="ADAL" clId="{0CBEF4E5-6DA4-45FF-B73B-365757C8E947}" dt="2025-10-04T12:29:41.083" v="166" actId="20577"/>
          <ac:spMkLst>
            <pc:docMk/>
            <pc:sldMk cId="3097476996" sldId="267"/>
            <ac:spMk id="3" creationId="{7CD50ECF-1DF5-073B-D430-8D1D99AEF8CB}"/>
          </ac:spMkLst>
        </pc:spChg>
      </pc:sldChg>
      <pc:sldChg chg="delSp modSp new mod">
        <pc:chgData name="AHMET CETIN" userId="2e2693f6-b6ea-444e-bae2-ae104160d18b" providerId="ADAL" clId="{0CBEF4E5-6DA4-45FF-B73B-365757C8E947}" dt="2025-10-14T11:51:17.396" v="897" actId="20577"/>
        <pc:sldMkLst>
          <pc:docMk/>
          <pc:sldMk cId="1663578058" sldId="268"/>
        </pc:sldMkLst>
        <pc:spChg chg="mod">
          <ac:chgData name="AHMET CETIN" userId="2e2693f6-b6ea-444e-bae2-ae104160d18b" providerId="ADAL" clId="{0CBEF4E5-6DA4-45FF-B73B-365757C8E947}" dt="2025-10-14T11:51:17.396" v="897" actId="20577"/>
          <ac:spMkLst>
            <pc:docMk/>
            <pc:sldMk cId="1663578058" sldId="268"/>
            <ac:spMk id="3" creationId="{B49AD902-A6E8-B51C-00D9-8C9FE0CFE491}"/>
          </ac:spMkLst>
        </pc:spChg>
      </pc:sldChg>
      <pc:sldChg chg="delSp modSp new mod">
        <pc:chgData name="AHMET CETIN" userId="2e2693f6-b6ea-444e-bae2-ae104160d18b" providerId="ADAL" clId="{0CBEF4E5-6DA4-45FF-B73B-365757C8E947}" dt="2025-10-14T11:51:52.008" v="899" actId="114"/>
        <pc:sldMkLst>
          <pc:docMk/>
          <pc:sldMk cId="3865395517" sldId="269"/>
        </pc:sldMkLst>
        <pc:spChg chg="mod">
          <ac:chgData name="AHMET CETIN" userId="2e2693f6-b6ea-444e-bae2-ae104160d18b" providerId="ADAL" clId="{0CBEF4E5-6DA4-45FF-B73B-365757C8E947}" dt="2025-10-14T11:51:52.008" v="899" actId="114"/>
          <ac:spMkLst>
            <pc:docMk/>
            <pc:sldMk cId="3865395517" sldId="269"/>
            <ac:spMk id="3" creationId="{BACD4B2C-8C14-F998-DD8B-A70CC23D8F97}"/>
          </ac:spMkLst>
        </pc:spChg>
      </pc:sldChg>
      <pc:sldChg chg="delSp modSp new mod">
        <pc:chgData name="AHMET CETIN" userId="2e2693f6-b6ea-444e-bae2-ae104160d18b" providerId="ADAL" clId="{0CBEF4E5-6DA4-45FF-B73B-365757C8E947}" dt="2025-10-04T12:49:47.115" v="775" actId="478"/>
        <pc:sldMkLst>
          <pc:docMk/>
          <pc:sldMk cId="3890599945" sldId="270"/>
        </pc:sldMkLst>
        <pc:spChg chg="mod">
          <ac:chgData name="AHMET CETIN" userId="2e2693f6-b6ea-444e-bae2-ae104160d18b" providerId="ADAL" clId="{0CBEF4E5-6DA4-45FF-B73B-365757C8E947}" dt="2025-10-04T12:32:24.707" v="268" actId="20577"/>
          <ac:spMkLst>
            <pc:docMk/>
            <pc:sldMk cId="3890599945" sldId="270"/>
            <ac:spMk id="3" creationId="{F62E5994-FF5A-6274-45F0-0E98F568B34C}"/>
          </ac:spMkLst>
        </pc:spChg>
      </pc:sldChg>
      <pc:sldChg chg="delSp modSp new mod">
        <pc:chgData name="AHMET CETIN" userId="2e2693f6-b6ea-444e-bae2-ae104160d18b" providerId="ADAL" clId="{0CBEF4E5-6DA4-45FF-B73B-365757C8E947}" dt="2025-10-04T12:49:42.818" v="774" actId="478"/>
        <pc:sldMkLst>
          <pc:docMk/>
          <pc:sldMk cId="3313478568" sldId="271"/>
        </pc:sldMkLst>
        <pc:spChg chg="mod">
          <ac:chgData name="AHMET CETIN" userId="2e2693f6-b6ea-444e-bae2-ae104160d18b" providerId="ADAL" clId="{0CBEF4E5-6DA4-45FF-B73B-365757C8E947}" dt="2025-10-04T12:32:44.589" v="282" actId="20577"/>
          <ac:spMkLst>
            <pc:docMk/>
            <pc:sldMk cId="3313478568" sldId="271"/>
            <ac:spMk id="3" creationId="{68A1A246-8BCC-71FC-3875-359798FB0389}"/>
          </ac:spMkLst>
        </pc:spChg>
      </pc:sldChg>
      <pc:sldChg chg="delSp modSp new mod">
        <pc:chgData name="AHMET CETIN" userId="2e2693f6-b6ea-444e-bae2-ae104160d18b" providerId="ADAL" clId="{0CBEF4E5-6DA4-45FF-B73B-365757C8E947}" dt="2025-10-04T12:49:40.166" v="773" actId="478"/>
        <pc:sldMkLst>
          <pc:docMk/>
          <pc:sldMk cId="822003700" sldId="272"/>
        </pc:sldMkLst>
        <pc:spChg chg="mod">
          <ac:chgData name="AHMET CETIN" userId="2e2693f6-b6ea-444e-bae2-ae104160d18b" providerId="ADAL" clId="{0CBEF4E5-6DA4-45FF-B73B-365757C8E947}" dt="2025-10-04T12:33:09.302" v="302" actId="20577"/>
          <ac:spMkLst>
            <pc:docMk/>
            <pc:sldMk cId="822003700" sldId="272"/>
            <ac:spMk id="3" creationId="{B12A10DE-08ED-EC9D-FB13-9F06403A0997}"/>
          </ac:spMkLst>
        </pc:spChg>
      </pc:sldChg>
      <pc:sldChg chg="delSp modSp new mod">
        <pc:chgData name="AHMET CETIN" userId="2e2693f6-b6ea-444e-bae2-ae104160d18b" providerId="ADAL" clId="{0CBEF4E5-6DA4-45FF-B73B-365757C8E947}" dt="2025-10-14T11:52:59.400" v="900" actId="114"/>
        <pc:sldMkLst>
          <pc:docMk/>
          <pc:sldMk cId="746549403" sldId="273"/>
        </pc:sldMkLst>
        <pc:spChg chg="mod">
          <ac:chgData name="AHMET CETIN" userId="2e2693f6-b6ea-444e-bae2-ae104160d18b" providerId="ADAL" clId="{0CBEF4E5-6DA4-45FF-B73B-365757C8E947}" dt="2025-10-14T11:52:59.400" v="900" actId="114"/>
          <ac:spMkLst>
            <pc:docMk/>
            <pc:sldMk cId="746549403" sldId="273"/>
            <ac:spMk id="3" creationId="{B39CF6DD-A94C-CFA9-D5C3-4AE765655D97}"/>
          </ac:spMkLst>
        </pc:spChg>
      </pc:sldChg>
      <pc:sldChg chg="modSp new mod">
        <pc:chgData name="AHMET CETIN" userId="2e2693f6-b6ea-444e-bae2-ae104160d18b" providerId="ADAL" clId="{0CBEF4E5-6DA4-45FF-B73B-365757C8E947}" dt="2025-10-04T12:38:38.851" v="491" actId="20577"/>
        <pc:sldMkLst>
          <pc:docMk/>
          <pc:sldMk cId="2516387532" sldId="274"/>
        </pc:sldMkLst>
        <pc:spChg chg="mod">
          <ac:chgData name="AHMET CETIN" userId="2e2693f6-b6ea-444e-bae2-ae104160d18b" providerId="ADAL" clId="{0CBEF4E5-6DA4-45FF-B73B-365757C8E947}" dt="2025-10-04T12:36:07.193" v="335" actId="20577"/>
          <ac:spMkLst>
            <pc:docMk/>
            <pc:sldMk cId="2516387532" sldId="274"/>
            <ac:spMk id="2" creationId="{89604299-D06C-F74B-AE21-9522FB06EE7A}"/>
          </ac:spMkLst>
        </pc:spChg>
        <pc:spChg chg="mod">
          <ac:chgData name="AHMET CETIN" userId="2e2693f6-b6ea-444e-bae2-ae104160d18b" providerId="ADAL" clId="{0CBEF4E5-6DA4-45FF-B73B-365757C8E947}" dt="2025-10-04T12:38:38.851" v="491" actId="20577"/>
          <ac:spMkLst>
            <pc:docMk/>
            <pc:sldMk cId="2516387532" sldId="274"/>
            <ac:spMk id="3" creationId="{08C98C43-BD7B-2738-8ACA-A1E38CDDCFE0}"/>
          </ac:spMkLst>
        </pc:spChg>
      </pc:sldChg>
      <pc:sldChg chg="delSp modSp new mod">
        <pc:chgData name="AHMET CETIN" userId="2e2693f6-b6ea-444e-bae2-ae104160d18b" providerId="ADAL" clId="{0CBEF4E5-6DA4-45FF-B73B-365757C8E947}" dt="2025-10-04T12:47:57.277" v="752" actId="478"/>
        <pc:sldMkLst>
          <pc:docMk/>
          <pc:sldMk cId="3236996395" sldId="275"/>
        </pc:sldMkLst>
        <pc:spChg chg="mod">
          <ac:chgData name="AHMET CETIN" userId="2e2693f6-b6ea-444e-bae2-ae104160d18b" providerId="ADAL" clId="{0CBEF4E5-6DA4-45FF-B73B-365757C8E947}" dt="2025-10-04T12:39:04.239" v="508" actId="20577"/>
          <ac:spMkLst>
            <pc:docMk/>
            <pc:sldMk cId="3236996395" sldId="275"/>
            <ac:spMk id="3" creationId="{3FBD5DBA-F8A2-18F6-0376-ADB2BC710229}"/>
          </ac:spMkLst>
        </pc:spChg>
      </pc:sldChg>
      <pc:sldChg chg="delSp modSp new mod">
        <pc:chgData name="AHMET CETIN" userId="2e2693f6-b6ea-444e-bae2-ae104160d18b" providerId="ADAL" clId="{0CBEF4E5-6DA4-45FF-B73B-365757C8E947}" dt="2025-10-14T11:57:56.044" v="913" actId="20577"/>
        <pc:sldMkLst>
          <pc:docMk/>
          <pc:sldMk cId="190702813" sldId="276"/>
        </pc:sldMkLst>
        <pc:spChg chg="mod">
          <ac:chgData name="AHMET CETIN" userId="2e2693f6-b6ea-444e-bae2-ae104160d18b" providerId="ADAL" clId="{0CBEF4E5-6DA4-45FF-B73B-365757C8E947}" dt="2025-10-14T11:57:56.044" v="913" actId="20577"/>
          <ac:spMkLst>
            <pc:docMk/>
            <pc:sldMk cId="190702813" sldId="276"/>
            <ac:spMk id="3" creationId="{41130180-8BC3-99CF-60D3-63D5683647A9}"/>
          </ac:spMkLst>
        </pc:spChg>
      </pc:sldChg>
      <pc:sldChg chg="delSp modSp new mod">
        <pc:chgData name="AHMET CETIN" userId="2e2693f6-b6ea-444e-bae2-ae104160d18b" providerId="ADAL" clId="{0CBEF4E5-6DA4-45FF-B73B-365757C8E947}" dt="2025-10-04T12:48:05.812" v="754" actId="478"/>
        <pc:sldMkLst>
          <pc:docMk/>
          <pc:sldMk cId="1066892921" sldId="277"/>
        </pc:sldMkLst>
        <pc:spChg chg="mod">
          <ac:chgData name="AHMET CETIN" userId="2e2693f6-b6ea-444e-bae2-ae104160d18b" providerId="ADAL" clId="{0CBEF4E5-6DA4-45FF-B73B-365757C8E947}" dt="2025-10-04T12:45:40.498" v="740"/>
          <ac:spMkLst>
            <pc:docMk/>
            <pc:sldMk cId="1066892921" sldId="277"/>
            <ac:spMk id="3" creationId="{D9890F49-3C27-93CC-9B0C-5A834ABB8CC5}"/>
          </ac:spMkLst>
        </pc:spChg>
      </pc:sldChg>
      <pc:sldChg chg="delSp modSp new mod">
        <pc:chgData name="AHMET CETIN" userId="2e2693f6-b6ea-444e-bae2-ae104160d18b" providerId="ADAL" clId="{0CBEF4E5-6DA4-45FF-B73B-365757C8E947}" dt="2025-10-04T12:48:07.943" v="755" actId="478"/>
        <pc:sldMkLst>
          <pc:docMk/>
          <pc:sldMk cId="754298287" sldId="278"/>
        </pc:sldMkLst>
        <pc:spChg chg="mod">
          <ac:chgData name="AHMET CETIN" userId="2e2693f6-b6ea-444e-bae2-ae104160d18b" providerId="ADAL" clId="{0CBEF4E5-6DA4-45FF-B73B-365757C8E947}" dt="2025-10-04T12:40:29.994" v="554" actId="20577"/>
          <ac:spMkLst>
            <pc:docMk/>
            <pc:sldMk cId="754298287" sldId="278"/>
            <ac:spMk id="3" creationId="{50685E64-7EA3-04FD-7E17-9D9A488CD684}"/>
          </ac:spMkLst>
        </pc:spChg>
      </pc:sldChg>
      <pc:sldChg chg="delSp modSp new mod">
        <pc:chgData name="AHMET CETIN" userId="2e2693f6-b6ea-444e-bae2-ae104160d18b" providerId="ADAL" clId="{0CBEF4E5-6DA4-45FF-B73B-365757C8E947}" dt="2025-10-04T12:48:09.895" v="756" actId="478"/>
        <pc:sldMkLst>
          <pc:docMk/>
          <pc:sldMk cId="100671087" sldId="279"/>
        </pc:sldMkLst>
        <pc:spChg chg="mod">
          <ac:chgData name="AHMET CETIN" userId="2e2693f6-b6ea-444e-bae2-ae104160d18b" providerId="ADAL" clId="{0CBEF4E5-6DA4-45FF-B73B-365757C8E947}" dt="2025-10-04T12:40:51.339" v="557" actId="20577"/>
          <ac:spMkLst>
            <pc:docMk/>
            <pc:sldMk cId="100671087" sldId="279"/>
            <ac:spMk id="3" creationId="{31C4C162-0E41-5C7F-1526-022D74C4FA14}"/>
          </ac:spMkLst>
        </pc:spChg>
      </pc:sldChg>
      <pc:sldChg chg="delSp modSp new mod">
        <pc:chgData name="AHMET CETIN" userId="2e2693f6-b6ea-444e-bae2-ae104160d18b" providerId="ADAL" clId="{0CBEF4E5-6DA4-45FF-B73B-365757C8E947}" dt="2025-10-04T12:48:12.101" v="757" actId="478"/>
        <pc:sldMkLst>
          <pc:docMk/>
          <pc:sldMk cId="3550108999" sldId="280"/>
        </pc:sldMkLst>
        <pc:spChg chg="mod">
          <ac:chgData name="AHMET CETIN" userId="2e2693f6-b6ea-444e-bae2-ae104160d18b" providerId="ADAL" clId="{0CBEF4E5-6DA4-45FF-B73B-365757C8E947}" dt="2025-10-04T12:41:05.631" v="560" actId="20577"/>
          <ac:spMkLst>
            <pc:docMk/>
            <pc:sldMk cId="3550108999" sldId="280"/>
            <ac:spMk id="3" creationId="{DCA75CAA-214A-3568-55E4-248B6C240768}"/>
          </ac:spMkLst>
        </pc:spChg>
      </pc:sldChg>
      <pc:sldChg chg="delSp modSp new mod">
        <pc:chgData name="AHMET CETIN" userId="2e2693f6-b6ea-444e-bae2-ae104160d18b" providerId="ADAL" clId="{0CBEF4E5-6DA4-45FF-B73B-365757C8E947}" dt="2025-10-04T12:48:14.225" v="758" actId="478"/>
        <pc:sldMkLst>
          <pc:docMk/>
          <pc:sldMk cId="75216108" sldId="281"/>
        </pc:sldMkLst>
        <pc:spChg chg="mod">
          <ac:chgData name="AHMET CETIN" userId="2e2693f6-b6ea-444e-bae2-ae104160d18b" providerId="ADAL" clId="{0CBEF4E5-6DA4-45FF-B73B-365757C8E947}" dt="2025-10-04T12:41:23.083" v="563" actId="20577"/>
          <ac:spMkLst>
            <pc:docMk/>
            <pc:sldMk cId="75216108" sldId="281"/>
            <ac:spMk id="3" creationId="{B88F9556-458D-2BFE-4C22-C119087DBC87}"/>
          </ac:spMkLst>
        </pc:spChg>
      </pc:sldChg>
      <pc:sldChg chg="new del">
        <pc:chgData name="AHMET CETIN" userId="2e2693f6-b6ea-444e-bae2-ae104160d18b" providerId="ADAL" clId="{0CBEF4E5-6DA4-45FF-B73B-365757C8E947}" dt="2025-10-04T12:42:24.279" v="565" actId="680"/>
        <pc:sldMkLst>
          <pc:docMk/>
          <pc:sldMk cId="1527491631" sldId="282"/>
        </pc:sldMkLst>
      </pc:sldChg>
      <pc:sldChg chg="delSp modSp new mod">
        <pc:chgData name="AHMET CETIN" userId="2e2693f6-b6ea-444e-bae2-ae104160d18b" providerId="ADAL" clId="{0CBEF4E5-6DA4-45FF-B73B-365757C8E947}" dt="2025-10-04T12:48:17.365" v="759" actId="478"/>
        <pc:sldMkLst>
          <pc:docMk/>
          <pc:sldMk cId="1941869790" sldId="282"/>
        </pc:sldMkLst>
        <pc:spChg chg="mod">
          <ac:chgData name="AHMET CETIN" userId="2e2693f6-b6ea-444e-bae2-ae104160d18b" providerId="ADAL" clId="{0CBEF4E5-6DA4-45FF-B73B-365757C8E947}" dt="2025-10-04T12:42:41.555" v="568" actId="20577"/>
          <ac:spMkLst>
            <pc:docMk/>
            <pc:sldMk cId="1941869790" sldId="282"/>
            <ac:spMk id="3" creationId="{EE9158F5-7119-104F-0743-56E7A5076636}"/>
          </ac:spMkLst>
        </pc:spChg>
      </pc:sldChg>
      <pc:sldChg chg="delSp modSp new mod">
        <pc:chgData name="AHMET CETIN" userId="2e2693f6-b6ea-444e-bae2-ae104160d18b" providerId="ADAL" clId="{0CBEF4E5-6DA4-45FF-B73B-365757C8E947}" dt="2025-10-04T12:45:23.332" v="738" actId="478"/>
        <pc:sldMkLst>
          <pc:docMk/>
          <pc:sldMk cId="1853174290" sldId="283"/>
        </pc:sldMkLst>
        <pc:spChg chg="mod">
          <ac:chgData name="AHMET CETIN" userId="2e2693f6-b6ea-444e-bae2-ae104160d18b" providerId="ADAL" clId="{0CBEF4E5-6DA4-45FF-B73B-365757C8E947}" dt="2025-10-04T12:45:13.775" v="737" actId="20577"/>
          <ac:spMkLst>
            <pc:docMk/>
            <pc:sldMk cId="1853174290" sldId="283"/>
            <ac:spMk id="3" creationId="{ACCA89A9-3FF4-D728-0B72-76F9D42B6D88}"/>
          </ac:spMkLst>
        </pc:spChg>
      </pc:sldChg>
      <pc:sldChg chg="addSp delSp modSp new mod">
        <pc:chgData name="AHMET CETIN" userId="2e2693f6-b6ea-444e-bae2-ae104160d18b" providerId="ADAL" clId="{0CBEF4E5-6DA4-45FF-B73B-365757C8E947}" dt="2025-10-04T12:46:59.676" v="751" actId="255"/>
        <pc:sldMkLst>
          <pc:docMk/>
          <pc:sldMk cId="3896017972" sldId="284"/>
        </pc:sldMkLst>
        <pc:graphicFrameChg chg="add mod modGraphic">
          <ac:chgData name="AHMET CETIN" userId="2e2693f6-b6ea-444e-bae2-ae104160d18b" providerId="ADAL" clId="{0CBEF4E5-6DA4-45FF-B73B-365757C8E947}" dt="2025-10-04T12:46:59.676" v="751" actId="255"/>
          <ac:graphicFrameMkLst>
            <pc:docMk/>
            <pc:sldMk cId="3896017972" sldId="284"/>
            <ac:graphicFrameMk id="4" creationId="{E173B9C5-0964-EFED-9A5E-D7F67FA1A9B0}"/>
          </ac:graphicFrameMkLst>
        </pc:graphicFrameChg>
      </pc:sldChg>
      <pc:sldChg chg="delSp modSp new mod">
        <pc:chgData name="AHMET CETIN" userId="2e2693f6-b6ea-444e-bae2-ae104160d18b" providerId="ADAL" clId="{0CBEF4E5-6DA4-45FF-B73B-365757C8E947}" dt="2025-10-04T12:49:24.002" v="772" actId="478"/>
        <pc:sldMkLst>
          <pc:docMk/>
          <pc:sldMk cId="384086043" sldId="285"/>
        </pc:sldMkLst>
        <pc:spChg chg="mod">
          <ac:chgData name="AHMET CETIN" userId="2e2693f6-b6ea-444e-bae2-ae104160d18b" providerId="ADAL" clId="{0CBEF4E5-6DA4-45FF-B73B-365757C8E947}" dt="2025-10-04T12:49:19.652" v="771" actId="207"/>
          <ac:spMkLst>
            <pc:docMk/>
            <pc:sldMk cId="384086043" sldId="285"/>
            <ac:spMk id="3" creationId="{CC3AD0D7-4CFF-C659-6AF1-BD71D92B2B71}"/>
          </ac:spMkLst>
        </pc:spChg>
      </pc:sldChg>
      <pc:sldChg chg="delSp modSp new mod">
        <pc:chgData name="AHMET CETIN" userId="2e2693f6-b6ea-444e-bae2-ae104160d18b" providerId="ADAL" clId="{0CBEF4E5-6DA4-45FF-B73B-365757C8E947}" dt="2025-10-14T11:59:01.228" v="914"/>
        <pc:sldMkLst>
          <pc:docMk/>
          <pc:sldMk cId="1404522745" sldId="286"/>
        </pc:sldMkLst>
        <pc:spChg chg="mod">
          <ac:chgData name="AHMET CETIN" userId="2e2693f6-b6ea-444e-bae2-ae104160d18b" providerId="ADAL" clId="{0CBEF4E5-6DA4-45FF-B73B-365757C8E947}" dt="2025-10-14T11:59:01.228" v="914"/>
          <ac:spMkLst>
            <pc:docMk/>
            <pc:sldMk cId="1404522745" sldId="286"/>
            <ac:spMk id="3" creationId="{B90957B9-36B4-103C-391B-E77DCF5D324F}"/>
          </ac:spMkLst>
        </pc:spChg>
      </pc:sldChg>
      <pc:sldChg chg="delSp modSp new mod">
        <pc:chgData name="AHMET CETIN" userId="2e2693f6-b6ea-444e-bae2-ae104160d18b" providerId="ADAL" clId="{0CBEF4E5-6DA4-45FF-B73B-365757C8E947}" dt="2025-10-14T11:59:09.609" v="915"/>
        <pc:sldMkLst>
          <pc:docMk/>
          <pc:sldMk cId="2401308559" sldId="287"/>
        </pc:sldMkLst>
        <pc:spChg chg="mod">
          <ac:chgData name="AHMET CETIN" userId="2e2693f6-b6ea-444e-bae2-ae104160d18b" providerId="ADAL" clId="{0CBEF4E5-6DA4-45FF-B73B-365757C8E947}" dt="2025-10-14T11:59:09.609" v="915"/>
          <ac:spMkLst>
            <pc:docMk/>
            <pc:sldMk cId="2401308559" sldId="287"/>
            <ac:spMk id="3" creationId="{4980FB25-3160-508A-E3F7-FDB0E80AAE50}"/>
          </ac:spMkLst>
        </pc:spChg>
      </pc:sldChg>
      <pc:sldChg chg="delSp modSp new mod">
        <pc:chgData name="AHMET CETIN" userId="2e2693f6-b6ea-444e-bae2-ae104160d18b" providerId="ADAL" clId="{0CBEF4E5-6DA4-45FF-B73B-365757C8E947}" dt="2025-10-14T11:54:26.534" v="905" actId="20577"/>
        <pc:sldMkLst>
          <pc:docMk/>
          <pc:sldMk cId="78196523" sldId="288"/>
        </pc:sldMkLst>
        <pc:spChg chg="mod">
          <ac:chgData name="AHMET CETIN" userId="2e2693f6-b6ea-444e-bae2-ae104160d18b" providerId="ADAL" clId="{0CBEF4E5-6DA4-45FF-B73B-365757C8E947}" dt="2025-10-14T11:54:26.534" v="905" actId="20577"/>
          <ac:spMkLst>
            <pc:docMk/>
            <pc:sldMk cId="78196523" sldId="288"/>
            <ac:spMk id="3" creationId="{1BDEE10D-EEC5-16F5-D8CF-EF1F0C767C25}"/>
          </ac:spMkLst>
        </pc:spChg>
      </pc:sldChg>
      <pc:sldChg chg="delSp modSp new mod">
        <pc:chgData name="AHMET CETIN" userId="2e2693f6-b6ea-444e-bae2-ae104160d18b" providerId="ADAL" clId="{0CBEF4E5-6DA4-45FF-B73B-365757C8E947}" dt="2025-10-04T13:04:20.177" v="827" actId="478"/>
        <pc:sldMkLst>
          <pc:docMk/>
          <pc:sldMk cId="444391612" sldId="289"/>
        </pc:sldMkLst>
        <pc:spChg chg="mod">
          <ac:chgData name="AHMET CETIN" userId="2e2693f6-b6ea-444e-bae2-ae104160d18b" providerId="ADAL" clId="{0CBEF4E5-6DA4-45FF-B73B-365757C8E947}" dt="2025-10-04T13:02:55.651" v="809" actId="114"/>
          <ac:spMkLst>
            <pc:docMk/>
            <pc:sldMk cId="444391612" sldId="289"/>
            <ac:spMk id="3" creationId="{1BD192E1-B08B-F3D8-3DB8-16F5A57D42E3}"/>
          </ac:spMkLst>
        </pc:spChg>
      </pc:sldChg>
      <pc:sldChg chg="delSp modSp new mod">
        <pc:chgData name="AHMET CETIN" userId="2e2693f6-b6ea-444e-bae2-ae104160d18b" providerId="ADAL" clId="{0CBEF4E5-6DA4-45FF-B73B-365757C8E947}" dt="2025-10-04T13:04:16.581" v="826" actId="478"/>
        <pc:sldMkLst>
          <pc:docMk/>
          <pc:sldMk cId="3000815939" sldId="290"/>
        </pc:sldMkLst>
        <pc:spChg chg="mod">
          <ac:chgData name="AHMET CETIN" userId="2e2693f6-b6ea-444e-bae2-ae104160d18b" providerId="ADAL" clId="{0CBEF4E5-6DA4-45FF-B73B-365757C8E947}" dt="2025-10-04T13:03:18.880" v="813" actId="114"/>
          <ac:spMkLst>
            <pc:docMk/>
            <pc:sldMk cId="3000815939" sldId="290"/>
            <ac:spMk id="3" creationId="{E7EA2067-B061-1E02-5E5D-E231B0F014BF}"/>
          </ac:spMkLst>
        </pc:spChg>
      </pc:sldChg>
      <pc:sldChg chg="delSp modSp new mod">
        <pc:chgData name="AHMET CETIN" userId="2e2693f6-b6ea-444e-bae2-ae104160d18b" providerId="ADAL" clId="{0CBEF4E5-6DA4-45FF-B73B-365757C8E947}" dt="2025-10-14T11:55:31.566" v="906" actId="313"/>
        <pc:sldMkLst>
          <pc:docMk/>
          <pc:sldMk cId="2215391134" sldId="291"/>
        </pc:sldMkLst>
        <pc:spChg chg="mod">
          <ac:chgData name="AHMET CETIN" userId="2e2693f6-b6ea-444e-bae2-ae104160d18b" providerId="ADAL" clId="{0CBEF4E5-6DA4-45FF-B73B-365757C8E947}" dt="2025-10-14T11:55:31.566" v="906" actId="313"/>
          <ac:spMkLst>
            <pc:docMk/>
            <pc:sldMk cId="2215391134" sldId="291"/>
            <ac:spMk id="3" creationId="{49CAD7E7-9A8C-1391-0F1D-00FA8207A10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A076DEC-6B01-3E30-0E9E-86FEA2FCE763}"/>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63863F6C-D6A7-834F-F516-5AE2A39D9B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E53BCBE8-E65A-6307-3507-15AD6C228AC9}"/>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5" name="Alt Bilgi Yer Tutucusu 4">
            <a:extLst>
              <a:ext uri="{FF2B5EF4-FFF2-40B4-BE49-F238E27FC236}">
                <a16:creationId xmlns:a16="http://schemas.microsoft.com/office/drawing/2014/main" id="{45C01F0E-58E7-50F7-0D5D-27CF72512F0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7C179B8-1108-172E-CA22-C3DE1B49FD6F}"/>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168681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C56CDBE-12A5-80C7-4187-498A477425FB}"/>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56EA0A6F-0BF3-24F6-DD03-0431E73F9AFF}"/>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8F5650D-5BD6-9B13-EB14-C8F9A60D9413}"/>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5" name="Alt Bilgi Yer Tutucusu 4">
            <a:extLst>
              <a:ext uri="{FF2B5EF4-FFF2-40B4-BE49-F238E27FC236}">
                <a16:creationId xmlns:a16="http://schemas.microsoft.com/office/drawing/2014/main" id="{1EC3EDE3-99AD-32F9-3F06-AF1584B21A7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7F5A2D9-C457-9882-7F64-F900FEDA7E28}"/>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1414698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08CCC61-BC72-F3A7-8148-CD1373DECDCB}"/>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0D93813D-62FC-C1EF-4F44-0714CA81E2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7FC18D1D-9F7D-276B-0703-AE84C83B7764}"/>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5" name="Alt Bilgi Yer Tutucusu 4">
            <a:extLst>
              <a:ext uri="{FF2B5EF4-FFF2-40B4-BE49-F238E27FC236}">
                <a16:creationId xmlns:a16="http://schemas.microsoft.com/office/drawing/2014/main" id="{8A183B77-23F9-25E6-E50C-1A6E5C8EBD0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0F21B58-08EB-DF7C-C14A-25E7A901BB1C}"/>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236787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2BC17F-6B8F-3431-CCC9-15EAE4EEEDD9}"/>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54F686C4-7761-BF18-7BBE-AA47D4839F5F}"/>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6452B4DA-8A06-0C28-3F28-BCB8B31267FF}"/>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86EECFE0-BA95-8FE5-32F1-7910C3B28E8B}"/>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6" name="Alt Bilgi Yer Tutucusu 5">
            <a:extLst>
              <a:ext uri="{FF2B5EF4-FFF2-40B4-BE49-F238E27FC236}">
                <a16:creationId xmlns:a16="http://schemas.microsoft.com/office/drawing/2014/main" id="{6BB11295-F637-C7FA-897F-6C54CE16964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83BD61B-0CC0-9F88-955E-AC85424737B8}"/>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1462680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6FC2421-714B-2E33-54CE-37E79526BA83}"/>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E393407-1686-740B-D6A4-E92E6E9DCC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E0258CFC-99BF-3EDA-7147-F8150324B978}"/>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8B7CDB86-FD08-C790-33B9-E0C403E510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D26EC7E5-8E35-A676-C83D-3D1AAB514A78}"/>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623460B5-5D72-4B3D-621D-8B727A233BDA}"/>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8" name="Alt Bilgi Yer Tutucusu 7">
            <a:extLst>
              <a:ext uri="{FF2B5EF4-FFF2-40B4-BE49-F238E27FC236}">
                <a16:creationId xmlns:a16="http://schemas.microsoft.com/office/drawing/2014/main" id="{B5FB33F7-B7DB-4214-7FFC-EAA63665AA8F}"/>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5B6E8137-97C1-20B8-4BD0-1E27B91ABB0A}"/>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1288685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453A83D-242E-6CEC-A93D-128A61284A1B}"/>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405E83D0-52C1-D536-BC2F-7946E68BB3EC}"/>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4" name="Alt Bilgi Yer Tutucusu 3">
            <a:extLst>
              <a:ext uri="{FF2B5EF4-FFF2-40B4-BE49-F238E27FC236}">
                <a16:creationId xmlns:a16="http://schemas.microsoft.com/office/drawing/2014/main" id="{2F50AD7A-06C5-9DDC-9B11-F37B149B7C08}"/>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DB5531D1-AEF7-D1D8-E4DB-686164EEAAFB}"/>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1050111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63D1F3AE-C7B1-D6E7-1023-A57204D2E689}"/>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3" name="Alt Bilgi Yer Tutucusu 2">
            <a:extLst>
              <a:ext uri="{FF2B5EF4-FFF2-40B4-BE49-F238E27FC236}">
                <a16:creationId xmlns:a16="http://schemas.microsoft.com/office/drawing/2014/main" id="{92BECB2F-33AA-BF9D-F211-DDBC5FDF4C54}"/>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E5B0CB92-BCC3-32C0-0554-062338C713C6}"/>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3331517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3A1136C-320D-74CB-9B2F-74B292837A30}"/>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6FB08F29-1933-AC29-0161-9EB1685CA9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D796499A-8F93-1034-BD2B-AB74E1529E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1E201987-AB9B-D017-C361-FC6DF7925E2A}"/>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6" name="Alt Bilgi Yer Tutucusu 5">
            <a:extLst>
              <a:ext uri="{FF2B5EF4-FFF2-40B4-BE49-F238E27FC236}">
                <a16:creationId xmlns:a16="http://schemas.microsoft.com/office/drawing/2014/main" id="{CFD28378-1AC4-FAD3-5B02-598A0857FA4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7B43A581-2733-239C-DA3E-0D3C64DB053F}"/>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2016801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E4568B1-29CC-0D06-8781-B19779061171}"/>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872505BB-C87B-9017-CC90-EB9BFB184B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B770B871-1F50-ED66-E69A-E567581128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3D791769-201F-0F5B-FC75-00DEDE47694F}"/>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6" name="Alt Bilgi Yer Tutucusu 5">
            <a:extLst>
              <a:ext uri="{FF2B5EF4-FFF2-40B4-BE49-F238E27FC236}">
                <a16:creationId xmlns:a16="http://schemas.microsoft.com/office/drawing/2014/main" id="{430F572B-45DE-DEC4-49BA-C9AA5C0BC43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CDA115EC-E037-481C-E898-1581BEE59E55}"/>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568642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68B3C7-3C66-B8E4-F4B8-B58379D20ECF}"/>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3482DF5E-FF4D-4AC6-552B-BBD165D4B9A4}"/>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35D555B-F0F9-F48C-A71F-E7FAC51215B3}"/>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5" name="Alt Bilgi Yer Tutucusu 4">
            <a:extLst>
              <a:ext uri="{FF2B5EF4-FFF2-40B4-BE49-F238E27FC236}">
                <a16:creationId xmlns:a16="http://schemas.microsoft.com/office/drawing/2014/main" id="{242EDC54-0CEE-6057-3CCD-E5BF203446C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69F2D3F-403B-FC85-DB3D-2610FF6AD574}"/>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4095974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7C0543A7-357B-90B9-1F3B-C589E4F36AA0}"/>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FBFA5DEE-8043-0089-9FEF-2F004F073583}"/>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AF5EBDD-878D-4263-941A-297357BF74BB}"/>
              </a:ext>
            </a:extLst>
          </p:cNvPr>
          <p:cNvSpPr>
            <a:spLocks noGrp="1"/>
          </p:cNvSpPr>
          <p:nvPr>
            <p:ph type="dt" sz="half" idx="10"/>
          </p:nvPr>
        </p:nvSpPr>
        <p:spPr/>
        <p:txBody>
          <a:bodyPr/>
          <a:lstStyle/>
          <a:p>
            <a:fld id="{28EBB833-688D-44AD-9B9A-B87EB08D9001}" type="datetimeFigureOut">
              <a:rPr lang="tr-TR" smtClean="0"/>
              <a:t>14.10.2025</a:t>
            </a:fld>
            <a:endParaRPr lang="tr-TR"/>
          </a:p>
        </p:txBody>
      </p:sp>
      <p:sp>
        <p:nvSpPr>
          <p:cNvPr id="5" name="Alt Bilgi Yer Tutucusu 4">
            <a:extLst>
              <a:ext uri="{FF2B5EF4-FFF2-40B4-BE49-F238E27FC236}">
                <a16:creationId xmlns:a16="http://schemas.microsoft.com/office/drawing/2014/main" id="{C2DC97A9-A9E9-CFC3-2333-16F5AA5A786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782DD6F-A449-4B70-C179-9F4353B218BB}"/>
              </a:ext>
            </a:extLst>
          </p:cNvPr>
          <p:cNvSpPr>
            <a:spLocks noGrp="1"/>
          </p:cNvSpPr>
          <p:nvPr>
            <p:ph type="sldNum" sz="quarter" idx="12"/>
          </p:nvPr>
        </p:nvSpPr>
        <p:spPr/>
        <p:txBody>
          <a:bodyPr/>
          <a:lstStyle/>
          <a:p>
            <a:fld id="{3E63358D-3A30-4F3F-8162-6DBA4C8B31DC}" type="slidenum">
              <a:rPr lang="tr-TR" smtClean="0"/>
              <a:t>‹#›</a:t>
            </a:fld>
            <a:endParaRPr lang="tr-TR"/>
          </a:p>
        </p:txBody>
      </p:sp>
    </p:spTree>
    <p:extLst>
      <p:ext uri="{BB962C8B-B14F-4D97-AF65-F5344CB8AC3E}">
        <p14:creationId xmlns:p14="http://schemas.microsoft.com/office/powerpoint/2010/main" val="3662515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7498F097-C4EB-2A1B-40B4-5FFB8C7CC3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86AB241-8A82-790F-36A7-BF85A83A06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BC2EEF2-D78E-9C37-D869-ACAC53EB94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EBB833-688D-44AD-9B9A-B87EB08D9001}" type="datetimeFigureOut">
              <a:rPr lang="tr-TR" smtClean="0"/>
              <a:t>14.10.2025</a:t>
            </a:fld>
            <a:endParaRPr lang="tr-TR"/>
          </a:p>
        </p:txBody>
      </p:sp>
      <p:sp>
        <p:nvSpPr>
          <p:cNvPr id="5" name="Alt Bilgi Yer Tutucusu 4">
            <a:extLst>
              <a:ext uri="{FF2B5EF4-FFF2-40B4-BE49-F238E27FC236}">
                <a16:creationId xmlns:a16="http://schemas.microsoft.com/office/drawing/2014/main" id="{6DA1740F-261E-6362-F96E-A9F09CCD04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84FC7BEF-BEF7-5C0F-03E2-FBD157EC9B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63358D-3A30-4F3F-8162-6DBA4C8B31DC}" type="slidenum">
              <a:rPr lang="tr-TR" smtClean="0"/>
              <a:t>‹#›</a:t>
            </a:fld>
            <a:endParaRPr lang="tr-TR"/>
          </a:p>
        </p:txBody>
      </p:sp>
    </p:spTree>
    <p:extLst>
      <p:ext uri="{BB962C8B-B14F-4D97-AF65-F5344CB8AC3E}">
        <p14:creationId xmlns:p14="http://schemas.microsoft.com/office/powerpoint/2010/main" val="3545219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C2E9891-1498-8EFD-AA1F-158973B666BB}"/>
              </a:ext>
            </a:extLst>
          </p:cNvPr>
          <p:cNvSpPr>
            <a:spLocks noGrp="1"/>
          </p:cNvSpPr>
          <p:nvPr>
            <p:ph type="ctrTitle"/>
          </p:nvPr>
        </p:nvSpPr>
        <p:spPr/>
        <p:txBody>
          <a:bodyPr/>
          <a:lstStyle/>
          <a:p>
            <a:r>
              <a:rPr lang="tr-TR" dirty="0"/>
              <a:t>Girişimcilik ders 4</a:t>
            </a:r>
          </a:p>
        </p:txBody>
      </p:sp>
      <p:sp>
        <p:nvSpPr>
          <p:cNvPr id="3" name="Alt Başlık 2">
            <a:extLst>
              <a:ext uri="{FF2B5EF4-FFF2-40B4-BE49-F238E27FC236}">
                <a16:creationId xmlns:a16="http://schemas.microsoft.com/office/drawing/2014/main" id="{873E38FA-C60C-DEC2-240C-255355AE46F0}"/>
              </a:ext>
            </a:extLst>
          </p:cNvPr>
          <p:cNvSpPr>
            <a:spLocks noGrp="1"/>
          </p:cNvSpPr>
          <p:nvPr>
            <p:ph type="subTitle" idx="1"/>
          </p:nvPr>
        </p:nvSpPr>
        <p:spPr/>
        <p:txBody>
          <a:bodyPr/>
          <a:lstStyle/>
          <a:p>
            <a:endParaRPr lang="tr-TR" dirty="0"/>
          </a:p>
        </p:txBody>
      </p:sp>
    </p:spTree>
    <p:extLst>
      <p:ext uri="{BB962C8B-B14F-4D97-AF65-F5344CB8AC3E}">
        <p14:creationId xmlns:p14="http://schemas.microsoft.com/office/powerpoint/2010/main" val="203496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58FFAD3-DDE7-FF3C-8193-AABB44582370}"/>
              </a:ext>
            </a:extLst>
          </p:cNvPr>
          <p:cNvSpPr>
            <a:spLocks noGrp="1"/>
          </p:cNvSpPr>
          <p:nvPr>
            <p:ph type="title"/>
          </p:nvPr>
        </p:nvSpPr>
        <p:spPr/>
        <p:txBody>
          <a:bodyPr/>
          <a:lstStyle/>
          <a:p>
            <a:r>
              <a:rPr lang="tr-TR" dirty="0"/>
              <a:t>GİRİŞİMCİLİĞİ ŞEKİLLENDİREN ETMENLER</a:t>
            </a:r>
          </a:p>
        </p:txBody>
      </p:sp>
      <p:pic>
        <p:nvPicPr>
          <p:cNvPr id="5" name="İçerik Yer Tutucusu 4">
            <a:extLst>
              <a:ext uri="{FF2B5EF4-FFF2-40B4-BE49-F238E27FC236}">
                <a16:creationId xmlns:a16="http://schemas.microsoft.com/office/drawing/2014/main" id="{A06A3D51-D352-E9CB-6FCD-F68227093ACE}"/>
              </a:ext>
            </a:extLst>
          </p:cNvPr>
          <p:cNvPicPr>
            <a:picLocks noGrp="1" noChangeAspect="1"/>
          </p:cNvPicPr>
          <p:nvPr>
            <p:ph idx="1"/>
          </p:nvPr>
        </p:nvPicPr>
        <p:blipFill>
          <a:blip r:embed="rId2"/>
          <a:stretch>
            <a:fillRect/>
          </a:stretch>
        </p:blipFill>
        <p:spPr>
          <a:xfrm>
            <a:off x="1138988" y="1514415"/>
            <a:ext cx="9849853" cy="4853035"/>
          </a:xfrm>
        </p:spPr>
      </p:pic>
    </p:spTree>
    <p:extLst>
      <p:ext uri="{BB962C8B-B14F-4D97-AF65-F5344CB8AC3E}">
        <p14:creationId xmlns:p14="http://schemas.microsoft.com/office/powerpoint/2010/main" val="3256339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72DE2B7-C6CB-9334-6D2A-36D1F5CBD361}"/>
              </a:ext>
            </a:extLst>
          </p:cNvPr>
          <p:cNvSpPr>
            <a:spLocks noGrp="1"/>
          </p:cNvSpPr>
          <p:nvPr>
            <p:ph type="title"/>
          </p:nvPr>
        </p:nvSpPr>
        <p:spPr/>
        <p:txBody>
          <a:bodyPr/>
          <a:lstStyle/>
          <a:p>
            <a:r>
              <a:rPr lang="tr-TR" dirty="0"/>
              <a:t>GİRİŞİMCİLİĞİN ÖNEMİ VE TEMEL FONKSİYONLARI</a:t>
            </a:r>
          </a:p>
        </p:txBody>
      </p:sp>
      <p:sp>
        <p:nvSpPr>
          <p:cNvPr id="3" name="İçerik Yer Tutucusu 2">
            <a:extLst>
              <a:ext uri="{FF2B5EF4-FFF2-40B4-BE49-F238E27FC236}">
                <a16:creationId xmlns:a16="http://schemas.microsoft.com/office/drawing/2014/main" id="{AC0E52D5-3B36-A17D-2481-95C0161D45F7}"/>
              </a:ext>
            </a:extLst>
          </p:cNvPr>
          <p:cNvSpPr>
            <a:spLocks noGrp="1"/>
          </p:cNvSpPr>
          <p:nvPr>
            <p:ph idx="1"/>
          </p:nvPr>
        </p:nvSpPr>
        <p:spPr/>
        <p:txBody>
          <a:bodyPr/>
          <a:lstStyle/>
          <a:p>
            <a:pPr marL="0" indent="0">
              <a:buNone/>
            </a:pPr>
            <a:r>
              <a:rPr lang="tr-TR" dirty="0"/>
              <a:t>Girişimci davranışları genel olarak,</a:t>
            </a:r>
          </a:p>
          <a:p>
            <a:r>
              <a:rPr lang="tr-TR" dirty="0"/>
              <a:t>• Soruların oluşturulması</a:t>
            </a:r>
          </a:p>
          <a:p>
            <a:r>
              <a:rPr lang="tr-TR" dirty="0"/>
              <a:t>• Yeni bir mal veya hizmetin ortaya konması,</a:t>
            </a:r>
          </a:p>
          <a:p>
            <a:r>
              <a:rPr lang="tr-TR" dirty="0"/>
              <a:t>• Yeni üretim yöntemlerinin geliştirilmesi,</a:t>
            </a:r>
          </a:p>
          <a:p>
            <a:r>
              <a:rPr lang="tr-TR" dirty="0"/>
              <a:t>• Yeni kaynaklara ulaşılması ve</a:t>
            </a:r>
          </a:p>
          <a:p>
            <a:r>
              <a:rPr lang="tr-TR" dirty="0"/>
              <a:t>• Yeni pazarların bulunması biçiminde sıralanabilir.</a:t>
            </a:r>
          </a:p>
        </p:txBody>
      </p:sp>
    </p:spTree>
    <p:extLst>
      <p:ext uri="{BB962C8B-B14F-4D97-AF65-F5344CB8AC3E}">
        <p14:creationId xmlns:p14="http://schemas.microsoft.com/office/powerpoint/2010/main" val="425590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D4C7CE8-EDDF-F9F0-29B0-68CF085E11A8}"/>
              </a:ext>
            </a:extLst>
          </p:cNvPr>
          <p:cNvSpPr>
            <a:spLocks noGrp="1"/>
          </p:cNvSpPr>
          <p:nvPr>
            <p:ph idx="1"/>
          </p:nvPr>
        </p:nvSpPr>
        <p:spPr/>
        <p:txBody>
          <a:bodyPr>
            <a:normAutofit/>
          </a:bodyPr>
          <a:lstStyle/>
          <a:p>
            <a:pPr algn="l"/>
            <a:r>
              <a:rPr lang="tr-TR" sz="2800" b="0" i="0" u="none" strike="noStrike" baseline="0" dirty="0">
                <a:solidFill>
                  <a:srgbClr val="000000"/>
                </a:solidFill>
                <a:latin typeface="Calibri" panose="020F0502020204030204" pitchFamily="34" charset="0"/>
              </a:rPr>
              <a:t>Girişimciliğin önemi tam olarak bu çerçevede karşımıza çıkmaktadır.</a:t>
            </a:r>
          </a:p>
          <a:p>
            <a:pPr algn="l"/>
            <a:r>
              <a:rPr lang="tr-TR" sz="2800" b="0" i="1" u="none" strike="noStrike" baseline="0" dirty="0">
                <a:solidFill>
                  <a:srgbClr val="994806"/>
                </a:solidFill>
                <a:latin typeface="Calibri-Italic"/>
              </a:rPr>
              <a:t>Girişimcilik </a:t>
            </a:r>
            <a:r>
              <a:rPr lang="tr-TR" sz="2800" b="0" i="1" u="none" strike="noStrike" baseline="0" dirty="0" err="1">
                <a:solidFill>
                  <a:srgbClr val="994806"/>
                </a:solidFill>
                <a:latin typeface="Calibri-Italic"/>
              </a:rPr>
              <a:t>sosyo</a:t>
            </a:r>
            <a:r>
              <a:rPr lang="tr-TR" sz="2800" b="0" i="1" u="none" strike="noStrike" baseline="0" dirty="0">
                <a:solidFill>
                  <a:srgbClr val="994806"/>
                </a:solidFill>
                <a:latin typeface="Calibri-Italic"/>
              </a:rPr>
              <a:t> ekonomik açıdan;</a:t>
            </a:r>
          </a:p>
          <a:p>
            <a:pPr algn="l"/>
            <a:r>
              <a:rPr lang="tr-TR" sz="2800" b="0" i="1" u="none" strike="noStrike" baseline="0" dirty="0">
                <a:solidFill>
                  <a:srgbClr val="994806"/>
                </a:solidFill>
                <a:latin typeface="Calibri-Italic"/>
              </a:rPr>
              <a:t>Yeni düşüncelerin hayata geçirilmesi ve</a:t>
            </a:r>
          </a:p>
          <a:p>
            <a:pPr algn="l"/>
            <a:r>
              <a:rPr lang="tr-TR" sz="2800" b="0" i="1" u="none" strike="noStrike" baseline="0" dirty="0">
                <a:solidFill>
                  <a:srgbClr val="994806"/>
                </a:solidFill>
                <a:latin typeface="Calibri-Italic"/>
              </a:rPr>
              <a:t>İstihdam sağlama </a:t>
            </a:r>
            <a:r>
              <a:rPr lang="tr-TR" sz="2800" b="0" i="0" u="none" strike="noStrike" baseline="0" dirty="0">
                <a:solidFill>
                  <a:srgbClr val="000000"/>
                </a:solidFill>
                <a:latin typeface="Calibri" panose="020F0502020204030204" pitchFamily="34" charset="0"/>
              </a:rPr>
              <a:t>bakımından önem arz etmektedir ve bunlar girişimciliğin fonksiyonları ile yakın ilişkilidir.</a:t>
            </a:r>
          </a:p>
          <a:p>
            <a:pPr algn="l"/>
            <a:r>
              <a:rPr lang="tr-TR" sz="2800" b="0" i="0" u="none" strike="noStrike" baseline="0" dirty="0">
                <a:solidFill>
                  <a:srgbClr val="000000"/>
                </a:solidFill>
                <a:latin typeface="Calibri" panose="020F0502020204030204" pitchFamily="34" charset="0"/>
              </a:rPr>
              <a:t>Çağdaş bir girişimcinin yerine getirmesi gereken fonksiyonlar şöyle sıralanabilir.</a:t>
            </a:r>
            <a:endParaRPr lang="tr-TR" dirty="0"/>
          </a:p>
        </p:txBody>
      </p:sp>
    </p:spTree>
    <p:extLst>
      <p:ext uri="{BB962C8B-B14F-4D97-AF65-F5344CB8AC3E}">
        <p14:creationId xmlns:p14="http://schemas.microsoft.com/office/powerpoint/2010/main" val="537326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256A892-E6E8-D3A7-7A84-613FC15114BD}"/>
              </a:ext>
            </a:extLst>
          </p:cNvPr>
          <p:cNvSpPr>
            <a:spLocks noGrp="1"/>
          </p:cNvSpPr>
          <p:nvPr>
            <p:ph idx="1"/>
          </p:nvPr>
        </p:nvSpPr>
        <p:spPr/>
        <p:txBody>
          <a:bodyPr/>
          <a:lstStyle/>
          <a:p>
            <a:pPr algn="l"/>
            <a:r>
              <a:rPr lang="tr-TR" sz="2800" b="0" i="1" u="none" strike="noStrike" baseline="0" dirty="0">
                <a:solidFill>
                  <a:srgbClr val="994806"/>
                </a:solidFill>
                <a:latin typeface="Calibri-Italic"/>
              </a:rPr>
              <a:t>Yeni mal veya hizmet üretmek: </a:t>
            </a:r>
            <a:r>
              <a:rPr lang="tr-TR" sz="2800" b="0" i="0" u="none" strike="noStrike" baseline="0" dirty="0">
                <a:solidFill>
                  <a:srgbClr val="000000"/>
                </a:solidFill>
                <a:latin typeface="Calibri" panose="020F0502020204030204" pitchFamily="34" charset="0"/>
              </a:rPr>
              <a:t>Bilinen mal veya hizmetlerin nitelik ve kalitelerini yükseltmeleri gerekir. Bu fonksiyonu etkili bir biçimde yerine getirebilen girişimciler bu alandaki çabaları nedeniyle büyük kazanç sağlayabilirler.</a:t>
            </a:r>
            <a:endParaRPr lang="tr-TR" dirty="0"/>
          </a:p>
        </p:txBody>
      </p:sp>
    </p:spTree>
    <p:extLst>
      <p:ext uri="{BB962C8B-B14F-4D97-AF65-F5344CB8AC3E}">
        <p14:creationId xmlns:p14="http://schemas.microsoft.com/office/powerpoint/2010/main" val="3184877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A56BC5F-67AB-37EB-C048-4C17FFCE092C}"/>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Yeni üretim yöntemleri geliştirmek ve uygulayabilmek: </a:t>
            </a:r>
            <a:r>
              <a:rPr lang="tr-TR" sz="2800" b="0" i="0" u="none" strike="noStrike" baseline="0" dirty="0">
                <a:solidFill>
                  <a:srgbClr val="000000"/>
                </a:solidFill>
                <a:latin typeface="Calibri" panose="020F0502020204030204" pitchFamily="34" charset="0"/>
              </a:rPr>
              <a:t>İş adamları bazen yeni mal ve hizmetleri üretmek yerine, eskiden beri üretilmekte olan bir kısım mal ve hizmetlerin üretim yöntemlerini veya pazara sunuş biçimlerini değiştirmek suretiyle, büyük kâr sağlayabilirler. </a:t>
            </a:r>
          </a:p>
          <a:p>
            <a:pPr algn="l"/>
            <a:r>
              <a:rPr lang="tr-TR" sz="2800" b="0" i="0" u="none" strike="noStrike" baseline="0" dirty="0">
                <a:solidFill>
                  <a:srgbClr val="000000"/>
                </a:solidFill>
                <a:latin typeface="Calibri" panose="020F0502020204030204" pitchFamily="34" charset="0"/>
              </a:rPr>
              <a:t>Örneğin, Amerikan otomobil endüstri kralı Henri Ford, o güne kadar tek tek yapılan otomobillerin üretiminde akan iş şeridi ve montaj hattını kullanıp seri üretimi gerçekleştirmesi sonucu büyük kâr sağlamış ve otomobil endüstrisinde liderlik konumuna geçmiştir</a:t>
            </a:r>
            <a:endParaRPr lang="tr-TR" dirty="0"/>
          </a:p>
        </p:txBody>
      </p:sp>
    </p:spTree>
    <p:extLst>
      <p:ext uri="{BB962C8B-B14F-4D97-AF65-F5344CB8AC3E}">
        <p14:creationId xmlns:p14="http://schemas.microsoft.com/office/powerpoint/2010/main" val="3670420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3D3A220-3422-1924-AB18-4B2E0DA657EE}"/>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Endüstride yeni organizasyonlar kurmak: </a:t>
            </a:r>
            <a:r>
              <a:rPr lang="tr-TR" sz="2800" b="0" i="0" u="none" strike="noStrike" baseline="0" dirty="0">
                <a:solidFill>
                  <a:srgbClr val="000000"/>
                </a:solidFill>
                <a:latin typeface="Calibri" panose="020F0502020204030204" pitchFamily="34" charset="0"/>
              </a:rPr>
              <a:t>Bununla girişimcilerin belirli bazı örgütlenmelere giderek, gerek örgütsel gerekse çevresel yapıyı değiştirmeleri ifade edilmektedir.</a:t>
            </a:r>
          </a:p>
          <a:p>
            <a:pPr algn="l"/>
            <a:r>
              <a:rPr lang="tr-TR" sz="2800" b="0" i="1" u="none" strike="noStrike" baseline="0" dirty="0">
                <a:solidFill>
                  <a:srgbClr val="994806"/>
                </a:solidFill>
                <a:latin typeface="Calibri-Italic"/>
              </a:rPr>
              <a:t>Yeni pazarlara ulaşmak: </a:t>
            </a:r>
            <a:r>
              <a:rPr lang="tr-TR" sz="2800" b="0" i="0" u="none" strike="noStrike" baseline="0" dirty="0">
                <a:solidFill>
                  <a:srgbClr val="000000"/>
                </a:solidFill>
                <a:latin typeface="Calibri" panose="020F0502020204030204" pitchFamily="34" charset="0"/>
              </a:rPr>
              <a:t>Girişimciliğin bir diğer fonksiyonu ülke içinde ve dışında yeni pazarlar bularak mal ve hizmet satışlarını arttırmak şeklinde ifade edilebilir. Günümüzde pazar paylarını genişletmek için dolaylı bazı yollar bulunmuştur. Tüketicilerin satın alma güçlerini yükseltici çabalara girişmek, ekonomik kalkınmayı sağlamak ve gelir dağılımını daha dengeli hâle getirmek için mevcut dengeleri değiştirmek bu yollardan sadece biridir.</a:t>
            </a:r>
            <a:endParaRPr lang="tr-TR" dirty="0"/>
          </a:p>
        </p:txBody>
      </p:sp>
    </p:spTree>
    <p:extLst>
      <p:ext uri="{BB962C8B-B14F-4D97-AF65-F5344CB8AC3E}">
        <p14:creationId xmlns:p14="http://schemas.microsoft.com/office/powerpoint/2010/main" val="940117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1066888-4BA1-DC59-2208-8E45480E1D99}"/>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Ham maddelerin ve benzeri maddelerin sağlanabileceği yeni kaynaklar bulmak: </a:t>
            </a:r>
            <a:r>
              <a:rPr lang="tr-TR" sz="2800" b="0" i="0" u="none" strike="noStrike" baseline="0" dirty="0">
                <a:solidFill>
                  <a:srgbClr val="000000"/>
                </a:solidFill>
                <a:latin typeface="Calibri" panose="020F0502020204030204" pitchFamily="34" charset="0"/>
              </a:rPr>
              <a:t>Girişimciler ülke içinde veya dışında üretim koşullarını değiştirecek hammadde kaynakları bulup denetimleri altında toplarlar. Bu çeşit kaynakları denetimi altına alan şirket veya girişimciler rakiplerine oranla daha büyük kârlar elde edebilmektedir. Her bir girişimci, belirtilen girişimcilik fonksiyonlarını yerine getirmek üzere bir girişimi başlatmalı, bu temel beklentileri karşılayacak organizasyonlar kurmalıdır.</a:t>
            </a:r>
            <a:endParaRPr lang="tr-TR" dirty="0"/>
          </a:p>
        </p:txBody>
      </p:sp>
    </p:spTree>
    <p:extLst>
      <p:ext uri="{BB962C8B-B14F-4D97-AF65-F5344CB8AC3E}">
        <p14:creationId xmlns:p14="http://schemas.microsoft.com/office/powerpoint/2010/main" val="2251242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0078B29-7983-4DE8-EE33-D3582A989090}"/>
              </a:ext>
            </a:extLst>
          </p:cNvPr>
          <p:cNvSpPr>
            <a:spLocks noGrp="1"/>
          </p:cNvSpPr>
          <p:nvPr>
            <p:ph type="title"/>
          </p:nvPr>
        </p:nvSpPr>
        <p:spPr/>
        <p:txBody>
          <a:bodyPr/>
          <a:lstStyle/>
          <a:p>
            <a:r>
              <a:rPr lang="tr-TR" dirty="0"/>
              <a:t>Girişimcilik hakkında doğru bilinen yanlışlar</a:t>
            </a:r>
          </a:p>
        </p:txBody>
      </p:sp>
      <p:sp>
        <p:nvSpPr>
          <p:cNvPr id="3" name="İçerik Yer Tutucusu 2">
            <a:extLst>
              <a:ext uri="{FF2B5EF4-FFF2-40B4-BE49-F238E27FC236}">
                <a16:creationId xmlns:a16="http://schemas.microsoft.com/office/drawing/2014/main" id="{29E0446D-9214-D07B-15E5-8F82B7EB03C4}"/>
              </a:ext>
            </a:extLst>
          </p:cNvPr>
          <p:cNvSpPr>
            <a:spLocks noGrp="1"/>
          </p:cNvSpPr>
          <p:nvPr>
            <p:ph idx="1"/>
          </p:nvPr>
        </p:nvSpPr>
        <p:spPr/>
        <p:txBody>
          <a:bodyPr>
            <a:noAutofit/>
          </a:bodyPr>
          <a:lstStyle/>
          <a:p>
            <a:pPr algn="l"/>
            <a:r>
              <a:rPr lang="tr-TR" sz="2400" b="0" i="1" u="none" strike="noStrike" baseline="0" dirty="0">
                <a:solidFill>
                  <a:srgbClr val="994806"/>
                </a:solidFill>
                <a:latin typeface="Calibri-Italic"/>
              </a:rPr>
              <a:t>Herkes Girişimci Olabilir</a:t>
            </a:r>
            <a:r>
              <a:rPr lang="tr-TR" sz="2400" b="0" i="0" u="none" strike="noStrike" baseline="0" dirty="0">
                <a:solidFill>
                  <a:srgbClr val="000000"/>
                </a:solidFill>
                <a:latin typeface="Calibri" panose="020F0502020204030204" pitchFamily="34" charset="0"/>
              </a:rPr>
              <a:t>: Herkes girişimci olamaz ve olmamalıdır. Girişimcilikte kendimizi, yapmak istediğimiz işi ve piyasa koşullarını çok iyi algılamamız gerekir. Girişimcilik meşakkatli bir iştir. Sadece hayalleri doğrultusunda girişimci olmaya karar verenlerin girişimleri başarısız olmaya mahkûmdur. </a:t>
            </a:r>
            <a:r>
              <a:rPr lang="tr-TR" sz="2400" b="0" i="1" u="none" strike="noStrike" baseline="0" dirty="0">
                <a:solidFill>
                  <a:srgbClr val="000000"/>
                </a:solidFill>
                <a:latin typeface="Calibri" panose="020F0502020204030204" pitchFamily="34" charset="0"/>
              </a:rPr>
              <a:t>Başarılı girişimciler, hayallerini gerçek iş fikrine çevirip uygulamaya dökebilenlerdir</a:t>
            </a:r>
            <a:r>
              <a:rPr lang="tr-TR" sz="2400" b="0" i="0" u="none" strike="noStrike" baseline="0" dirty="0">
                <a:solidFill>
                  <a:srgbClr val="000000"/>
                </a:solidFill>
                <a:latin typeface="Calibri" panose="020F0502020204030204" pitchFamily="34" charset="0"/>
              </a:rPr>
              <a:t>. Girişimciliğin ekonomiye katkısı çok büyüktür. Burada önemli olan gerçekten sevdiğiniz işi yapmak ve katma değer yaratan bir girişimci olabilmektir.</a:t>
            </a:r>
          </a:p>
        </p:txBody>
      </p:sp>
    </p:spTree>
    <p:extLst>
      <p:ext uri="{BB962C8B-B14F-4D97-AF65-F5344CB8AC3E}">
        <p14:creationId xmlns:p14="http://schemas.microsoft.com/office/powerpoint/2010/main" val="2717921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28ADD1D-B492-C986-D51B-CA6931CC8CD6}"/>
              </a:ext>
            </a:extLst>
          </p:cNvPr>
          <p:cNvSpPr>
            <a:spLocks noGrp="1"/>
          </p:cNvSpPr>
          <p:nvPr>
            <p:ph idx="1"/>
          </p:nvPr>
        </p:nvSpPr>
        <p:spPr/>
        <p:txBody>
          <a:bodyPr/>
          <a:lstStyle/>
          <a:p>
            <a:r>
              <a:rPr lang="tr-TR" sz="2800" b="0" i="1" u="none" strike="noStrike" baseline="0" dirty="0">
                <a:solidFill>
                  <a:srgbClr val="994806"/>
                </a:solidFill>
                <a:latin typeface="Calibri-Italic"/>
              </a:rPr>
              <a:t>Girişimci Genç Olmalıdır</a:t>
            </a:r>
            <a:r>
              <a:rPr lang="tr-TR" sz="2800" b="0" i="0" u="none" strike="noStrike" baseline="0" dirty="0">
                <a:solidFill>
                  <a:srgbClr val="000000"/>
                </a:solidFill>
                <a:latin typeface="Calibri" panose="020F0502020204030204" pitchFamily="34" charset="0"/>
              </a:rPr>
              <a:t>: Tüm dünyada beğenerek izlediğimiz genç girişimciler mevcuttur. Ancak, girişimci illa genç olmak zorunda değildir. Çünkü insanların ne istediğini bilmesi, kendi konusunda uzmanlaşması belli vakit alır. Eğer girişimimiz bizim uzmanlığımız paralelliğinde bir alanda olacaksa bunun için on bin saat çalışmamız gerektiği kuralı dikkate alınmalıdır. Bu da normal bir insan için ortalama günde 3 saatten dokuz yıla tekâmül eder. İnsanlar yaşları ilerledikçe ne istediklerini daha iyi anlar hâle gelirler. Bu yüzden girişimcilik sadece gençlikle özdeşleştirilmemelidir.</a:t>
            </a:r>
            <a:endParaRPr lang="tr-TR" sz="2800" dirty="0"/>
          </a:p>
          <a:p>
            <a:endParaRPr lang="tr-TR" dirty="0"/>
          </a:p>
        </p:txBody>
      </p:sp>
    </p:spTree>
    <p:extLst>
      <p:ext uri="{BB962C8B-B14F-4D97-AF65-F5344CB8AC3E}">
        <p14:creationId xmlns:p14="http://schemas.microsoft.com/office/powerpoint/2010/main" val="3454434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457F53A-8EEB-F4E2-66F0-B8673D2C90F2}"/>
              </a:ext>
            </a:extLst>
          </p:cNvPr>
          <p:cNvSpPr>
            <a:spLocks noGrp="1"/>
          </p:cNvSpPr>
          <p:nvPr>
            <p:ph idx="1"/>
          </p:nvPr>
        </p:nvSpPr>
        <p:spPr/>
        <p:txBody>
          <a:bodyPr/>
          <a:lstStyle/>
          <a:p>
            <a:pPr algn="l"/>
            <a:r>
              <a:rPr lang="tr-TR" sz="2800" b="0" i="1" u="none" strike="noStrike" baseline="0" dirty="0">
                <a:solidFill>
                  <a:srgbClr val="994806"/>
                </a:solidFill>
                <a:latin typeface="Calibri-Italic"/>
              </a:rPr>
              <a:t>Strateji Olmadan Girişimci Olunur</a:t>
            </a:r>
            <a:r>
              <a:rPr lang="tr-TR" sz="2800" b="0" i="0" u="none" strike="noStrike" baseline="0" dirty="0">
                <a:solidFill>
                  <a:srgbClr val="000000"/>
                </a:solidFill>
                <a:latin typeface="Calibri" panose="020F0502020204030204" pitchFamily="34" charset="0"/>
              </a:rPr>
              <a:t>: Girişimcinin yol haritası; hayalini iş planına dökmek ve her durum için çıkış stratejisi oluşturmaktır. Girişimci bunlar olmadan yola çıksa bile hayali salt fikir olarak kalır ve uygulama kısmında zorluklar yaşar. Strateji, girişimciye orta ve uzun vadedeki süreçleri gösterir ve olabilecek sürpriz efektlere karşı hazırlıklı kılar.</a:t>
            </a:r>
            <a:endParaRPr lang="tr-TR" dirty="0"/>
          </a:p>
        </p:txBody>
      </p:sp>
    </p:spTree>
    <p:extLst>
      <p:ext uri="{BB962C8B-B14F-4D97-AF65-F5344CB8AC3E}">
        <p14:creationId xmlns:p14="http://schemas.microsoft.com/office/powerpoint/2010/main" val="3212938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CD50ECF-1DF5-073B-D430-8D1D99AEF8CB}"/>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Girişimciler İçin Sürekli Büyümek Önemlidir</a:t>
            </a:r>
            <a:r>
              <a:rPr lang="tr-TR" sz="2800" b="0" i="0" u="none" strike="noStrike" baseline="0" dirty="0">
                <a:solidFill>
                  <a:srgbClr val="000000"/>
                </a:solidFill>
                <a:latin typeface="Calibri" panose="020F0502020204030204" pitchFamily="34" charset="0"/>
              </a:rPr>
              <a:t>: Her girişimci işini büyütmek ve iyi hâle getirmek ister. Ancak, her türlü büyüme kontrollü olmalıdır. Kontrolün olmadığı yerde büyüme aslında ihtiyaç duyulmayan "açılmalar" olabilir. Piyasadaki koşullar ve işin niteliği baz alınarak firmalar kendilerini konumlandırırlar. Büyüme sırasında nerede ve nasıl </a:t>
            </a:r>
            <a:r>
              <a:rPr lang="tr-TR" sz="2800" b="0" i="0" u="none" strike="noStrike" baseline="0" dirty="0" err="1">
                <a:solidFill>
                  <a:srgbClr val="000000"/>
                </a:solidFill>
                <a:latin typeface="Calibri" panose="020F0502020204030204" pitchFamily="34" charset="0"/>
              </a:rPr>
              <a:t>farklılaşılacağı</a:t>
            </a:r>
            <a:r>
              <a:rPr lang="tr-TR" sz="2800" b="0" i="0" u="none" strike="noStrike" baseline="0" dirty="0">
                <a:solidFill>
                  <a:srgbClr val="000000"/>
                </a:solidFill>
                <a:latin typeface="Calibri" panose="020F0502020204030204" pitchFamily="34" charset="0"/>
              </a:rPr>
              <a:t> göz önünde bulundurulmalıdır.</a:t>
            </a:r>
            <a:endParaRPr lang="tr-TR" dirty="0"/>
          </a:p>
        </p:txBody>
      </p:sp>
    </p:spTree>
    <p:extLst>
      <p:ext uri="{BB962C8B-B14F-4D97-AF65-F5344CB8AC3E}">
        <p14:creationId xmlns:p14="http://schemas.microsoft.com/office/powerpoint/2010/main" val="3097476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49AD902-A6E8-B51C-00D9-8C9FE0CFE491}"/>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Ekonomi Kötüyken Girişimci Olunmaz</a:t>
            </a:r>
            <a:r>
              <a:rPr lang="tr-TR" sz="2800" b="0" i="0" u="none" strike="noStrike" baseline="0" dirty="0">
                <a:solidFill>
                  <a:srgbClr val="000000"/>
                </a:solidFill>
                <a:latin typeface="Calibri" panose="020F0502020204030204" pitchFamily="34" charset="0"/>
              </a:rPr>
              <a:t>: Ekonominin kötü olduğu durumlar içinde gizli fırsatlar barındırır. Bu fırsatları iyi gören ve cesur davranan kişiler o dönemlerden kârlı çıkmayı başarırlar. Sizin yapmak istediğiniz iş o an insanların ihtiyaçlarına cevap verebilir. İnsanların kemer sıktığı durumlarda onların düşünmediği farkındalıklar yaratabilir. Ekonomi kötüyken fırsatları görmek GİRİŞİMCİLİĞİN DOĞASINDA VARDIR.</a:t>
            </a:r>
            <a:endParaRPr lang="tr-TR" dirty="0"/>
          </a:p>
        </p:txBody>
      </p:sp>
    </p:spTree>
    <p:extLst>
      <p:ext uri="{BB962C8B-B14F-4D97-AF65-F5344CB8AC3E}">
        <p14:creationId xmlns:p14="http://schemas.microsoft.com/office/powerpoint/2010/main" val="1663578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ACD4B2C-8C14-F998-DD8B-A70CC23D8F97}"/>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Girişimci Finansmanı Bulursa Gerisi Kolaydır</a:t>
            </a:r>
            <a:r>
              <a:rPr lang="tr-TR" sz="2800" b="0" i="0" u="none" strike="noStrike" baseline="0" dirty="0">
                <a:solidFill>
                  <a:srgbClr val="000000"/>
                </a:solidFill>
                <a:latin typeface="Calibri" panose="020F0502020204030204" pitchFamily="34" charset="0"/>
              </a:rPr>
              <a:t>: Türkiye'de girişimciler aile, arkadaşlar, hibe programları, melek yatırımcılar veya banka kredilerinden yararlanarak gereken finansman desteğine ulaşmaktadırlar. </a:t>
            </a:r>
          </a:p>
          <a:p>
            <a:pPr algn="l"/>
            <a:r>
              <a:rPr lang="tr-TR" sz="2800" b="0" i="0" u="none" strike="noStrike" baseline="0" dirty="0">
                <a:solidFill>
                  <a:srgbClr val="000000"/>
                </a:solidFill>
                <a:latin typeface="Calibri" panose="020F0502020204030204" pitchFamily="34" charset="0"/>
              </a:rPr>
              <a:t>Ancak, girişimcinin ilk ve tek ihtiyacı olan finansman değildir. </a:t>
            </a:r>
            <a:r>
              <a:rPr lang="tr-TR" sz="2800" b="0" i="1" u="none" strike="noStrike" baseline="0" dirty="0">
                <a:solidFill>
                  <a:srgbClr val="000000"/>
                </a:solidFill>
                <a:latin typeface="Calibri" panose="020F0502020204030204" pitchFamily="34" charset="0"/>
              </a:rPr>
              <a:t>Bu finansmanı kısa ve uzun vadede nasıl yöneteceği ve kendisi için sermayeyle beraber yatırıma nasıl dönüştüreceğidir</a:t>
            </a:r>
            <a:r>
              <a:rPr lang="tr-TR" sz="2800" b="0" i="0" u="none" strike="noStrike" baseline="0" dirty="0">
                <a:solidFill>
                  <a:srgbClr val="000000"/>
                </a:solidFill>
                <a:latin typeface="Calibri" panose="020F0502020204030204" pitchFamily="34" charset="0"/>
              </a:rPr>
              <a:t>. Finansman desteği bulmakla beraber o finansman doğru kullanmak girişimin başarısını belirlemekte rol oynayan en önemli faktörlerdendir.</a:t>
            </a:r>
            <a:endParaRPr lang="tr-TR" dirty="0"/>
          </a:p>
        </p:txBody>
      </p:sp>
    </p:spTree>
    <p:extLst>
      <p:ext uri="{BB962C8B-B14F-4D97-AF65-F5344CB8AC3E}">
        <p14:creationId xmlns:p14="http://schemas.microsoft.com/office/powerpoint/2010/main" val="3865395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62E5994-FF5A-6274-45F0-0E98F568B34C}"/>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Girişimcinin İş Yaptığı Yer Gösterişli Olmalıdır</a:t>
            </a:r>
            <a:r>
              <a:rPr lang="tr-TR" sz="2800" b="0" i="0" u="none" strike="noStrike" baseline="0" dirty="0">
                <a:solidFill>
                  <a:srgbClr val="000000"/>
                </a:solidFill>
                <a:latin typeface="Calibri" panose="020F0502020204030204" pitchFamily="34" charset="0"/>
              </a:rPr>
              <a:t>: Girişimcinin ilk başta idareli kullanması gereken finansmanı olduğunu düşünürsek bu paranın önemli kısmını gösterişli bir ofise harcaması mantıklı olmayacaktır. Girişimin ne olduğuna paralel olarak lükse değil ihtiyaçlara yönelik cevaplar veren, gereksinimi olan şeylere yatırım yapılmalıdır. İlk başlarda evde ofisle bile işe başlanabilir.</a:t>
            </a:r>
            <a:endParaRPr lang="tr-TR" dirty="0"/>
          </a:p>
        </p:txBody>
      </p:sp>
    </p:spTree>
    <p:extLst>
      <p:ext uri="{BB962C8B-B14F-4D97-AF65-F5344CB8AC3E}">
        <p14:creationId xmlns:p14="http://schemas.microsoft.com/office/powerpoint/2010/main" val="3890599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8A1A246-8BCC-71FC-3875-359798FB0389}"/>
              </a:ext>
            </a:extLst>
          </p:cNvPr>
          <p:cNvSpPr>
            <a:spLocks noGrp="1"/>
          </p:cNvSpPr>
          <p:nvPr>
            <p:ph idx="1"/>
          </p:nvPr>
        </p:nvSpPr>
        <p:spPr/>
        <p:txBody>
          <a:bodyPr/>
          <a:lstStyle/>
          <a:p>
            <a:pPr algn="l"/>
            <a:r>
              <a:rPr lang="tr-TR" sz="2800" b="0" i="1" u="none" strike="noStrike" baseline="0" dirty="0">
                <a:solidFill>
                  <a:srgbClr val="994806"/>
                </a:solidFill>
                <a:latin typeface="Calibri-Italic"/>
              </a:rPr>
              <a:t>Girişimciler Antisosyaldir</a:t>
            </a:r>
            <a:r>
              <a:rPr lang="tr-TR" sz="2800" b="0" i="0" u="none" strike="noStrike" baseline="0" dirty="0">
                <a:solidFill>
                  <a:srgbClr val="000000"/>
                </a:solidFill>
                <a:latin typeface="Calibri" panose="020F0502020204030204" pitchFamily="34" charset="0"/>
              </a:rPr>
              <a:t>: Girişimcilerle ilgili bir başka yanlış inanış, kişilik olarak girişimcilerin sosyal olmadıkları yönündedir. Aslında bu inanış tam tersi olmalıdır. Girişimci, sosyal olan kişidir çünkü girişimci için tanıştığı her yeni kişi ve insanlarla yapılan fikir alışverişleri kendisi için ilham kaynağı olacaktır. Girişimci anti sosyal değil, bilakis sosyal hayatı dinamik ve enerjik kişidir.</a:t>
            </a:r>
            <a:endParaRPr lang="tr-TR" dirty="0"/>
          </a:p>
        </p:txBody>
      </p:sp>
    </p:spTree>
    <p:extLst>
      <p:ext uri="{BB962C8B-B14F-4D97-AF65-F5344CB8AC3E}">
        <p14:creationId xmlns:p14="http://schemas.microsoft.com/office/powerpoint/2010/main" val="3313478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12A10DE-08ED-EC9D-FB13-9F06403A0997}"/>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Girişimci İçin Kazanç Önce Gelir: </a:t>
            </a:r>
            <a:r>
              <a:rPr lang="tr-TR" sz="2800" b="0" i="0" u="none" strike="noStrike" baseline="0" dirty="0">
                <a:solidFill>
                  <a:srgbClr val="000000"/>
                </a:solidFill>
                <a:latin typeface="Calibri" panose="020F0502020204030204" pitchFamily="34" charset="0"/>
              </a:rPr>
              <a:t>Girişimci için sevdiği işi yapmak önce gelir. Bundan sonrasında girişimci kâr elde etmelidir ki o girişim devam edebilsin. Ancak, bu girişimci için birincil öncelik değildir. Kâr, zarar tablosu her zaman girişimcinin lehine olmalıdır. Ticaret, para kazanmadan yapılamaz. Ancak, girişimci cesaretiyle riskleri göze alıp kendi hayalini gerçekleştirmeye çalışacağı için ilk etapta kazanç unsuru değil kendini gerçekleştirme güdüsü ön plandadır.</a:t>
            </a:r>
            <a:endParaRPr lang="tr-TR" dirty="0"/>
          </a:p>
        </p:txBody>
      </p:sp>
    </p:spTree>
    <p:extLst>
      <p:ext uri="{BB962C8B-B14F-4D97-AF65-F5344CB8AC3E}">
        <p14:creationId xmlns:p14="http://schemas.microsoft.com/office/powerpoint/2010/main" val="822003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39CF6DD-A94C-CFA9-D5C3-4AE765655D97}"/>
              </a:ext>
            </a:extLst>
          </p:cNvPr>
          <p:cNvSpPr>
            <a:spLocks noGrp="1"/>
          </p:cNvSpPr>
          <p:nvPr>
            <p:ph idx="1"/>
          </p:nvPr>
        </p:nvSpPr>
        <p:spPr/>
        <p:txBody>
          <a:bodyPr/>
          <a:lstStyle/>
          <a:p>
            <a:pPr algn="l"/>
            <a:r>
              <a:rPr lang="tr-TR" sz="2800" b="0" i="1" u="none" strike="noStrike" baseline="0" dirty="0">
                <a:solidFill>
                  <a:srgbClr val="994806"/>
                </a:solidFill>
                <a:latin typeface="Calibri-Italic"/>
              </a:rPr>
              <a:t>Girişimci Mükemmel Olmalıdır: </a:t>
            </a:r>
            <a:r>
              <a:rPr lang="tr-TR" sz="2800" b="0" i="1" u="none" strike="noStrike" baseline="0" dirty="0">
                <a:solidFill>
                  <a:srgbClr val="000000"/>
                </a:solidFill>
                <a:latin typeface="Calibri" panose="020F0502020204030204" pitchFamily="34" charset="0"/>
              </a:rPr>
              <a:t>Mükemmellik, sahip olunan değil ancak kovalanan bir şeydir.</a:t>
            </a:r>
            <a:r>
              <a:rPr lang="tr-TR" sz="2800" b="0" i="0" u="none" strike="noStrike" baseline="0" dirty="0">
                <a:solidFill>
                  <a:srgbClr val="000000"/>
                </a:solidFill>
                <a:latin typeface="Calibri" panose="020F0502020204030204" pitchFamily="34" charset="0"/>
              </a:rPr>
              <a:t> Bu dürtü insanı daha çok sorgulamaya ve hep daha iyiye sahip olmaya iter. Girişimci, kendi mükemmelini arayan kişidir. Hiç kimse mükemmel olmadığı gibi hiçbir girişim veya girişimci mükemmel değildir.</a:t>
            </a:r>
            <a:endParaRPr lang="tr-TR" dirty="0"/>
          </a:p>
        </p:txBody>
      </p:sp>
    </p:spTree>
    <p:extLst>
      <p:ext uri="{BB962C8B-B14F-4D97-AF65-F5344CB8AC3E}">
        <p14:creationId xmlns:p14="http://schemas.microsoft.com/office/powerpoint/2010/main" val="746549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C3AD0D7-4CFF-C659-6AF1-BD71D92B2B71}"/>
              </a:ext>
            </a:extLst>
          </p:cNvPr>
          <p:cNvSpPr>
            <a:spLocks noGrp="1"/>
          </p:cNvSpPr>
          <p:nvPr>
            <p:ph idx="1"/>
          </p:nvPr>
        </p:nvSpPr>
        <p:spPr/>
        <p:txBody>
          <a:bodyPr/>
          <a:lstStyle/>
          <a:p>
            <a:r>
              <a:rPr lang="tr-TR" i="1" dirty="0">
                <a:solidFill>
                  <a:schemeClr val="accent2"/>
                </a:solidFill>
              </a:rPr>
              <a:t>Başarılı girişimciler her zaman ilk denemede başarılı olur. </a:t>
            </a:r>
            <a:r>
              <a:rPr lang="tr-TR" dirty="0"/>
              <a:t>Girişimcilik, deneme ve yanılma yoluyla öğrenilen bir süreçtir. Başarısızlıklar, gelecekteki stratejileri şekillendirmek için en değerli dersleri sunan birer fırsat olarak görülmelidir. </a:t>
            </a:r>
          </a:p>
        </p:txBody>
      </p:sp>
    </p:spTree>
    <p:extLst>
      <p:ext uri="{BB962C8B-B14F-4D97-AF65-F5344CB8AC3E}">
        <p14:creationId xmlns:p14="http://schemas.microsoft.com/office/powerpoint/2010/main" val="384086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BDEE10D-EEC5-16F5-D8CF-EF1F0C767C25}"/>
              </a:ext>
            </a:extLst>
          </p:cNvPr>
          <p:cNvSpPr>
            <a:spLocks noGrp="1"/>
          </p:cNvSpPr>
          <p:nvPr>
            <p:ph idx="1"/>
          </p:nvPr>
        </p:nvSpPr>
        <p:spPr>
          <a:xfrm>
            <a:off x="838200" y="1253331"/>
            <a:ext cx="10515600" cy="4351338"/>
          </a:xfrm>
        </p:spPr>
        <p:txBody>
          <a:bodyPr/>
          <a:lstStyle/>
          <a:p>
            <a:r>
              <a:rPr lang="tr-TR" i="1" dirty="0">
                <a:solidFill>
                  <a:schemeClr val="accent2"/>
                </a:solidFill>
              </a:rPr>
              <a:t>Sermayesi olan herkes iş kurabilir başarılı olabilir : </a:t>
            </a:r>
          </a:p>
          <a:p>
            <a:r>
              <a:rPr lang="tr-TR" dirty="0"/>
              <a:t>Her kapital sahibi iş kurabilir ancak her kurulan iş başarılı olamaz. </a:t>
            </a:r>
          </a:p>
          <a:p>
            <a:r>
              <a:rPr lang="tr-TR" dirty="0"/>
              <a:t>İş kurmak için sermaye gerekli ama sadece onun olması yeterli değildir. Helva yapmak için sadece un yeterli değildir unun yanında şeker, yağ ve helvayı yapacak bir ustanın (girişimci) olması gerekir. </a:t>
            </a:r>
          </a:p>
          <a:p>
            <a:r>
              <a:rPr lang="tr-TR" dirty="0"/>
              <a:t>“Akıl verme para ver” deyişi de çok kullanılır. Bu da pek doğru değildir. Çünkü sermaye sahibi olmak girişimciyi başarıya götürmez. Zaten akıllı girişimciler ihtiyaç duydukları parayı (rahatlıkla) bulabilirler</a:t>
            </a:r>
          </a:p>
        </p:txBody>
      </p:sp>
    </p:spTree>
    <p:extLst>
      <p:ext uri="{BB962C8B-B14F-4D97-AF65-F5344CB8AC3E}">
        <p14:creationId xmlns:p14="http://schemas.microsoft.com/office/powerpoint/2010/main" val="78196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BD192E1-B08B-F3D8-3DB8-16F5A57D42E3}"/>
              </a:ext>
            </a:extLst>
          </p:cNvPr>
          <p:cNvSpPr>
            <a:spLocks noGrp="1"/>
          </p:cNvSpPr>
          <p:nvPr>
            <p:ph idx="1"/>
          </p:nvPr>
        </p:nvSpPr>
        <p:spPr/>
        <p:txBody>
          <a:bodyPr/>
          <a:lstStyle/>
          <a:p>
            <a:r>
              <a:rPr lang="tr-TR" i="1" dirty="0">
                <a:solidFill>
                  <a:schemeClr val="accent2"/>
                </a:solidFill>
              </a:rPr>
              <a:t>X girişimci şunu üretiyor, satıyor, kazanıyor ben de bunu yaparsam kazanırım : </a:t>
            </a:r>
          </a:p>
          <a:p>
            <a:r>
              <a:rPr lang="tr-TR" dirty="0"/>
              <a:t>Bu düşünce tamamen taklitçiliktir. Girişimci taklit yapmaz, farklı olanı yapar. Girişimci inovasyon yapar. O bunu yapmışsa ben farklı bir şey yapmalıyım, der. Hiç kimsenin yapmadığını ilk kez o yapmak ister. Gerçek girişimci taklit eden değil taklit edilendir. Pazarda ilk olmanın üstünlüğünü yaşar</a:t>
            </a:r>
          </a:p>
        </p:txBody>
      </p:sp>
    </p:spTree>
    <p:extLst>
      <p:ext uri="{BB962C8B-B14F-4D97-AF65-F5344CB8AC3E}">
        <p14:creationId xmlns:p14="http://schemas.microsoft.com/office/powerpoint/2010/main" val="444391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7EA2067-B061-1E02-5E5D-E231B0F014BF}"/>
              </a:ext>
            </a:extLst>
          </p:cNvPr>
          <p:cNvSpPr>
            <a:spLocks noGrp="1"/>
          </p:cNvSpPr>
          <p:nvPr>
            <p:ph idx="1"/>
          </p:nvPr>
        </p:nvSpPr>
        <p:spPr/>
        <p:txBody>
          <a:bodyPr/>
          <a:lstStyle/>
          <a:p>
            <a:r>
              <a:rPr lang="tr-TR" i="1" dirty="0">
                <a:solidFill>
                  <a:schemeClr val="accent2"/>
                </a:solidFill>
              </a:rPr>
              <a:t>Eğitim dönemlerinde pek başarılı olamayanlar girişimcilikte de başarılı olamaz : </a:t>
            </a:r>
          </a:p>
          <a:p>
            <a:r>
              <a:rPr lang="tr-TR" dirty="0"/>
              <a:t>Pek tabi girişimcilik eğitimini ayrı tutarsak, genel ve uzmanlık eğitiminde başarılı olanlar girişimcilikte de başarılı olurlar, şeklinde doğrusal ilişki kurulamaz. Çünkü girişimci, yaratıcı, motivasyonu yüksek başarabileceğine inancı ve risk yelpazesi güçlü öngörüleri, sezgileri ve analitik yetenekleri gelişmiş kişilerdir</a:t>
            </a:r>
          </a:p>
        </p:txBody>
      </p:sp>
    </p:spTree>
    <p:extLst>
      <p:ext uri="{BB962C8B-B14F-4D97-AF65-F5344CB8AC3E}">
        <p14:creationId xmlns:p14="http://schemas.microsoft.com/office/powerpoint/2010/main" val="3000815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9CAD7E7-9A8C-1391-0F1D-00FA8207A10F}"/>
              </a:ext>
            </a:extLst>
          </p:cNvPr>
          <p:cNvSpPr>
            <a:spLocks noGrp="1"/>
          </p:cNvSpPr>
          <p:nvPr>
            <p:ph idx="1"/>
          </p:nvPr>
        </p:nvSpPr>
        <p:spPr>
          <a:xfrm>
            <a:off x="711590" y="1051902"/>
            <a:ext cx="10515600" cy="4351338"/>
          </a:xfrm>
        </p:spPr>
        <p:txBody>
          <a:bodyPr>
            <a:normAutofit fontScale="92500" lnSpcReduction="10000"/>
          </a:bodyPr>
          <a:lstStyle/>
          <a:p>
            <a:r>
              <a:rPr lang="tr-TR" i="1" dirty="0">
                <a:solidFill>
                  <a:schemeClr val="accent2"/>
                </a:solidFill>
              </a:rPr>
              <a:t>İş fikri yaratabilen herkes girişimci olabilir : </a:t>
            </a:r>
          </a:p>
          <a:p>
            <a:r>
              <a:rPr lang="tr-TR" dirty="0"/>
              <a:t>Girişimcilik için iş fikri üretmek tek başına yeterli değildir. Bu fikri ticari ürün ve hizmete ya da toplumsal faydaya dönüştürebilmek gereklidir. Yani fikri gerçeğe dönüştürmekte fikir kadar önemlidir. Bazı kimseler fikir üretirler ya da bulurlar ve ondan sonra hiçbir şey yapmazlar ama fikir bulma konusunda iyidirler. </a:t>
            </a:r>
          </a:p>
          <a:p>
            <a:r>
              <a:rPr lang="tr-TR" dirty="0"/>
              <a:t>Yine bazıları iş fikrini ürüne hizmete çevirir, ancak ticari hale getiremez, bu özellikte olanların sayısı az değildir. Ancak hem iş fikrini bulan, bunu ürüne hizmete ve toplumsal faydaya çeviren hem de ticari hale getirebilen gerçek girişimcilerdir. </a:t>
            </a:r>
          </a:p>
          <a:p>
            <a:r>
              <a:rPr lang="tr-TR" dirty="0"/>
              <a:t>Hatta başkasının bulmuş olduğu ürünü (izinle) ticari hale getiren de girişimcidir</a:t>
            </a:r>
          </a:p>
        </p:txBody>
      </p:sp>
    </p:spTree>
    <p:extLst>
      <p:ext uri="{BB962C8B-B14F-4D97-AF65-F5344CB8AC3E}">
        <p14:creationId xmlns:p14="http://schemas.microsoft.com/office/powerpoint/2010/main" val="2215391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9604299-D06C-F74B-AE21-9522FB06EE7A}"/>
              </a:ext>
            </a:extLst>
          </p:cNvPr>
          <p:cNvSpPr>
            <a:spLocks noGrp="1"/>
          </p:cNvSpPr>
          <p:nvPr>
            <p:ph type="title"/>
          </p:nvPr>
        </p:nvSpPr>
        <p:spPr/>
        <p:txBody>
          <a:bodyPr/>
          <a:lstStyle/>
          <a:p>
            <a:r>
              <a:rPr lang="tr-TR" dirty="0"/>
              <a:t>Girişimcilik türleri</a:t>
            </a:r>
          </a:p>
        </p:txBody>
      </p:sp>
      <p:sp>
        <p:nvSpPr>
          <p:cNvPr id="3" name="İçerik Yer Tutucusu 2">
            <a:extLst>
              <a:ext uri="{FF2B5EF4-FFF2-40B4-BE49-F238E27FC236}">
                <a16:creationId xmlns:a16="http://schemas.microsoft.com/office/drawing/2014/main" id="{08C98C43-BD7B-2738-8ACA-A1E38CDDCFE0}"/>
              </a:ext>
            </a:extLst>
          </p:cNvPr>
          <p:cNvSpPr>
            <a:spLocks noGrp="1"/>
          </p:cNvSpPr>
          <p:nvPr>
            <p:ph idx="1"/>
          </p:nvPr>
        </p:nvSpPr>
        <p:spPr/>
        <p:txBody>
          <a:bodyPr/>
          <a:lstStyle/>
          <a:p>
            <a:pPr algn="l"/>
            <a:r>
              <a:rPr lang="tr-TR" sz="2800" b="0" i="0" u="none" strike="noStrike" baseline="0" dirty="0">
                <a:latin typeface="Calibri" panose="020F0502020204030204" pitchFamily="34" charset="0"/>
              </a:rPr>
              <a:t>Girişimciliği, temelde fırsat girişimciliği ve yenilikçi girişimcilik olarak ikiye ayırmak mümkündür. Fırsat girişimciliği, piyasada bir mal veya hizmetin bulunmaması veya az bulunması gibi mevcut durumların değerlendirilmesini ifade eder. Yenilikçi girişimcilik ise yeni bir fikir veya düşüncenin veya mevcutların farklılaştırılarak piyasaya sunulmasıdır.</a:t>
            </a:r>
          </a:p>
          <a:p>
            <a:pPr algn="l"/>
            <a:r>
              <a:rPr lang="tr-TR" dirty="0">
                <a:latin typeface="Calibri" panose="020F0502020204030204" pitchFamily="34" charset="0"/>
              </a:rPr>
              <a:t>Bununla beraber takipçi girişimcilik, online girişimcilik, sosyal girişimcilik, kamu girişimciliği vb. girişimcilik türleri de vardır.</a:t>
            </a:r>
            <a:endParaRPr lang="tr-TR" dirty="0"/>
          </a:p>
        </p:txBody>
      </p:sp>
    </p:spTree>
    <p:extLst>
      <p:ext uri="{BB962C8B-B14F-4D97-AF65-F5344CB8AC3E}">
        <p14:creationId xmlns:p14="http://schemas.microsoft.com/office/powerpoint/2010/main" val="2516387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FBD5DBA-F8A2-18F6-0376-ADB2BC710229}"/>
              </a:ext>
            </a:extLst>
          </p:cNvPr>
          <p:cNvSpPr>
            <a:spLocks noGrp="1"/>
          </p:cNvSpPr>
          <p:nvPr>
            <p:ph idx="1"/>
          </p:nvPr>
        </p:nvSpPr>
        <p:spPr/>
        <p:txBody>
          <a:bodyPr>
            <a:normAutofit/>
          </a:bodyPr>
          <a:lstStyle/>
          <a:p>
            <a:pPr algn="l"/>
            <a:r>
              <a:rPr lang="tr-TR" sz="3600" b="1" i="0" u="none" strike="noStrike" baseline="0" dirty="0">
                <a:solidFill>
                  <a:srgbClr val="000000"/>
                </a:solidFill>
                <a:latin typeface="Calibri-Bold"/>
              </a:rPr>
              <a:t>Fırsat Girişimciliği</a:t>
            </a:r>
          </a:p>
          <a:p>
            <a:pPr algn="l"/>
            <a:r>
              <a:rPr lang="tr-TR" sz="2800" b="0" i="1" u="none" strike="noStrike" baseline="0" dirty="0">
                <a:solidFill>
                  <a:srgbClr val="994806"/>
                </a:solidFill>
                <a:latin typeface="Calibri-Italic"/>
              </a:rPr>
              <a:t>Fırsat girişimciliği temelde, pazardaki mevcut fırsatları görerek ya da potansiyel fırsatları sezinleyerek mevcut olan bir mal veya hizmeti pazara sunmaktır.</a:t>
            </a:r>
          </a:p>
          <a:p>
            <a:pPr algn="l"/>
            <a:r>
              <a:rPr lang="tr-TR" sz="2800" b="0" i="0" u="none" strike="noStrike" baseline="0" dirty="0">
                <a:solidFill>
                  <a:srgbClr val="000000"/>
                </a:solidFill>
                <a:latin typeface="Calibri" panose="020F0502020204030204" pitchFamily="34" charset="0"/>
              </a:rPr>
              <a:t>Bu fırsat, mevcut olan bir mal veya hizmetin pazara yeterince sunulamaması </a:t>
            </a:r>
            <a:r>
              <a:rPr lang="es-ES" sz="2800" b="0" i="0" u="none" strike="noStrike" baseline="0" dirty="0">
                <a:solidFill>
                  <a:srgbClr val="000000"/>
                </a:solidFill>
                <a:latin typeface="Calibri" panose="020F0502020204030204" pitchFamily="34" charset="0"/>
              </a:rPr>
              <a:t>veya pazarda hiç olmaması ya da mevcut işletmelerin istenen kalitede hizmeti</a:t>
            </a:r>
            <a:r>
              <a:rPr lang="tr-TR" sz="2800" b="0" i="0" u="none" strike="noStrike" baseline="0" dirty="0">
                <a:solidFill>
                  <a:srgbClr val="000000"/>
                </a:solidFill>
                <a:latin typeface="Calibri" panose="020F0502020204030204" pitchFamily="34" charset="0"/>
              </a:rPr>
              <a:t> pazara sunamamasından kaynaklanmaktadır.</a:t>
            </a:r>
            <a:endParaRPr lang="tr-TR" dirty="0"/>
          </a:p>
        </p:txBody>
      </p:sp>
    </p:spTree>
    <p:extLst>
      <p:ext uri="{BB962C8B-B14F-4D97-AF65-F5344CB8AC3E}">
        <p14:creationId xmlns:p14="http://schemas.microsoft.com/office/powerpoint/2010/main" val="3236996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1130180-8BC3-99CF-60D3-63D5683647A9}"/>
              </a:ext>
            </a:extLst>
          </p:cNvPr>
          <p:cNvSpPr>
            <a:spLocks noGrp="1"/>
          </p:cNvSpPr>
          <p:nvPr>
            <p:ph idx="1"/>
          </p:nvPr>
        </p:nvSpPr>
        <p:spPr/>
        <p:txBody>
          <a:bodyPr>
            <a:normAutofit lnSpcReduction="10000"/>
          </a:bodyPr>
          <a:lstStyle/>
          <a:p>
            <a:pPr algn="l"/>
            <a:r>
              <a:rPr lang="tr-TR" sz="3600" b="1" i="0" u="none" strike="noStrike" baseline="0" dirty="0">
                <a:solidFill>
                  <a:srgbClr val="000000"/>
                </a:solidFill>
                <a:latin typeface="Calibri-Bold"/>
              </a:rPr>
              <a:t>Yenilikçi Girişimcilik</a:t>
            </a:r>
          </a:p>
          <a:p>
            <a:pPr algn="l"/>
            <a:r>
              <a:rPr lang="tr-TR" sz="2800" b="0" i="1" u="none" strike="noStrike" baseline="0" dirty="0">
                <a:solidFill>
                  <a:srgbClr val="994806"/>
                </a:solidFill>
                <a:latin typeface="Calibri-Italic"/>
              </a:rPr>
              <a:t>Yenilikçi girişimcilik, yeni bir fikir veya buluşu ya da mevcut olan bir mal veya hizmetin dizayn, fiyat, kalite gibi yönlerden iyileştirilerek pazara sunulmasıdır.</a:t>
            </a:r>
          </a:p>
          <a:p>
            <a:pPr algn="l"/>
            <a:r>
              <a:rPr lang="tr-TR" sz="2800" b="0" i="0" u="none" strike="noStrike" baseline="0" dirty="0">
                <a:solidFill>
                  <a:srgbClr val="000000"/>
                </a:solidFill>
                <a:latin typeface="Calibri" panose="020F0502020204030204" pitchFamily="34" charset="0"/>
              </a:rPr>
              <a:t>Kimi araştırmacılar, </a:t>
            </a:r>
            <a:r>
              <a:rPr lang="tr-TR" dirty="0">
                <a:solidFill>
                  <a:srgbClr val="000000"/>
                </a:solidFill>
                <a:latin typeface="Calibri" panose="020F0502020204030204" pitchFamily="34" charset="0"/>
              </a:rPr>
              <a:t>bu </a:t>
            </a:r>
            <a:r>
              <a:rPr lang="tr-TR" sz="2800" b="0" i="0" u="none" strike="noStrike" baseline="0" dirty="0">
                <a:solidFill>
                  <a:srgbClr val="000000"/>
                </a:solidFill>
                <a:latin typeface="Calibri" panose="020F0502020204030204" pitchFamily="34" charset="0"/>
              </a:rPr>
              <a:t>tür girişimciliğin asıl girişimcilik olduğu görüşündedirler. Ancak, her iki tür girişimcilik de toplumun gerek duyduğu mal ve hizmetleri karşılamayı amaçlar ve riskleri üstlenmeyi, irade gücünü ve cesareti gerektirir. Bu nedenle her iki girişimcilik arasında pek bir fark olduğu söylenemez. Bununla beraber gelecekteki girişimciliğin ağırlıklı olarak yaratıcı girişimcilik olacağı gerçeği de gözden uzak tutulmamalıdır.</a:t>
            </a:r>
            <a:endParaRPr lang="tr-TR" dirty="0"/>
          </a:p>
        </p:txBody>
      </p:sp>
    </p:spTree>
    <p:extLst>
      <p:ext uri="{BB962C8B-B14F-4D97-AF65-F5344CB8AC3E}">
        <p14:creationId xmlns:p14="http://schemas.microsoft.com/office/powerpoint/2010/main" val="190702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CCA89A9-3FF4-D728-0B72-76F9D42B6D88}"/>
              </a:ext>
            </a:extLst>
          </p:cNvPr>
          <p:cNvSpPr>
            <a:spLocks noGrp="1"/>
          </p:cNvSpPr>
          <p:nvPr>
            <p:ph idx="1"/>
          </p:nvPr>
        </p:nvSpPr>
        <p:spPr/>
        <p:txBody>
          <a:bodyPr/>
          <a:lstStyle/>
          <a:p>
            <a:r>
              <a:rPr lang="tr-TR" dirty="0"/>
              <a:t>Yenilikçi girişimcilik yaratıcılığı da kapsamakla beraber Ayrıca yaratıcı girişimcilik adı altında sanat odaklı girişimler de ifade edilebilmektedir. Buna göre:</a:t>
            </a:r>
          </a:p>
          <a:p>
            <a:r>
              <a:rPr lang="tr-TR" sz="2800" b="1" dirty="0">
                <a:effectLst/>
                <a:latin typeface="Calibri" panose="020F0502020204030204" pitchFamily="34" charset="0"/>
                <a:ea typeface="Calibri" panose="020F0502020204030204" pitchFamily="34" charset="0"/>
                <a:cs typeface="Times New Roman" panose="02020603050405020304" pitchFamily="18" charset="0"/>
              </a:rPr>
              <a:t>Yaratıcı Girişimcilik:</a:t>
            </a:r>
            <a:r>
              <a:rPr lang="tr-TR" sz="2800" dirty="0">
                <a:effectLst/>
                <a:latin typeface="Calibri" panose="020F0502020204030204" pitchFamily="34" charset="0"/>
                <a:ea typeface="Calibri" panose="020F0502020204030204" pitchFamily="34" charset="0"/>
                <a:cs typeface="Times New Roman" panose="02020603050405020304" pitchFamily="18" charset="0"/>
              </a:rPr>
              <a:t> Yaratıcı ve sanatsal endüstrilerde, ressamlar, şarkıcılar veya aktörler gibi kendi işlerini kuran sanatçıları kapsar</a:t>
            </a:r>
            <a:endParaRPr lang="tr-TR" dirty="0"/>
          </a:p>
        </p:txBody>
      </p:sp>
    </p:spTree>
    <p:extLst>
      <p:ext uri="{BB962C8B-B14F-4D97-AF65-F5344CB8AC3E}">
        <p14:creationId xmlns:p14="http://schemas.microsoft.com/office/powerpoint/2010/main" val="1853174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9890F49-3C27-93CC-9B0C-5A834ABB8CC5}"/>
              </a:ext>
            </a:extLst>
          </p:cNvPr>
          <p:cNvSpPr>
            <a:spLocks noGrp="1"/>
          </p:cNvSpPr>
          <p:nvPr>
            <p:ph idx="1"/>
          </p:nvPr>
        </p:nvSpPr>
        <p:spPr/>
        <p:txBody>
          <a:bodyPr>
            <a:normAutofit/>
          </a:bodyPr>
          <a:lstStyle/>
          <a:p>
            <a:pPr algn="l"/>
            <a:r>
              <a:rPr lang="tr-TR" sz="2800" b="1" i="0" u="none" strike="noStrike" baseline="0" dirty="0">
                <a:latin typeface="Calibri-Bold"/>
              </a:rPr>
              <a:t>Takipçi Girişimcilik</a:t>
            </a:r>
            <a:endParaRPr lang="tr-TR" sz="2800" b="0" i="1" u="none" strike="noStrike" baseline="0" dirty="0">
              <a:solidFill>
                <a:srgbClr val="994806"/>
              </a:solidFill>
              <a:latin typeface="Calibri-Italic"/>
            </a:endParaRPr>
          </a:p>
          <a:p>
            <a:pPr algn="l"/>
            <a:r>
              <a:rPr lang="tr-TR" sz="2800" b="0" i="1" u="none" strike="noStrike" baseline="0" dirty="0">
                <a:solidFill>
                  <a:srgbClr val="994806"/>
                </a:solidFill>
                <a:latin typeface="Calibri-Italic"/>
              </a:rPr>
              <a:t>Piyasadaki gelişmeleri izlemekle yetinen, bu gelişmelere göre davranan, yenilik yapan girişimcilerin yolundan gitmeyi içeren girişimcilik türüdür.</a:t>
            </a:r>
          </a:p>
          <a:p>
            <a:pPr algn="l"/>
            <a:r>
              <a:rPr lang="tr-TR" sz="2800" b="0" i="0" u="none" strike="noStrike" baseline="0" dirty="0">
                <a:solidFill>
                  <a:srgbClr val="000000"/>
                </a:solidFill>
                <a:latin typeface="Calibri" panose="020F0502020204030204" pitchFamily="34" charset="0"/>
              </a:rPr>
              <a:t>Bu girişimcilik türünde girişimcilerin, yenilikçi girişimcileri izlemekle yetindikleri görülmektedir. Fakat girişimciliğin dinamik yapısı nedeniyle roller her an değişebilir. Başlangıçta dinamik bir hareket yeteneği kazanan yenilikçi bir girişimci zamanla takipçi bir girişimci hâline gelebileceği gibi, zamanla takipçi bir girişimcinin yenilikçi bir girişimci durumuna gelmesi de mümkündür.</a:t>
            </a:r>
            <a:endParaRPr lang="tr-TR" dirty="0"/>
          </a:p>
        </p:txBody>
      </p:sp>
    </p:spTree>
    <p:extLst>
      <p:ext uri="{BB962C8B-B14F-4D97-AF65-F5344CB8AC3E}">
        <p14:creationId xmlns:p14="http://schemas.microsoft.com/office/powerpoint/2010/main" val="1066892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0685E64-7EA3-04FD-7E17-9D9A488CD684}"/>
              </a:ext>
            </a:extLst>
          </p:cNvPr>
          <p:cNvSpPr>
            <a:spLocks noGrp="1"/>
          </p:cNvSpPr>
          <p:nvPr>
            <p:ph idx="1"/>
          </p:nvPr>
        </p:nvSpPr>
        <p:spPr/>
        <p:txBody>
          <a:bodyPr/>
          <a:lstStyle/>
          <a:p>
            <a:r>
              <a:rPr lang="tr-TR" sz="2800" b="1" dirty="0">
                <a:effectLst/>
                <a:latin typeface="Calibri" panose="020F0502020204030204" pitchFamily="34" charset="0"/>
                <a:ea typeface="Calibri" panose="020F0502020204030204" pitchFamily="34" charset="0"/>
                <a:cs typeface="Times New Roman" panose="02020603050405020304" pitchFamily="18" charset="0"/>
              </a:rPr>
              <a:t>Ticari Girişimcilik:</a:t>
            </a:r>
            <a:r>
              <a:rPr lang="tr-TR" sz="2800" dirty="0">
                <a:effectLst/>
                <a:latin typeface="Calibri" panose="020F0502020204030204" pitchFamily="34" charset="0"/>
                <a:ea typeface="Calibri" panose="020F0502020204030204" pitchFamily="34" charset="0"/>
                <a:cs typeface="Times New Roman" panose="02020603050405020304" pitchFamily="18" charset="0"/>
              </a:rPr>
              <a:t> </a:t>
            </a:r>
          </a:p>
          <a:p>
            <a:r>
              <a:rPr lang="tr-TR" sz="2800" dirty="0">
                <a:effectLst/>
                <a:latin typeface="Calibri" panose="020F0502020204030204" pitchFamily="34" charset="0"/>
                <a:ea typeface="Calibri" panose="020F0502020204030204" pitchFamily="34" charset="0"/>
                <a:cs typeface="Times New Roman" panose="02020603050405020304" pitchFamily="18" charset="0"/>
              </a:rPr>
              <a:t>Girişimciliğin en yaygın ve bilinen türüdür. Butik, kafe, restoran gibi işletmeleri kurma ve yönetme faaliyetini kapsar. Temel amacı, piyasadaki bir ihtiyacı karşılayarak kâr elde etmektir</a:t>
            </a:r>
            <a:endParaRPr lang="tr-TR" dirty="0"/>
          </a:p>
        </p:txBody>
      </p:sp>
    </p:spTree>
    <p:extLst>
      <p:ext uri="{BB962C8B-B14F-4D97-AF65-F5344CB8AC3E}">
        <p14:creationId xmlns:p14="http://schemas.microsoft.com/office/powerpoint/2010/main" val="754298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90957B9-36B4-103C-391B-E77DCF5D324F}"/>
              </a:ext>
            </a:extLst>
          </p:cNvPr>
          <p:cNvSpPr>
            <a:spLocks noGrp="1"/>
          </p:cNvSpPr>
          <p:nvPr>
            <p:ph idx="1"/>
          </p:nvPr>
        </p:nvSpPr>
        <p:spPr/>
        <p:txBody>
          <a:bodyPr/>
          <a:lstStyle/>
          <a:p>
            <a:r>
              <a:rPr lang="tr-TR" sz="2400" b="1" dirty="0"/>
              <a:t>Kadın Girişimci </a:t>
            </a:r>
          </a:p>
          <a:p>
            <a:r>
              <a:rPr lang="tr-TR" dirty="0"/>
              <a:t>Kadınların ekonomik ve sosyal hayatta güçlenmesini sağlamak amacıyla hareket eden, kadınların da girişimcilik yapabileceği onların da bu rolü üstlenebileceği ile ilgili görüşü kapsayan girişimcilik çeşididir</a:t>
            </a:r>
          </a:p>
        </p:txBody>
      </p:sp>
    </p:spTree>
    <p:extLst>
      <p:ext uri="{BB962C8B-B14F-4D97-AF65-F5344CB8AC3E}">
        <p14:creationId xmlns:p14="http://schemas.microsoft.com/office/powerpoint/2010/main" val="14045227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980FB25-3160-508A-E3F7-FDB0E80AAE50}"/>
              </a:ext>
            </a:extLst>
          </p:cNvPr>
          <p:cNvSpPr>
            <a:spLocks noGrp="1"/>
          </p:cNvSpPr>
          <p:nvPr>
            <p:ph idx="1"/>
          </p:nvPr>
        </p:nvSpPr>
        <p:spPr/>
        <p:txBody>
          <a:bodyPr>
            <a:normAutofit fontScale="85000" lnSpcReduction="10000"/>
          </a:bodyPr>
          <a:lstStyle/>
          <a:p>
            <a:r>
              <a:rPr lang="tr-TR" dirty="0"/>
              <a:t>Genç Girişimcilik </a:t>
            </a:r>
          </a:p>
          <a:p>
            <a:r>
              <a:rPr lang="tr-TR" dirty="0"/>
              <a:t>Girişimci gençler yetiştirmek ülkemizde hep gündeme gelmiş olsa da biraz kamucu toplum olma özelliğimizden dolayı devlete ve ailesine yaslanan gençler yetiştirmekten kurtulamamaktayız. </a:t>
            </a:r>
          </a:p>
          <a:p>
            <a:r>
              <a:rPr lang="tr-TR" dirty="0"/>
              <a:t>Çocuklara büyüyünce ne olacaksın dendiğinde genellikle doktor, öğretmen, polis, memur, cevaplarını çok alırız. Bu mesleklerin çoğu kamu ile ilgilidir. </a:t>
            </a:r>
          </a:p>
          <a:p>
            <a:r>
              <a:rPr lang="tr-TR" dirty="0"/>
              <a:t>Oysa girişimciliğin gelişmiş olduğu toplumlara baktığımızda kamuda ya da özel sektörde iş bulmanın yanında iş kurmanın da kariyer seçeneği olarak ortaya çıktığı görülmektedir. Bilindiği üzere girişimcilikte yaratıcılık yenilik önemlidir. Yaratıcılık ve yenilik bir yetenek, aynı zamanda geliştirilebilir bir özelliktir. Küçük yaştan itibaren kalıba sokulmadan, ona uygun koşullar sağlanarak ortaya çıkarılması ve geliştirilmesi gerekir</a:t>
            </a:r>
          </a:p>
        </p:txBody>
      </p:sp>
    </p:spTree>
    <p:extLst>
      <p:ext uri="{BB962C8B-B14F-4D97-AF65-F5344CB8AC3E}">
        <p14:creationId xmlns:p14="http://schemas.microsoft.com/office/powerpoint/2010/main" val="2401308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1C4C162-0E41-5C7F-1526-022D74C4FA14}"/>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Sosyal Girişimcilik:</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SzPts val="1000"/>
              <a:buFont typeface="Symbol" panose="05050102010706020507" pitchFamily="18" charset="2"/>
              <a:buChar char=""/>
              <a:tabLst>
                <a:tab pos="457200" algn="l"/>
              </a:tabLs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Odak noktası kâr elde etmekten ziyade, sosyal ve toplumsal sorunlara sürdürülebilir çözümler sunmaktır. Gelir elde etme, genellikle sosyal hedefin gerçekleşmesi için bir araç olarak görülür.   </a:t>
            </a:r>
          </a:p>
          <a:p>
            <a:endParaRPr lang="tr-TR" dirty="0"/>
          </a:p>
        </p:txBody>
      </p:sp>
    </p:spTree>
    <p:extLst>
      <p:ext uri="{BB962C8B-B14F-4D97-AF65-F5344CB8AC3E}">
        <p14:creationId xmlns:p14="http://schemas.microsoft.com/office/powerpoint/2010/main" val="1006710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CA75CAA-214A-3568-55E4-248B6C240768}"/>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İç Girişimcilik (Kurum İçi Girişimcilik):</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SzPts val="1000"/>
              <a:buFont typeface="Symbol" panose="05050102010706020507" pitchFamily="18" charset="2"/>
              <a:buChar char=""/>
              <a:tabLst>
                <a:tab pos="457200" algn="l"/>
              </a:tabLs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Mevcut bir şirket veya organizasyon içerisinde, resmi bir görevlendirme olmadan veya görevlendirilerek yenilikler ortaya çıkarma faaliyetidir. Bu, çalışan verimliliğini ve firma içindeki inovasyonu artırmayı hedefler.   </a:t>
            </a:r>
          </a:p>
          <a:p>
            <a:endParaRPr lang="tr-TR" dirty="0"/>
          </a:p>
        </p:txBody>
      </p:sp>
    </p:spTree>
    <p:extLst>
      <p:ext uri="{BB962C8B-B14F-4D97-AF65-F5344CB8AC3E}">
        <p14:creationId xmlns:p14="http://schemas.microsoft.com/office/powerpoint/2010/main" val="35501089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88F9556-458D-2BFE-4C22-C119087DBC87}"/>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Kamu Girişimciliği:</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SzPts val="1000"/>
              <a:buFont typeface="Symbol" panose="05050102010706020507" pitchFamily="18" charset="2"/>
              <a:buChar char=""/>
              <a:tabLst>
                <a:tab pos="457200" algn="l"/>
              </a:tabLs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Bir girişimin tüm gereksinimlerinin devlet tarafından karşılandığı veya devletin bizzat yeni bir mal veya hizmet ürettiği girişimcilik türüdür.   </a:t>
            </a:r>
          </a:p>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Halk Ekmek veya Atatürk Orman Çiftliği gibi kurumlar bu türe örnektir.</a:t>
            </a:r>
          </a:p>
          <a:p>
            <a:endParaRPr lang="tr-TR" dirty="0"/>
          </a:p>
        </p:txBody>
      </p:sp>
    </p:spTree>
    <p:extLst>
      <p:ext uri="{BB962C8B-B14F-4D97-AF65-F5344CB8AC3E}">
        <p14:creationId xmlns:p14="http://schemas.microsoft.com/office/powerpoint/2010/main" val="75216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E9158F5-7119-104F-0743-56E7A5076636}"/>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Online Girişimcilik:</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SzPts val="1000"/>
              <a:buFont typeface="Symbol" panose="05050102010706020507" pitchFamily="18" charset="2"/>
              <a:buChar char=""/>
              <a:tabLst>
                <a:tab pos="457200" algn="l"/>
              </a:tabLs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Ürün veya hizmet satışının, pazarlamasının ve gelir elde etmesinin tamamen internet üzerinden gerçekleştirilmesine dayanan bir girişim türüdür. E-ticaret platformları bu türün en yaygın örneğidir.   </a:t>
            </a:r>
          </a:p>
          <a:p>
            <a:endParaRPr lang="tr-TR" dirty="0"/>
          </a:p>
        </p:txBody>
      </p:sp>
    </p:spTree>
    <p:extLst>
      <p:ext uri="{BB962C8B-B14F-4D97-AF65-F5344CB8AC3E}">
        <p14:creationId xmlns:p14="http://schemas.microsoft.com/office/powerpoint/2010/main" val="1941869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a:extLst>
              <a:ext uri="{FF2B5EF4-FFF2-40B4-BE49-F238E27FC236}">
                <a16:creationId xmlns:a16="http://schemas.microsoft.com/office/drawing/2014/main" id="{E173B9C5-0964-EFED-9A5E-D7F67FA1A9B0}"/>
              </a:ext>
            </a:extLst>
          </p:cNvPr>
          <p:cNvGraphicFramePr>
            <a:graphicFrameLocks noGrp="1"/>
          </p:cNvGraphicFramePr>
          <p:nvPr>
            <p:ph idx="1"/>
            <p:extLst>
              <p:ext uri="{D42A27DB-BD31-4B8C-83A1-F6EECF244321}">
                <p14:modId xmlns:p14="http://schemas.microsoft.com/office/powerpoint/2010/main" val="2762483739"/>
              </p:ext>
            </p:extLst>
          </p:nvPr>
        </p:nvGraphicFramePr>
        <p:xfrm>
          <a:off x="0" y="0"/>
          <a:ext cx="12192000" cy="7028929"/>
        </p:xfrm>
        <a:graphic>
          <a:graphicData uri="http://schemas.openxmlformats.org/drawingml/2006/table">
            <a:tbl>
              <a:tblPr firstRow="1" firstCol="1" bandRow="1">
                <a:tableStyleId>{5C22544A-7EE6-4342-B048-85BDC9FD1C3A}</a:tableStyleId>
              </a:tblPr>
              <a:tblGrid>
                <a:gridCol w="3048000">
                  <a:extLst>
                    <a:ext uri="{9D8B030D-6E8A-4147-A177-3AD203B41FA5}">
                      <a16:colId xmlns:a16="http://schemas.microsoft.com/office/drawing/2014/main" val="3092686065"/>
                    </a:ext>
                  </a:extLst>
                </a:gridCol>
                <a:gridCol w="3048000">
                  <a:extLst>
                    <a:ext uri="{9D8B030D-6E8A-4147-A177-3AD203B41FA5}">
                      <a16:colId xmlns:a16="http://schemas.microsoft.com/office/drawing/2014/main" val="3485657048"/>
                    </a:ext>
                  </a:extLst>
                </a:gridCol>
                <a:gridCol w="3048000">
                  <a:extLst>
                    <a:ext uri="{9D8B030D-6E8A-4147-A177-3AD203B41FA5}">
                      <a16:colId xmlns:a16="http://schemas.microsoft.com/office/drawing/2014/main" val="3568877845"/>
                    </a:ext>
                  </a:extLst>
                </a:gridCol>
                <a:gridCol w="3048000">
                  <a:extLst>
                    <a:ext uri="{9D8B030D-6E8A-4147-A177-3AD203B41FA5}">
                      <a16:colId xmlns:a16="http://schemas.microsoft.com/office/drawing/2014/main" val="428813406"/>
                    </a:ext>
                  </a:extLst>
                </a:gridCol>
              </a:tblGrid>
              <a:tr h="538337">
                <a:tc>
                  <a:txBody>
                    <a:bodyPr/>
                    <a:lstStyle/>
                    <a:p>
                      <a:pPr>
                        <a:lnSpc>
                          <a:spcPct val="107000"/>
                        </a:lnSpc>
                        <a:spcAft>
                          <a:spcPts val="800"/>
                        </a:spcAft>
                      </a:pPr>
                      <a:r>
                        <a:rPr lang="tr-TR" sz="1800" kern="100">
                          <a:effectLst/>
                        </a:rPr>
                        <a:t>Girişimcilik Türü</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dirty="0">
                          <a:effectLst/>
                        </a:rPr>
                        <a:t>Odak Noktası</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Temel Hedef</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Örnekler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16073583"/>
                  </a:ext>
                </a:extLst>
              </a:tr>
              <a:tr h="538337">
                <a:tc>
                  <a:txBody>
                    <a:bodyPr/>
                    <a:lstStyle/>
                    <a:p>
                      <a:pPr>
                        <a:lnSpc>
                          <a:spcPct val="107000"/>
                        </a:lnSpc>
                        <a:spcAft>
                          <a:spcPts val="800"/>
                        </a:spcAft>
                      </a:pPr>
                      <a:r>
                        <a:rPr lang="tr-TR" sz="1800" kern="100">
                          <a:effectLst/>
                        </a:rPr>
                        <a:t>Ticari</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Pazar İhtiyaçları</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Kâr elde etme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Butik, Restoran, Kitabevi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11312588"/>
                  </a:ext>
                </a:extLst>
              </a:tr>
              <a:tr h="538337">
                <a:tc>
                  <a:txBody>
                    <a:bodyPr/>
                    <a:lstStyle/>
                    <a:p>
                      <a:pPr>
                        <a:lnSpc>
                          <a:spcPct val="107000"/>
                        </a:lnSpc>
                        <a:spcAft>
                          <a:spcPts val="800"/>
                        </a:spcAft>
                      </a:pPr>
                      <a:r>
                        <a:rPr lang="tr-TR" sz="1800" kern="100">
                          <a:effectLst/>
                        </a:rPr>
                        <a:t>Sosyal</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Toplumsal Sorunlar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Sosyal değer yaratma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Askıda Ne Var, Evreka, Otsimo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78280137"/>
                  </a:ext>
                </a:extLst>
              </a:tr>
              <a:tr h="1041579">
                <a:tc>
                  <a:txBody>
                    <a:bodyPr/>
                    <a:lstStyle/>
                    <a:p>
                      <a:pPr>
                        <a:lnSpc>
                          <a:spcPct val="107000"/>
                        </a:lnSpc>
                        <a:spcAft>
                          <a:spcPts val="800"/>
                        </a:spcAft>
                      </a:pPr>
                      <a:r>
                        <a:rPr lang="tr-TR" sz="1800" kern="100">
                          <a:effectLst/>
                        </a:rPr>
                        <a:t>Kurum İçi</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Organizasyonel İnovasyon</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Çalışan verimliliğini ve firma içi yeniliği artırma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Sony PlayStation, Google News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77953620"/>
                  </a:ext>
                </a:extLst>
              </a:tr>
              <a:tr h="1041579">
                <a:tc>
                  <a:txBody>
                    <a:bodyPr/>
                    <a:lstStyle/>
                    <a:p>
                      <a:pPr>
                        <a:lnSpc>
                          <a:spcPct val="107000"/>
                        </a:lnSpc>
                        <a:spcAft>
                          <a:spcPts val="800"/>
                        </a:spcAft>
                      </a:pPr>
                      <a:r>
                        <a:rPr lang="tr-TR" sz="1800" kern="100">
                          <a:effectLst/>
                        </a:rPr>
                        <a:t>Kamu</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Kamu Hizmetleri</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Hizmetleri geliştirme, yeni gelir kaynakları yaratma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Halk Ekmek, Atatürk Orman Çiftliği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42576853"/>
                  </a:ext>
                </a:extLst>
              </a:tr>
              <a:tr h="538337">
                <a:tc>
                  <a:txBody>
                    <a:bodyPr/>
                    <a:lstStyle/>
                    <a:p>
                      <a:pPr>
                        <a:lnSpc>
                          <a:spcPct val="107000"/>
                        </a:lnSpc>
                        <a:spcAft>
                          <a:spcPts val="800"/>
                        </a:spcAft>
                      </a:pPr>
                      <a:r>
                        <a:rPr lang="tr-TR" sz="1800" kern="100">
                          <a:effectLst/>
                        </a:rPr>
                        <a:t>Yenilikçi</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Yeni Fikirler ve Teknolojiler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İnovasyon yoluyla kâr sağlama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Start-up'lar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63972596"/>
                  </a:ext>
                </a:extLst>
              </a:tr>
              <a:tr h="538337">
                <a:tc>
                  <a:txBody>
                    <a:bodyPr/>
                    <a:lstStyle/>
                    <a:p>
                      <a:pPr>
                        <a:lnSpc>
                          <a:spcPct val="107000"/>
                        </a:lnSpc>
                        <a:spcAft>
                          <a:spcPts val="800"/>
                        </a:spcAft>
                      </a:pPr>
                      <a:r>
                        <a:rPr lang="tr-TR" sz="1800" kern="100">
                          <a:effectLst/>
                        </a:rPr>
                        <a:t>Yaratıcı</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Yaratıcı Endüstriler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Sanatsal ve kültürel değer yaratma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Ressam, Şarkıcı, Aktör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3967755"/>
                  </a:ext>
                </a:extLst>
              </a:tr>
              <a:tr h="1041579">
                <a:tc>
                  <a:txBody>
                    <a:bodyPr/>
                    <a:lstStyle/>
                    <a:p>
                      <a:pPr>
                        <a:lnSpc>
                          <a:spcPct val="107000"/>
                        </a:lnSpc>
                        <a:spcAft>
                          <a:spcPts val="800"/>
                        </a:spcAft>
                      </a:pPr>
                      <a:r>
                        <a:rPr lang="tr-TR" sz="1800" kern="100">
                          <a:effectLst/>
                        </a:rPr>
                        <a:t>Fırsat</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Pazar Fırsatları</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Mevcut fırsatları değerlendirerek pazara girme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Yeni bir malı mevcut pazara sunma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15249973"/>
                  </a:ext>
                </a:extLst>
              </a:tr>
              <a:tr h="1041579">
                <a:tc>
                  <a:txBody>
                    <a:bodyPr/>
                    <a:lstStyle/>
                    <a:p>
                      <a:pPr>
                        <a:lnSpc>
                          <a:spcPct val="107000"/>
                        </a:lnSpc>
                        <a:spcAft>
                          <a:spcPts val="800"/>
                        </a:spcAft>
                      </a:pPr>
                      <a:r>
                        <a:rPr lang="tr-TR" sz="1800" kern="100">
                          <a:effectLst/>
                        </a:rPr>
                        <a:t>Online</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Dijital Platformlar</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a:effectLst/>
                        </a:rPr>
                        <a:t>İnternet üzerinden ürün/hizmet satışı yapma   </a:t>
                      </a:r>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tr-TR" sz="1800" kern="100" dirty="0">
                          <a:effectLst/>
                        </a:rPr>
                        <a:t>E-ticaret siteleri   </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56143655"/>
                  </a:ext>
                </a:extLst>
              </a:tr>
            </a:tbl>
          </a:graphicData>
        </a:graphic>
      </p:graphicFrame>
    </p:spTree>
    <p:extLst>
      <p:ext uri="{BB962C8B-B14F-4D97-AF65-F5344CB8AC3E}">
        <p14:creationId xmlns:p14="http://schemas.microsoft.com/office/powerpoint/2010/main" val="3896017972"/>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TotalTime>
  <Words>2067</Words>
  <Application>Microsoft Office PowerPoint</Application>
  <PresentationFormat>Geniş ekran</PresentationFormat>
  <Paragraphs>112</Paragraphs>
  <Slides>36</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36</vt:i4>
      </vt:variant>
    </vt:vector>
  </HeadingPairs>
  <TitlesOfParts>
    <vt:vector size="44" baseType="lpstr">
      <vt:lpstr>Aptos</vt:lpstr>
      <vt:lpstr>Aptos Display</vt:lpstr>
      <vt:lpstr>Arial</vt:lpstr>
      <vt:lpstr>Calibri</vt:lpstr>
      <vt:lpstr>Calibri-Bold</vt:lpstr>
      <vt:lpstr>Calibri-Italic</vt:lpstr>
      <vt:lpstr>Symbol</vt:lpstr>
      <vt:lpstr>Office Teması</vt:lpstr>
      <vt:lpstr>Girişimcilik ders 4</vt:lpstr>
      <vt:lpstr>GİRİŞİMCİLİĞİ ŞEKİLLENDİREN ETMENLER</vt:lpstr>
      <vt:lpstr>GİRİŞİMCİLİĞİN ÖNEMİ VE TEMEL FONKSİYONLARI</vt:lpstr>
      <vt:lpstr>PowerPoint Sunusu</vt:lpstr>
      <vt:lpstr>PowerPoint Sunusu</vt:lpstr>
      <vt:lpstr>PowerPoint Sunusu</vt:lpstr>
      <vt:lpstr>PowerPoint Sunusu</vt:lpstr>
      <vt:lpstr>PowerPoint Sunusu</vt:lpstr>
      <vt:lpstr>Girişimcilik hakkında doğru bilinen yanlışlar</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Girişimcilik türleri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RW</dc:creator>
  <cp:lastModifiedBy>RW</cp:lastModifiedBy>
  <cp:revision>2</cp:revision>
  <dcterms:created xsi:type="dcterms:W3CDTF">2025-10-02T15:49:43Z</dcterms:created>
  <dcterms:modified xsi:type="dcterms:W3CDTF">2025-10-14T11:59:10Z</dcterms:modified>
</cp:coreProperties>
</file>