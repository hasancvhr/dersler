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D5C6528-73B5-9B73-662D-74238A3D8E67}"/>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E8733FAA-B672-1D5B-96FA-334E918D55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20D6D7A3-D2BB-EB77-758E-76C49F9434EE}"/>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5" name="Alt Bilgi Yer Tutucusu 4">
            <a:extLst>
              <a:ext uri="{FF2B5EF4-FFF2-40B4-BE49-F238E27FC236}">
                <a16:creationId xmlns:a16="http://schemas.microsoft.com/office/drawing/2014/main" id="{B24B9644-8A82-9D50-FC0E-D03FF101D86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9912AC0-72AF-9D41-E1FE-C760B60E3C60}"/>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365378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F38703B-A157-F4EE-32D1-D910200C068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BAD7C15B-07BE-7060-58FB-66B422AE46F3}"/>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6EDD9CA-7317-4CFA-A8DA-B5EE6817A6C9}"/>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5" name="Alt Bilgi Yer Tutucusu 4">
            <a:extLst>
              <a:ext uri="{FF2B5EF4-FFF2-40B4-BE49-F238E27FC236}">
                <a16:creationId xmlns:a16="http://schemas.microsoft.com/office/drawing/2014/main" id="{087CAA65-7A39-6C72-6C1A-E4FC52A0599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A38736E-12F6-0A55-21B5-97E1C851047B}"/>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3522834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BF0CD1B-0818-FC78-DADB-99C15F39F6E6}"/>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849B997F-93DF-AA6E-A4B0-F231D5AAEF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11BF6550-3BBB-1B09-0F0F-6E751D077544}"/>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5" name="Alt Bilgi Yer Tutucusu 4">
            <a:extLst>
              <a:ext uri="{FF2B5EF4-FFF2-40B4-BE49-F238E27FC236}">
                <a16:creationId xmlns:a16="http://schemas.microsoft.com/office/drawing/2014/main" id="{E7CE1F49-F81D-3F03-C8B9-89800A0DC0C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1BCF09E-4EB2-26DC-5062-84B55CA059A5}"/>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656762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E4D55B8-8118-0844-5EB5-E50A3DFCE5FB}"/>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9003EB2-818B-0057-10E9-D41637E62FD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85B7D7D7-26FA-2C8D-9F30-4FED482C7888}"/>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C7F4174B-7C0B-AEA7-FFE5-20D8DB84371C}"/>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6" name="Alt Bilgi Yer Tutucusu 5">
            <a:extLst>
              <a:ext uri="{FF2B5EF4-FFF2-40B4-BE49-F238E27FC236}">
                <a16:creationId xmlns:a16="http://schemas.microsoft.com/office/drawing/2014/main" id="{645B858A-1E02-B049-C36C-7DCF7D31BA6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E708DE83-2261-B61B-6AA4-8FCCBFD55E73}"/>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3371828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49EF74E-3E6C-DAE7-FEF0-11FBE781CD82}"/>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514E0D2-081B-CDBB-F22F-58719DD2FB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F578A789-0B62-A902-86AE-95E3F7277846}"/>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DC971B8A-7BBD-29A8-2A47-23D8D22C24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8B0F8D4C-6F13-3167-9679-A3D7E558095A}"/>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33004277-DEFB-5F28-D77F-95431A570F97}"/>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8" name="Alt Bilgi Yer Tutucusu 7">
            <a:extLst>
              <a:ext uri="{FF2B5EF4-FFF2-40B4-BE49-F238E27FC236}">
                <a16:creationId xmlns:a16="http://schemas.microsoft.com/office/drawing/2014/main" id="{57F9377C-F2E5-4BB0-F356-E87BEC9F7869}"/>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4936C111-DA85-46B6-68F8-27BBCF0B1029}"/>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2141722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CE99235-89E2-BC0F-D197-419DDED9A9E5}"/>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6D54410F-4F47-3DD5-7BF8-E65BAE3615D3}"/>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4" name="Alt Bilgi Yer Tutucusu 3">
            <a:extLst>
              <a:ext uri="{FF2B5EF4-FFF2-40B4-BE49-F238E27FC236}">
                <a16:creationId xmlns:a16="http://schemas.microsoft.com/office/drawing/2014/main" id="{47E6B3D8-E8B0-F504-DDC4-DB9381C36E0E}"/>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BEABAC75-0F31-BD6A-57CA-A0C9CEB18359}"/>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4180686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D265312F-8CE9-6907-6FDD-2C4A0A9CBA59}"/>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3" name="Alt Bilgi Yer Tutucusu 2">
            <a:extLst>
              <a:ext uri="{FF2B5EF4-FFF2-40B4-BE49-F238E27FC236}">
                <a16:creationId xmlns:a16="http://schemas.microsoft.com/office/drawing/2014/main" id="{198D2F7B-CF01-3DC0-0E0C-B6A05CCA6806}"/>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22A4FDEC-5968-8298-24DE-1E0F6AC04ECC}"/>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2845934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E255B32-37C7-E0EE-0702-AA8DF2EBB22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DE8BC83-B634-F4E5-EB97-BBAF322A8D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72E159C7-E760-D61B-C839-F7B7C3607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36EC5EC-BDEE-C43C-7158-27A73968CEAD}"/>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6" name="Alt Bilgi Yer Tutucusu 5">
            <a:extLst>
              <a:ext uri="{FF2B5EF4-FFF2-40B4-BE49-F238E27FC236}">
                <a16:creationId xmlns:a16="http://schemas.microsoft.com/office/drawing/2014/main" id="{A053A4AB-9090-F9DD-4721-65A6D4C4266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80DB421-7836-2305-D629-A758E207EAA9}"/>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2345698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06FD5D-383C-6C9A-7E28-A4B47C112EF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15CDD2F9-7FD7-0DE3-8A39-1D3A01B02E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E15DCD16-4564-4A9C-73BB-CAE73929A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C91C2C82-3DEC-9F5E-0BE7-5D0B7A90B16C}"/>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6" name="Alt Bilgi Yer Tutucusu 5">
            <a:extLst>
              <a:ext uri="{FF2B5EF4-FFF2-40B4-BE49-F238E27FC236}">
                <a16:creationId xmlns:a16="http://schemas.microsoft.com/office/drawing/2014/main" id="{05C400EB-2E98-4048-DA50-6CDDA897B3D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E36C742-7C1A-9DF8-79F8-17888EE7539A}"/>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2398341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388DFA-63D4-D95F-33F4-4474A7CF9C70}"/>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9586FD65-2E11-CC72-6B3C-F548A49E2C1A}"/>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07D90DC-18E6-30BE-A8E1-642F9BF4C3E6}"/>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5" name="Alt Bilgi Yer Tutucusu 4">
            <a:extLst>
              <a:ext uri="{FF2B5EF4-FFF2-40B4-BE49-F238E27FC236}">
                <a16:creationId xmlns:a16="http://schemas.microsoft.com/office/drawing/2014/main" id="{5D11B864-7613-F4B5-5F84-65D3DBD3590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F6DB0A6-6F17-7833-AD2C-18F57F549B0F}"/>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2079660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844E4C8-64CD-005D-8645-BA93898DB771}"/>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3A69B569-78B3-39CC-7297-2450789DE9C1}"/>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9AB3FB2-6F9D-08F4-B94D-0F45131DA36A}"/>
              </a:ext>
            </a:extLst>
          </p:cNvPr>
          <p:cNvSpPr>
            <a:spLocks noGrp="1"/>
          </p:cNvSpPr>
          <p:nvPr>
            <p:ph type="dt" sz="half" idx="10"/>
          </p:nvPr>
        </p:nvSpPr>
        <p:spPr/>
        <p:txBody>
          <a:bodyPr/>
          <a:lstStyle/>
          <a:p>
            <a:fld id="{4909AC0C-39C3-4485-A62E-7234749FC446}" type="datetimeFigureOut">
              <a:rPr lang="tr-TR" smtClean="0"/>
              <a:t>2.12.2025</a:t>
            </a:fld>
            <a:endParaRPr lang="tr-TR"/>
          </a:p>
        </p:txBody>
      </p:sp>
      <p:sp>
        <p:nvSpPr>
          <p:cNvPr id="5" name="Alt Bilgi Yer Tutucusu 4">
            <a:extLst>
              <a:ext uri="{FF2B5EF4-FFF2-40B4-BE49-F238E27FC236}">
                <a16:creationId xmlns:a16="http://schemas.microsoft.com/office/drawing/2014/main" id="{87DC20A8-4A2E-C8FA-DC85-9CD16E9E821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9B57C1B-B649-01DB-ACAC-72CAC1045861}"/>
              </a:ext>
            </a:extLst>
          </p:cNvPr>
          <p:cNvSpPr>
            <a:spLocks noGrp="1"/>
          </p:cNvSpPr>
          <p:nvPr>
            <p:ph type="sldNum" sz="quarter" idx="12"/>
          </p:nvPr>
        </p:nvSpPr>
        <p:spPr/>
        <p:txBody>
          <a:bodyPr/>
          <a:lstStyle/>
          <a:p>
            <a:fld id="{E92AFBD5-01B9-434F-9662-DD987F63B169}" type="slidenum">
              <a:rPr lang="tr-TR" smtClean="0"/>
              <a:t>‹#›</a:t>
            </a:fld>
            <a:endParaRPr lang="tr-TR"/>
          </a:p>
        </p:txBody>
      </p:sp>
    </p:spTree>
    <p:extLst>
      <p:ext uri="{BB962C8B-B14F-4D97-AF65-F5344CB8AC3E}">
        <p14:creationId xmlns:p14="http://schemas.microsoft.com/office/powerpoint/2010/main" val="1157588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A28FC560-ED81-B46B-780A-4BDF120A87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FDAFA5E-E1B8-B932-9E62-D3B538B1EF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C915FA9-64DB-EAC3-BB46-B9DCB8167E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09AC0C-39C3-4485-A62E-7234749FC446}" type="datetimeFigureOut">
              <a:rPr lang="tr-TR" smtClean="0"/>
              <a:t>2.12.2025</a:t>
            </a:fld>
            <a:endParaRPr lang="tr-TR"/>
          </a:p>
        </p:txBody>
      </p:sp>
      <p:sp>
        <p:nvSpPr>
          <p:cNvPr id="5" name="Alt Bilgi Yer Tutucusu 4">
            <a:extLst>
              <a:ext uri="{FF2B5EF4-FFF2-40B4-BE49-F238E27FC236}">
                <a16:creationId xmlns:a16="http://schemas.microsoft.com/office/drawing/2014/main" id="{8701BDBA-46D1-6A88-D690-2A25AB6842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F70381BB-CFD4-4115-BE1C-BC290764C1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2AFBD5-01B9-434F-9662-DD987F63B169}" type="slidenum">
              <a:rPr lang="tr-TR" smtClean="0"/>
              <a:t>‹#›</a:t>
            </a:fld>
            <a:endParaRPr lang="tr-TR"/>
          </a:p>
        </p:txBody>
      </p:sp>
    </p:spTree>
    <p:extLst>
      <p:ext uri="{BB962C8B-B14F-4D97-AF65-F5344CB8AC3E}">
        <p14:creationId xmlns:p14="http://schemas.microsoft.com/office/powerpoint/2010/main" val="1045849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BC6FDE-C5DC-B151-9E26-E1F0C4295C4A}"/>
              </a:ext>
            </a:extLst>
          </p:cNvPr>
          <p:cNvSpPr>
            <a:spLocks noGrp="1"/>
          </p:cNvSpPr>
          <p:nvPr>
            <p:ph type="ctrTitle"/>
          </p:nvPr>
        </p:nvSpPr>
        <p:spPr/>
        <p:txBody>
          <a:bodyPr/>
          <a:lstStyle/>
          <a:p>
            <a:r>
              <a:rPr lang="tr-TR" dirty="0"/>
              <a:t>Girişimcilik</a:t>
            </a:r>
          </a:p>
        </p:txBody>
      </p:sp>
      <p:sp>
        <p:nvSpPr>
          <p:cNvPr id="3" name="Alt Başlık 2">
            <a:extLst>
              <a:ext uri="{FF2B5EF4-FFF2-40B4-BE49-F238E27FC236}">
                <a16:creationId xmlns:a16="http://schemas.microsoft.com/office/drawing/2014/main" id="{459E93B3-ABE2-FD6D-676D-45F44B367C65}"/>
              </a:ext>
            </a:extLst>
          </p:cNvPr>
          <p:cNvSpPr>
            <a:spLocks noGrp="1"/>
          </p:cNvSpPr>
          <p:nvPr>
            <p:ph type="subTitle" idx="1"/>
          </p:nvPr>
        </p:nvSpPr>
        <p:spPr/>
        <p:txBody>
          <a:bodyPr/>
          <a:lstStyle/>
          <a:p>
            <a:r>
              <a:rPr lang="tr-TR" dirty="0"/>
              <a:t>Dr. Ahmet ÇETİN</a:t>
            </a:r>
          </a:p>
          <a:p>
            <a:r>
              <a:rPr lang="tr-TR" dirty="0"/>
              <a:t>Ders 8</a:t>
            </a:r>
          </a:p>
        </p:txBody>
      </p:sp>
    </p:spTree>
    <p:extLst>
      <p:ext uri="{BB962C8B-B14F-4D97-AF65-F5344CB8AC3E}">
        <p14:creationId xmlns:p14="http://schemas.microsoft.com/office/powerpoint/2010/main" val="407208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49F222-2F4F-9BB5-C8E2-8613F9A5FA9A}"/>
              </a:ext>
            </a:extLst>
          </p:cNvPr>
          <p:cNvSpPr>
            <a:spLocks noGrp="1"/>
          </p:cNvSpPr>
          <p:nvPr>
            <p:ph type="title"/>
          </p:nvPr>
        </p:nvSpPr>
        <p:spPr/>
        <p:txBody>
          <a:bodyPr/>
          <a:lstStyle/>
          <a:p>
            <a:r>
              <a:rPr lang="tr-TR" dirty="0"/>
              <a:t>İŞ KURMA SÜRECİNİN TEMEL ADIMLARI</a:t>
            </a:r>
          </a:p>
        </p:txBody>
      </p:sp>
      <p:sp>
        <p:nvSpPr>
          <p:cNvPr id="3" name="İçerik Yer Tutucusu 2">
            <a:extLst>
              <a:ext uri="{FF2B5EF4-FFF2-40B4-BE49-F238E27FC236}">
                <a16:creationId xmlns:a16="http://schemas.microsoft.com/office/drawing/2014/main" id="{34082EE8-2E75-EDEB-1B1E-F4B135133934}"/>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1. Motivasyona sahip olmak</a:t>
            </a:r>
            <a:r>
              <a:rPr lang="tr-TR" sz="2800" b="0" i="0" u="none" strike="noStrike" baseline="0" dirty="0">
                <a:solidFill>
                  <a:srgbClr val="000000"/>
                </a:solidFill>
                <a:latin typeface="Calibri" panose="020F0502020204030204" pitchFamily="34" charset="0"/>
              </a:rPr>
              <a:t>: Girişimcilik motivasyonu iş kurmak isteyenlerin sahip olması gereken en önemli güçtür.</a:t>
            </a:r>
          </a:p>
          <a:p>
            <a:pPr algn="l"/>
            <a:r>
              <a:rPr lang="tr-TR" sz="2800" b="0" i="1" u="none" strike="noStrike" baseline="0" dirty="0">
                <a:solidFill>
                  <a:srgbClr val="994806"/>
                </a:solidFill>
                <a:latin typeface="Calibri-Italic"/>
              </a:rPr>
              <a:t>2. Başarılı bir iş fikri belirlemek: </a:t>
            </a:r>
            <a:r>
              <a:rPr lang="tr-TR" sz="2800" b="0" i="0" u="none" strike="noStrike" baseline="0" dirty="0">
                <a:solidFill>
                  <a:srgbClr val="000000"/>
                </a:solidFill>
                <a:latin typeface="Calibri" panose="020F0502020204030204" pitchFamily="34" charset="0"/>
              </a:rPr>
              <a:t>Kendi işini kurma motivasyonuna sahip girişimci için başarının ilk koşulu başarı potansiyeli yüksek bir iş fikrine sahip olmaktır. İş fikri belirlenirken girişimci öncelikle “iş deneyimlerini, ustalıklarını, bilgi ve becerilerini” ele almalıdır.</a:t>
            </a:r>
          </a:p>
          <a:p>
            <a:pPr algn="l"/>
            <a:r>
              <a:rPr lang="tr-TR" sz="2800" b="0" i="1" u="none" strike="noStrike" baseline="0" dirty="0">
                <a:solidFill>
                  <a:srgbClr val="994806"/>
                </a:solidFill>
                <a:latin typeface="Calibri-Italic"/>
              </a:rPr>
              <a:t>3. Çalışma programı hazırlamak</a:t>
            </a:r>
            <a:r>
              <a:rPr lang="tr-TR" sz="2800" b="0" i="0" u="none" strike="noStrike" baseline="0" dirty="0">
                <a:solidFill>
                  <a:srgbClr val="994806"/>
                </a:solidFill>
                <a:latin typeface="Calibri" panose="020F0502020204030204" pitchFamily="34" charset="0"/>
              </a:rPr>
              <a:t>: </a:t>
            </a:r>
            <a:r>
              <a:rPr lang="tr-TR" sz="2800" b="0" i="0" u="none" strike="noStrike" baseline="0" dirty="0">
                <a:solidFill>
                  <a:srgbClr val="000000"/>
                </a:solidFill>
                <a:latin typeface="Calibri" panose="020F0502020204030204" pitchFamily="34" charset="0"/>
              </a:rPr>
              <a:t>İş fikrinin belirlenmesinden, işin kurulması, ürün ve hizmetlerin ilk müşterilere ulaştırılmasına kadar geçen tüm süreçte yer alan araştırmalar, planlamalar ve uygulamalar eksiksiz ve gerektiği kapsamda yapılmalıdır.</a:t>
            </a:r>
            <a:endParaRPr lang="tr-TR" dirty="0"/>
          </a:p>
        </p:txBody>
      </p:sp>
    </p:spTree>
    <p:extLst>
      <p:ext uri="{BB962C8B-B14F-4D97-AF65-F5344CB8AC3E}">
        <p14:creationId xmlns:p14="http://schemas.microsoft.com/office/powerpoint/2010/main" val="11660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7628B8B-3C4E-38FD-189E-A705211AD5F0}"/>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5D84ED1A-7533-39D6-FA65-29FF57A875BA}"/>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4. İş fikrinin ön değerlendirmesini yapmak: </a:t>
            </a:r>
            <a:r>
              <a:rPr lang="tr-TR" sz="2800" b="0" i="0" u="none" strike="noStrike" baseline="0" dirty="0">
                <a:solidFill>
                  <a:srgbClr val="000000"/>
                </a:solidFill>
                <a:latin typeface="Calibri" panose="020F0502020204030204" pitchFamily="34" charset="0"/>
              </a:rPr>
              <a:t>İş fikirlerinin yapılabilirliğini araştırmak uzun süreli ve yoğun kapsamlı bir çalışmadır. Girişimciler iş fikirlerini, yapılabilirlik araştırması detayında incelemeye almadan önce, genel özellikleri çerçevesinde kurulmalarına engel bir faktör olup olmadığını araştırmalıdırlar.</a:t>
            </a:r>
          </a:p>
          <a:p>
            <a:pPr algn="l"/>
            <a:r>
              <a:rPr lang="tr-TR" sz="2800" b="0" i="1" u="none" strike="noStrike" baseline="0" dirty="0">
                <a:solidFill>
                  <a:srgbClr val="994806"/>
                </a:solidFill>
                <a:latin typeface="Calibri-Italic"/>
              </a:rPr>
              <a:t>5. İş fikrinin yapılabilirlik araştırmasını yapmak: </a:t>
            </a:r>
            <a:r>
              <a:rPr lang="tr-TR" sz="2800" b="0" i="0" u="none" strike="noStrike" baseline="0" dirty="0">
                <a:solidFill>
                  <a:srgbClr val="000000"/>
                </a:solidFill>
                <a:latin typeface="Calibri" panose="020F0502020204030204" pitchFamily="34" charset="0"/>
              </a:rPr>
              <a:t>Girişimci iş kurma sürecinin başında, öncelikle kurmak istediği işin, faktörlere sahip olduğundan emin olmalıdır.</a:t>
            </a:r>
            <a:endParaRPr lang="tr-TR" dirty="0"/>
          </a:p>
        </p:txBody>
      </p:sp>
    </p:spTree>
    <p:extLst>
      <p:ext uri="{BB962C8B-B14F-4D97-AF65-F5344CB8AC3E}">
        <p14:creationId xmlns:p14="http://schemas.microsoft.com/office/powerpoint/2010/main" val="2917547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çerik Yer Tutucusu 6">
            <a:extLst>
              <a:ext uri="{FF2B5EF4-FFF2-40B4-BE49-F238E27FC236}">
                <a16:creationId xmlns:a16="http://schemas.microsoft.com/office/drawing/2014/main" id="{7D7179C7-D35D-435E-B8EB-BD36F78EEF89}"/>
              </a:ext>
            </a:extLst>
          </p:cNvPr>
          <p:cNvSpPr>
            <a:spLocks noGrp="1"/>
          </p:cNvSpPr>
          <p:nvPr>
            <p:ph idx="1"/>
          </p:nvPr>
        </p:nvSpPr>
        <p:spPr/>
        <p:txBody>
          <a:bodyPr/>
          <a:lstStyle/>
          <a:p>
            <a:endParaRPr lang="tr-TR" dirty="0"/>
          </a:p>
          <a:p>
            <a:endParaRPr lang="tr-TR" dirty="0"/>
          </a:p>
          <a:p>
            <a:r>
              <a:rPr lang="tr-TR" dirty="0"/>
              <a:t>DOĞRU                     </a:t>
            </a:r>
          </a:p>
        </p:txBody>
      </p:sp>
      <p:sp>
        <p:nvSpPr>
          <p:cNvPr id="8" name="Metin kutusu 7">
            <a:extLst>
              <a:ext uri="{FF2B5EF4-FFF2-40B4-BE49-F238E27FC236}">
                <a16:creationId xmlns:a16="http://schemas.microsoft.com/office/drawing/2014/main" id="{489F1526-F62F-88EA-DF32-A8CF5DD463A6}"/>
              </a:ext>
            </a:extLst>
          </p:cNvPr>
          <p:cNvSpPr txBox="1"/>
          <p:nvPr/>
        </p:nvSpPr>
        <p:spPr>
          <a:xfrm>
            <a:off x="2731008" y="1825625"/>
            <a:ext cx="2318004" cy="2554545"/>
          </a:xfrm>
          <a:prstGeom prst="rect">
            <a:avLst/>
          </a:prstGeom>
          <a:noFill/>
        </p:spPr>
        <p:txBody>
          <a:bodyPr wrap="square" rtlCol="0">
            <a:spAutoFit/>
          </a:bodyPr>
          <a:lstStyle/>
          <a:p>
            <a:pPr algn="l"/>
            <a:r>
              <a:rPr lang="tr-TR" sz="2000" b="0" i="0" u="none" strike="noStrike" baseline="0" dirty="0">
                <a:latin typeface="Calibri" panose="020F0502020204030204" pitchFamily="34" charset="0"/>
              </a:rPr>
              <a:t>Sektör</a:t>
            </a:r>
          </a:p>
          <a:p>
            <a:pPr algn="l"/>
            <a:r>
              <a:rPr lang="tr-TR" sz="2000" b="0" i="0" u="none" strike="noStrike" baseline="0" dirty="0">
                <a:latin typeface="Calibri" panose="020F0502020204030204" pitchFamily="34" charset="0"/>
              </a:rPr>
              <a:t>İş fikri</a:t>
            </a:r>
          </a:p>
          <a:p>
            <a:pPr algn="l"/>
            <a:r>
              <a:rPr lang="tr-TR" sz="2000" b="0" i="0" u="none" strike="noStrike" baseline="0" dirty="0">
                <a:latin typeface="Calibri" panose="020F0502020204030204" pitchFamily="34" charset="0"/>
              </a:rPr>
              <a:t>Ölçek</a:t>
            </a:r>
          </a:p>
          <a:p>
            <a:pPr algn="l"/>
            <a:r>
              <a:rPr lang="tr-TR" sz="2000" b="0" i="0" u="none" strike="noStrike" baseline="0" dirty="0">
                <a:latin typeface="Calibri" panose="020F0502020204030204" pitchFamily="34" charset="0"/>
              </a:rPr>
              <a:t>Zaman</a:t>
            </a:r>
          </a:p>
          <a:p>
            <a:pPr algn="l"/>
            <a:r>
              <a:rPr lang="tr-TR" sz="2000" b="0" i="0" u="none" strike="noStrike" baseline="0" dirty="0">
                <a:latin typeface="Calibri" panose="020F0502020204030204" pitchFamily="34" charset="0"/>
              </a:rPr>
              <a:t>Ortaklar</a:t>
            </a:r>
          </a:p>
          <a:p>
            <a:pPr algn="l"/>
            <a:r>
              <a:rPr lang="tr-TR" sz="2000" b="0" i="0" u="none" strike="noStrike" baseline="0" dirty="0">
                <a:latin typeface="Calibri" panose="020F0502020204030204" pitchFamily="34" charset="0"/>
              </a:rPr>
              <a:t>Yer</a:t>
            </a:r>
          </a:p>
          <a:p>
            <a:pPr algn="l"/>
            <a:r>
              <a:rPr lang="tr-TR" sz="2000" b="0" i="0" u="none" strike="noStrike" baseline="0" dirty="0">
                <a:latin typeface="Calibri" panose="020F0502020204030204" pitchFamily="34" charset="0"/>
              </a:rPr>
              <a:t>Müşteriler</a:t>
            </a:r>
          </a:p>
          <a:p>
            <a:pPr algn="l"/>
            <a:r>
              <a:rPr lang="tr-TR" sz="2000" b="0" i="0" u="none" strike="noStrike" baseline="0" dirty="0">
                <a:latin typeface="Calibri" panose="020F0502020204030204" pitchFamily="34" charset="0"/>
              </a:rPr>
              <a:t>Makineler </a:t>
            </a:r>
            <a:r>
              <a:rPr lang="tr-TR" sz="2000" b="0" i="0" u="none" strike="noStrike" baseline="0" dirty="0" err="1">
                <a:latin typeface="Calibri" panose="020F0502020204030204" pitchFamily="34" charset="0"/>
              </a:rPr>
              <a:t>v.b</a:t>
            </a:r>
            <a:r>
              <a:rPr lang="tr-TR" sz="2000" b="0" i="0" u="none" strike="noStrike" baseline="0" dirty="0">
                <a:latin typeface="Calibri" panose="020F0502020204030204" pitchFamily="34" charset="0"/>
              </a:rPr>
              <a:t>.</a:t>
            </a:r>
            <a:endParaRPr lang="tr-TR" sz="2000" dirty="0"/>
          </a:p>
        </p:txBody>
      </p:sp>
      <p:sp>
        <p:nvSpPr>
          <p:cNvPr id="9" name="Metin kutusu 8">
            <a:extLst>
              <a:ext uri="{FF2B5EF4-FFF2-40B4-BE49-F238E27FC236}">
                <a16:creationId xmlns:a16="http://schemas.microsoft.com/office/drawing/2014/main" id="{A1209B3A-BF35-D708-704E-F7B0B2D86F8A}"/>
              </a:ext>
            </a:extLst>
          </p:cNvPr>
          <p:cNvSpPr txBox="1"/>
          <p:nvPr/>
        </p:nvSpPr>
        <p:spPr>
          <a:xfrm>
            <a:off x="5782818" y="1825625"/>
            <a:ext cx="4837056" cy="2862322"/>
          </a:xfrm>
          <a:prstGeom prst="rect">
            <a:avLst/>
          </a:prstGeom>
          <a:noFill/>
        </p:spPr>
        <p:txBody>
          <a:bodyPr wrap="square" rtlCol="0">
            <a:spAutoFit/>
          </a:bodyPr>
          <a:lstStyle/>
          <a:p>
            <a:pPr algn="l"/>
            <a:r>
              <a:rPr lang="tr-TR" sz="2000" b="0" i="0" u="none" strike="noStrike" baseline="0" dirty="0">
                <a:latin typeface="Calibri" panose="020F0502020204030204" pitchFamily="34" charset="0"/>
              </a:rPr>
              <a:t>Girişimcinin iş fikrinin yapılabilirliğini ve başarı potansiyelini belirlemesinde,</a:t>
            </a:r>
          </a:p>
          <a:p>
            <a:pPr algn="l"/>
            <a:r>
              <a:rPr lang="tr-TR" sz="2000" b="0" i="0" u="none" strike="noStrike" baseline="0" dirty="0">
                <a:latin typeface="Calibri" panose="020F0502020204030204" pitchFamily="34" charset="0"/>
              </a:rPr>
              <a:t>çok çeşitli ve geniş kapsamlı sorular ile işin kuruluşunda ortaya çıkabilecek</a:t>
            </a:r>
          </a:p>
          <a:p>
            <a:pPr algn="l"/>
            <a:r>
              <a:rPr lang="tr-TR" sz="2000" b="0" i="0" u="none" strike="noStrike" baseline="0" dirty="0">
                <a:latin typeface="Calibri" panose="020F0502020204030204" pitchFamily="34" charset="0"/>
              </a:rPr>
              <a:t>seçeneklerden en doğrularını belirlemesi, bunun yanında girişimci olarak sahip</a:t>
            </a:r>
          </a:p>
          <a:p>
            <a:pPr algn="l"/>
            <a:r>
              <a:rPr lang="tr-TR" sz="2000" b="0" i="0" u="none" strike="noStrike" baseline="0" dirty="0">
                <a:latin typeface="Calibri" panose="020F0502020204030204" pitchFamily="34" charset="0"/>
              </a:rPr>
              <a:t>olduğu özellik ve kaynakları, işin gerekli kıldığı özelliklerle objektif olarak</a:t>
            </a:r>
          </a:p>
          <a:p>
            <a:pPr algn="l"/>
            <a:r>
              <a:rPr lang="tr-TR" sz="2000" b="0" i="0" u="none" strike="noStrike" baseline="0" dirty="0">
                <a:latin typeface="Calibri" panose="020F0502020204030204" pitchFamily="34" charset="0"/>
              </a:rPr>
              <a:t>karşılaştırması gereklidir..</a:t>
            </a:r>
            <a:endParaRPr lang="tr-TR" sz="2000" dirty="0"/>
          </a:p>
        </p:txBody>
      </p:sp>
    </p:spTree>
    <p:extLst>
      <p:ext uri="{BB962C8B-B14F-4D97-AF65-F5344CB8AC3E}">
        <p14:creationId xmlns:p14="http://schemas.microsoft.com/office/powerpoint/2010/main" val="2331037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DA3158D-AACE-81E0-C6E3-B6D6862961C5}"/>
              </a:ext>
            </a:extLst>
          </p:cNvPr>
          <p:cNvSpPr>
            <a:spLocks noGrp="1"/>
          </p:cNvSpPr>
          <p:nvPr>
            <p:ph idx="1"/>
          </p:nvPr>
        </p:nvSpPr>
        <p:spPr/>
        <p:txBody>
          <a:bodyPr>
            <a:normAutofit fontScale="92500"/>
          </a:bodyPr>
          <a:lstStyle/>
          <a:p>
            <a:pPr algn="l"/>
            <a:r>
              <a:rPr lang="tr-TR" sz="2800" b="0" i="1" u="none" strike="noStrike" baseline="0" dirty="0">
                <a:solidFill>
                  <a:srgbClr val="984705"/>
                </a:solidFill>
                <a:latin typeface="Calibri-Italic"/>
              </a:rPr>
              <a:t>6. </a:t>
            </a:r>
            <a:r>
              <a:rPr lang="tr-TR" sz="2800" b="0" i="1" u="none" strike="noStrike" baseline="0" dirty="0">
                <a:solidFill>
                  <a:srgbClr val="994806"/>
                </a:solidFill>
                <a:latin typeface="Calibri-Italic"/>
              </a:rPr>
              <a:t>İş kurma sürecinin "iş planı" </a:t>
            </a:r>
            <a:r>
              <a:rPr lang="tr-TR" sz="2800" b="0" i="1" u="none" strike="noStrike" baseline="0" dirty="0" err="1">
                <a:solidFill>
                  <a:srgbClr val="994806"/>
                </a:solidFill>
                <a:latin typeface="Calibri-Italic"/>
              </a:rPr>
              <a:t>nı</a:t>
            </a:r>
            <a:r>
              <a:rPr lang="tr-TR" sz="2800" b="0" i="1" u="none" strike="noStrike" baseline="0" dirty="0">
                <a:solidFill>
                  <a:srgbClr val="994806"/>
                </a:solidFill>
                <a:latin typeface="Calibri-Italic"/>
              </a:rPr>
              <a:t> hazırlamak: </a:t>
            </a:r>
            <a:r>
              <a:rPr lang="tr-TR" sz="2800" b="0" i="0" u="none" strike="noStrike" baseline="0" dirty="0">
                <a:solidFill>
                  <a:srgbClr val="000000"/>
                </a:solidFill>
                <a:latin typeface="Calibri" panose="020F0502020204030204" pitchFamily="34" charset="0"/>
              </a:rPr>
              <a:t>Bu planın temel amacı, iş kuran girişimcinin, iş kurma sürecinde hangi hedefler için neleri nasıl ve ne zaman yapacağını belirlemesidir.</a:t>
            </a:r>
          </a:p>
          <a:p>
            <a:pPr algn="l"/>
            <a:r>
              <a:rPr lang="tr-TR" sz="2800" b="0" i="1" u="none" strike="noStrike" baseline="0" dirty="0">
                <a:solidFill>
                  <a:srgbClr val="984705"/>
                </a:solidFill>
                <a:latin typeface="Calibri-Italic"/>
              </a:rPr>
              <a:t>7. </a:t>
            </a:r>
            <a:r>
              <a:rPr lang="tr-TR" sz="2800" b="0" i="1" u="none" strike="noStrike" baseline="0" dirty="0">
                <a:solidFill>
                  <a:srgbClr val="994806"/>
                </a:solidFill>
                <a:latin typeface="Calibri-Italic"/>
              </a:rPr>
              <a:t>İşi kurmak: </a:t>
            </a:r>
            <a:r>
              <a:rPr lang="tr-TR" sz="2800" b="0" i="0" u="none" strike="noStrike" baseline="0" dirty="0">
                <a:solidFill>
                  <a:srgbClr val="000000"/>
                </a:solidFill>
                <a:latin typeface="Calibri" panose="020F0502020204030204" pitchFamily="34" charset="0"/>
              </a:rPr>
              <a:t>Kuruluş aşaması, girişimcinin işini fiilen kurması aşamasıdır. Bu aşamada girişimci, iş yerini kiralar, işletmenin yasal kuruluş işlemlerini </a:t>
            </a:r>
            <a:r>
              <a:rPr lang="nn-NO" sz="2800" b="0" i="0" u="none" strike="noStrike" baseline="0" dirty="0">
                <a:solidFill>
                  <a:srgbClr val="000000"/>
                </a:solidFill>
                <a:latin typeface="Calibri" panose="020F0502020204030204" pitchFamily="34" charset="0"/>
              </a:rPr>
              <a:t>yapar, elemanları temin eder, makine ekipmanları ve malzemeleri satın</a:t>
            </a:r>
            <a:r>
              <a:rPr lang="tr-TR" sz="2800" b="0" i="0" u="none" strike="noStrike" baseline="0" dirty="0">
                <a:latin typeface="Calibri" panose="020F0502020204030204" pitchFamily="34" charset="0"/>
              </a:rPr>
              <a:t>alır, kredi alınacak ise gerekli teminatları sağlar, başvuruları yapar, iş yeri donanımını kurar ve işletmenin faaliyetini başlatır.</a:t>
            </a:r>
          </a:p>
          <a:p>
            <a:pPr algn="l"/>
            <a:r>
              <a:rPr lang="tr-TR" sz="2800" b="0" i="1" u="none" strike="noStrike" baseline="0" dirty="0">
                <a:solidFill>
                  <a:srgbClr val="984705"/>
                </a:solidFill>
                <a:latin typeface="Calibri-Italic"/>
              </a:rPr>
              <a:t>8. </a:t>
            </a:r>
            <a:r>
              <a:rPr lang="tr-TR" sz="2800" b="0" i="1" u="none" strike="noStrike" baseline="0" dirty="0">
                <a:solidFill>
                  <a:srgbClr val="994806"/>
                </a:solidFill>
                <a:latin typeface="Calibri-Italic"/>
              </a:rPr>
              <a:t>İşletmeyi geliştirmek: </a:t>
            </a:r>
            <a:r>
              <a:rPr lang="tr-TR" sz="2800" b="0" i="0" u="none" strike="noStrike" baseline="0" dirty="0">
                <a:solidFill>
                  <a:srgbClr val="000000"/>
                </a:solidFill>
                <a:latin typeface="Calibri" panose="020F0502020204030204" pitchFamily="34" charset="0"/>
              </a:rPr>
              <a:t>İş kurma sürecinin sonucunda kuruluş aşaması ile birlikte girişimci için farklı bir dönem başlar. Başarılı işletmeler kuruluş sonrasında işletme gelişme planı adımlarını izler.</a:t>
            </a:r>
            <a:endParaRPr lang="tr-TR" dirty="0"/>
          </a:p>
        </p:txBody>
      </p:sp>
    </p:spTree>
    <p:extLst>
      <p:ext uri="{BB962C8B-B14F-4D97-AF65-F5344CB8AC3E}">
        <p14:creationId xmlns:p14="http://schemas.microsoft.com/office/powerpoint/2010/main" val="2803502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7804A8-7025-B7C2-A88D-DC745A96E0D3}"/>
              </a:ext>
            </a:extLst>
          </p:cNvPr>
          <p:cNvSpPr>
            <a:spLocks noGrp="1"/>
          </p:cNvSpPr>
          <p:nvPr>
            <p:ph type="title"/>
          </p:nvPr>
        </p:nvSpPr>
        <p:spPr/>
        <p:txBody>
          <a:bodyPr/>
          <a:lstStyle/>
          <a:p>
            <a:r>
              <a:rPr lang="tr-TR" dirty="0"/>
              <a:t>GİRİŞİMCİ İÇİN İŞ PLANI</a:t>
            </a:r>
          </a:p>
        </p:txBody>
      </p:sp>
      <p:sp>
        <p:nvSpPr>
          <p:cNvPr id="3" name="İçerik Yer Tutucusu 2">
            <a:extLst>
              <a:ext uri="{FF2B5EF4-FFF2-40B4-BE49-F238E27FC236}">
                <a16:creationId xmlns:a16="http://schemas.microsoft.com/office/drawing/2014/main" id="{CCC7362E-E35E-D5A1-598E-B41E9F63E9AF}"/>
              </a:ext>
            </a:extLst>
          </p:cNvPr>
          <p:cNvSpPr>
            <a:spLocks noGrp="1"/>
          </p:cNvSpPr>
          <p:nvPr>
            <p:ph idx="1"/>
          </p:nvPr>
        </p:nvSpPr>
        <p:spPr/>
        <p:txBody>
          <a:bodyPr>
            <a:normAutofit lnSpcReduction="10000"/>
          </a:bodyPr>
          <a:lstStyle/>
          <a:p>
            <a:pPr algn="l"/>
            <a:r>
              <a:rPr lang="tr-TR" sz="2800" b="0" i="0" u="none" strike="noStrike" baseline="0" dirty="0">
                <a:latin typeface="Calibri" panose="020F0502020204030204" pitchFamily="34" charset="0"/>
              </a:rPr>
              <a:t>Varmak istediği noktayı bilmeyenler oraya nasıl varılacağını tarif edemezler. İş planı, girişimcinin işi ile ilgili düşüncelerinin, hedeflerinin, planlarının yer aldığı bir dosyadır ve bu dosya girişimcinin iş kurma ve işletme döneminde yol gösterici rehberidir.</a:t>
            </a:r>
          </a:p>
          <a:p>
            <a:pPr algn="l"/>
            <a:r>
              <a:rPr lang="tr-TR" sz="2800" b="0" i="0" u="none" strike="noStrike" baseline="0" dirty="0">
                <a:latin typeface="Calibri" panose="020F0502020204030204" pitchFamily="34" charset="0"/>
              </a:rPr>
              <a:t>Öncelikle iş kurma yolunda bir rehberdir. Girişimcinin hedeflediği noktaya ulaşmasına yardımcı olur. İş planı girişimcinin, iş kurma noktasına gelmeden önce gerekli araştırma ve planlama çalışmalarını yapmasını sağlayan bir araçtır. Çeşitli kurumlarla yapılacak görüşmelerde etkili bir tanıtım materyalidir. Kuruluş sonrasında, işletmelerde yönetim aktivitelerini yönlendiren ve gerçekleşmelerin hedeflere göre kontrol edilmesini sağlayan bir araçtır.</a:t>
            </a:r>
            <a:endParaRPr lang="tr-TR" dirty="0"/>
          </a:p>
        </p:txBody>
      </p:sp>
    </p:spTree>
    <p:extLst>
      <p:ext uri="{BB962C8B-B14F-4D97-AF65-F5344CB8AC3E}">
        <p14:creationId xmlns:p14="http://schemas.microsoft.com/office/powerpoint/2010/main" val="2792626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0A1A57C-1546-E3EF-50A4-5F7DD1B1B8C1}"/>
              </a:ext>
            </a:extLst>
          </p:cNvPr>
          <p:cNvSpPr>
            <a:spLocks noGrp="1"/>
          </p:cNvSpPr>
          <p:nvPr>
            <p:ph type="title"/>
          </p:nvPr>
        </p:nvSpPr>
        <p:spPr/>
        <p:txBody>
          <a:bodyPr/>
          <a:lstStyle/>
          <a:p>
            <a:r>
              <a:rPr lang="tr-TR" sz="4400" b="1" i="0" u="none" strike="noStrike" baseline="0" dirty="0">
                <a:latin typeface="Calibri-Bold"/>
              </a:rPr>
              <a:t>ÖRNEK İŞ PLANI</a:t>
            </a:r>
            <a:endParaRPr lang="tr-TR" dirty="0"/>
          </a:p>
        </p:txBody>
      </p:sp>
      <p:sp>
        <p:nvSpPr>
          <p:cNvPr id="3" name="İçerik Yer Tutucusu 2">
            <a:extLst>
              <a:ext uri="{FF2B5EF4-FFF2-40B4-BE49-F238E27FC236}">
                <a16:creationId xmlns:a16="http://schemas.microsoft.com/office/drawing/2014/main" id="{5598B361-9E62-B853-E1F9-C1D87BCF0F65}"/>
              </a:ext>
            </a:extLst>
          </p:cNvPr>
          <p:cNvSpPr>
            <a:spLocks noGrp="1"/>
          </p:cNvSpPr>
          <p:nvPr>
            <p:ph idx="1"/>
          </p:nvPr>
        </p:nvSpPr>
        <p:spPr/>
        <p:txBody>
          <a:bodyPr>
            <a:normAutofit/>
          </a:bodyPr>
          <a:lstStyle/>
          <a:p>
            <a:pPr algn="l"/>
            <a:r>
              <a:rPr lang="tr-TR" sz="2800" b="0" i="0" u="none" strike="noStrike" baseline="0" dirty="0">
                <a:solidFill>
                  <a:srgbClr val="000000"/>
                </a:solidFill>
                <a:latin typeface="Calibri" panose="020F0502020204030204" pitchFamily="34" charset="0"/>
              </a:rPr>
              <a:t>İş planının bölümleri başlıklar hâlinde aşağıda verilmiştir. İşe başlamadan önce bu planın gerçekçi bir biçimde hazırlanması gerekmektedir.</a:t>
            </a:r>
          </a:p>
          <a:p>
            <a:pPr algn="l"/>
            <a:r>
              <a:rPr lang="tr-TR" sz="2800" b="0" i="1" u="none" strike="noStrike" baseline="0" dirty="0">
                <a:solidFill>
                  <a:srgbClr val="994806"/>
                </a:solidFill>
                <a:latin typeface="Calibri-Italic"/>
              </a:rPr>
              <a:t>1. Bölüm: Genel Bilgiler</a:t>
            </a:r>
          </a:p>
          <a:p>
            <a:pPr algn="l"/>
            <a:r>
              <a:rPr lang="tr-TR" sz="2800" b="0" i="0" u="none" strike="noStrike" baseline="0" dirty="0">
                <a:solidFill>
                  <a:srgbClr val="000000"/>
                </a:solidFill>
                <a:latin typeface="Calibri" panose="020F0502020204030204" pitchFamily="34" charset="0"/>
              </a:rPr>
              <a:t>1.1.Girişimci (Bu kısımda kendinizi/ortaklarınızı kısaca tanıtınız)</a:t>
            </a:r>
          </a:p>
          <a:p>
            <a:pPr algn="l"/>
            <a:r>
              <a:rPr lang="tr-TR" sz="2800" b="0" i="0" u="none" strike="noStrike" baseline="0" dirty="0">
                <a:solidFill>
                  <a:srgbClr val="000000"/>
                </a:solidFill>
                <a:latin typeface="Calibri" panose="020F0502020204030204" pitchFamily="34" charset="0"/>
              </a:rPr>
              <a:t>1.2.İşletmenin Faaliyet Konusu (Bu kısımda kurduğunuz işi kısaca anlatınız)</a:t>
            </a:r>
          </a:p>
          <a:p>
            <a:pPr algn="l"/>
            <a:r>
              <a:rPr lang="tr-TR" sz="2800" b="0" i="0" u="none" strike="noStrike" baseline="0" dirty="0">
                <a:solidFill>
                  <a:srgbClr val="000000"/>
                </a:solidFill>
                <a:latin typeface="Calibri" panose="020F0502020204030204" pitchFamily="34" charset="0"/>
              </a:rPr>
              <a:t>1.3.İş Kurma Süreci (Bu kısımda işinizi kurarken attığınız adımları kısaca anlatınız)</a:t>
            </a:r>
            <a:endParaRPr lang="tr-TR" dirty="0"/>
          </a:p>
        </p:txBody>
      </p:sp>
    </p:spTree>
    <p:extLst>
      <p:ext uri="{BB962C8B-B14F-4D97-AF65-F5344CB8AC3E}">
        <p14:creationId xmlns:p14="http://schemas.microsoft.com/office/powerpoint/2010/main" val="3072436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F0FE89F-779F-F3B1-89B6-8AA71C5875CE}"/>
              </a:ext>
            </a:extLst>
          </p:cNvPr>
          <p:cNvSpPr>
            <a:spLocks noGrp="1"/>
          </p:cNvSpPr>
          <p:nvPr>
            <p:ph idx="1"/>
          </p:nvPr>
        </p:nvSpPr>
        <p:spPr/>
        <p:txBody>
          <a:bodyPr/>
          <a:lstStyle/>
          <a:p>
            <a:pPr algn="l"/>
            <a:r>
              <a:rPr lang="tr-TR" sz="2800" b="0" i="1" u="none" strike="noStrike" baseline="0" dirty="0">
                <a:solidFill>
                  <a:srgbClr val="994806"/>
                </a:solidFill>
                <a:latin typeface="Calibri-Italic"/>
              </a:rPr>
              <a:t>2. Bölüm: Girişimcinin / Ortakların ve İşletmenin Özellikleri</a:t>
            </a:r>
          </a:p>
          <a:p>
            <a:pPr algn="l"/>
            <a:r>
              <a:rPr lang="tr-TR" sz="2800" b="0" i="0" u="none" strike="noStrike" baseline="0" dirty="0">
                <a:solidFill>
                  <a:srgbClr val="000000"/>
                </a:solidFill>
                <a:latin typeface="Calibri" panose="020F0502020204030204" pitchFamily="34" charset="0"/>
              </a:rPr>
              <a:t>2.1 Girişimci ve İşletme Ortaklarının Kişisel Bilgileri</a:t>
            </a:r>
          </a:p>
          <a:p>
            <a:pPr algn="l"/>
            <a:r>
              <a:rPr lang="tr-TR" sz="2800" b="0" i="0" u="none" strike="noStrike" baseline="0" dirty="0">
                <a:solidFill>
                  <a:srgbClr val="000000"/>
                </a:solidFill>
                <a:latin typeface="Calibri" panose="020F0502020204030204" pitchFamily="34" charset="0"/>
              </a:rPr>
              <a:t>2.2 İş Fikri ve Seçme Nedeni</a:t>
            </a:r>
          </a:p>
          <a:p>
            <a:pPr algn="l"/>
            <a:r>
              <a:rPr lang="tr-TR" sz="2800" b="0" i="0" u="none" strike="noStrike" baseline="0" dirty="0">
                <a:solidFill>
                  <a:srgbClr val="000000"/>
                </a:solidFill>
                <a:latin typeface="Calibri" panose="020F0502020204030204" pitchFamily="34" charset="0"/>
              </a:rPr>
              <a:t>2.3 İşletmenin Hukuki Statüsü ve Seçim Nedeni</a:t>
            </a:r>
          </a:p>
          <a:p>
            <a:pPr algn="l"/>
            <a:r>
              <a:rPr lang="tr-TR" sz="2800" b="0" i="0" u="none" strike="noStrike" baseline="0" dirty="0">
                <a:solidFill>
                  <a:srgbClr val="000000"/>
                </a:solidFill>
                <a:latin typeface="Calibri" panose="020F0502020204030204" pitchFamily="34" charset="0"/>
              </a:rPr>
              <a:t>2.4 İşletmenin Misyonu</a:t>
            </a:r>
          </a:p>
          <a:p>
            <a:pPr algn="l"/>
            <a:r>
              <a:rPr lang="tr-TR" sz="2800" b="0" i="0" u="none" strike="noStrike" baseline="0" dirty="0">
                <a:solidFill>
                  <a:srgbClr val="000000"/>
                </a:solidFill>
                <a:latin typeface="Calibri" panose="020F0502020204030204" pitchFamily="34" charset="0"/>
              </a:rPr>
              <a:t>2.5 Kısa Vadeli Hedefleri</a:t>
            </a:r>
          </a:p>
          <a:p>
            <a:pPr algn="l"/>
            <a:r>
              <a:rPr lang="tr-TR" sz="2800" b="0" i="0" u="none" strike="noStrike" baseline="0" dirty="0">
                <a:solidFill>
                  <a:srgbClr val="000000"/>
                </a:solidFill>
                <a:latin typeface="Calibri" panose="020F0502020204030204" pitchFamily="34" charset="0"/>
              </a:rPr>
              <a:t>2.6 Orta ve Uzun Vadeli Hedefleri</a:t>
            </a:r>
            <a:endParaRPr lang="tr-TR" dirty="0"/>
          </a:p>
        </p:txBody>
      </p:sp>
    </p:spTree>
    <p:extLst>
      <p:ext uri="{BB962C8B-B14F-4D97-AF65-F5344CB8AC3E}">
        <p14:creationId xmlns:p14="http://schemas.microsoft.com/office/powerpoint/2010/main" val="524986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345451A-C459-9CF1-AEE2-75600E1E74B8}"/>
              </a:ext>
            </a:extLst>
          </p:cNvPr>
          <p:cNvSpPr>
            <a:spLocks noGrp="1"/>
          </p:cNvSpPr>
          <p:nvPr>
            <p:ph idx="1"/>
          </p:nvPr>
        </p:nvSpPr>
        <p:spPr>
          <a:xfrm>
            <a:off x="838200" y="641684"/>
            <a:ext cx="10515600" cy="5535279"/>
          </a:xfrm>
        </p:spPr>
        <p:txBody>
          <a:bodyPr>
            <a:normAutofit fontScale="92500" lnSpcReduction="10000"/>
          </a:bodyPr>
          <a:lstStyle/>
          <a:p>
            <a:pPr algn="l"/>
            <a:r>
              <a:rPr lang="es-ES" sz="2800" b="0" i="1" u="none" strike="noStrike" baseline="0" dirty="0">
                <a:solidFill>
                  <a:srgbClr val="994806"/>
                </a:solidFill>
                <a:latin typeface="Calibri-Italic"/>
              </a:rPr>
              <a:t>3. Bölüm: Pazar Bilgileri ve Pazarlama Planı</a:t>
            </a:r>
          </a:p>
          <a:p>
            <a:pPr algn="l"/>
            <a:r>
              <a:rPr lang="tr-TR" sz="2800" b="0" i="0" u="none" strike="noStrike" baseline="0" dirty="0">
                <a:solidFill>
                  <a:srgbClr val="000000"/>
                </a:solidFill>
                <a:latin typeface="Calibri" panose="020F0502020204030204" pitchFamily="34" charset="0"/>
              </a:rPr>
              <a:t>3.1 Pazarın Büyüklüğü, Hedeflenen Pazar Payı</a:t>
            </a:r>
          </a:p>
          <a:p>
            <a:pPr algn="l"/>
            <a:r>
              <a:rPr lang="tr-TR" sz="2800" b="0" i="0" u="none" strike="noStrike" baseline="0" dirty="0">
                <a:solidFill>
                  <a:srgbClr val="000000"/>
                </a:solidFill>
                <a:latin typeface="Calibri" panose="020F0502020204030204" pitchFamily="34" charset="0"/>
              </a:rPr>
              <a:t>3.2 Pazar Profili</a:t>
            </a:r>
          </a:p>
          <a:p>
            <a:pPr algn="l"/>
            <a:r>
              <a:rPr lang="tr-TR" sz="2800" b="0" i="0" u="none" strike="noStrike" baseline="0" dirty="0">
                <a:solidFill>
                  <a:srgbClr val="000000"/>
                </a:solidFill>
                <a:latin typeface="Calibri" panose="020F0502020204030204" pitchFamily="34" charset="0"/>
              </a:rPr>
              <a:t>3.3 Rakip Analizi</a:t>
            </a:r>
          </a:p>
          <a:p>
            <a:pPr algn="l"/>
            <a:r>
              <a:rPr lang="tr-TR" sz="2800" b="0" i="0" u="none" strike="noStrike" baseline="0" dirty="0">
                <a:solidFill>
                  <a:srgbClr val="000000"/>
                </a:solidFill>
                <a:latin typeface="Calibri" panose="020F0502020204030204" pitchFamily="34" charset="0"/>
              </a:rPr>
              <a:t>3.4 Pazarlama/Satış Hedefleri</a:t>
            </a:r>
          </a:p>
          <a:p>
            <a:pPr algn="l"/>
            <a:r>
              <a:rPr lang="tr-TR" sz="2800" b="0" i="0" u="none" strike="noStrike" baseline="0" dirty="0">
                <a:latin typeface="Calibri" panose="020F0502020204030204" pitchFamily="34" charset="0"/>
              </a:rPr>
              <a:t>3.5 Sektörel Gelişmeler, Fırsat ve Tehditlere İlişkin Değerlendirmeler</a:t>
            </a:r>
          </a:p>
          <a:p>
            <a:pPr algn="l"/>
            <a:r>
              <a:rPr lang="tr-TR" sz="2800" b="0" i="0" u="none" strike="noStrike" baseline="0" dirty="0">
                <a:latin typeface="Calibri" panose="020F0502020204030204" pitchFamily="34" charset="0"/>
              </a:rPr>
              <a:t>3.6 Beklenmedik Durumlara İlişkin Öngörüler</a:t>
            </a:r>
          </a:p>
          <a:p>
            <a:pPr algn="l"/>
            <a:r>
              <a:rPr lang="tr-TR" sz="2800" b="0" i="0" u="none" strike="noStrike" baseline="0" dirty="0">
                <a:latin typeface="Calibri" panose="020F0502020204030204" pitchFamily="34" charset="0"/>
              </a:rPr>
              <a:t>3.7 Ürün/Hizmet Tanımı</a:t>
            </a:r>
          </a:p>
          <a:p>
            <a:pPr algn="l"/>
            <a:r>
              <a:rPr lang="tr-TR" sz="2800" b="0" i="0" u="none" strike="noStrike" baseline="0" dirty="0">
                <a:latin typeface="Calibri" panose="020F0502020204030204" pitchFamily="34" charset="0"/>
              </a:rPr>
              <a:t>3.8 Ürün/Hizmet Fiyatının Nasıl Oluşturulduğu</a:t>
            </a:r>
          </a:p>
          <a:p>
            <a:pPr algn="l"/>
            <a:r>
              <a:rPr lang="tr-TR" sz="2800" b="0" i="0" u="none" strike="noStrike" baseline="0" dirty="0">
                <a:latin typeface="Calibri" panose="020F0502020204030204" pitchFamily="34" charset="0"/>
              </a:rPr>
              <a:t>3.9 Yer Seçimi</a:t>
            </a:r>
          </a:p>
          <a:p>
            <a:pPr algn="l"/>
            <a:r>
              <a:rPr lang="tr-TR" sz="2800" b="0" i="0" u="none" strike="noStrike" baseline="0" dirty="0">
                <a:latin typeface="Calibri" panose="020F0502020204030204" pitchFamily="34" charset="0"/>
              </a:rPr>
              <a:t>3.10 Müşteriye Ulaşım Kanalları</a:t>
            </a:r>
          </a:p>
          <a:p>
            <a:pPr algn="l"/>
            <a:r>
              <a:rPr lang="tr-TR" sz="2800" b="0" i="0" u="none" strike="noStrike" baseline="0" dirty="0">
                <a:latin typeface="Calibri" panose="020F0502020204030204" pitchFamily="34" charset="0"/>
              </a:rPr>
              <a:t>3.11 Ürün/Hizmet Tanıtım Planı</a:t>
            </a:r>
            <a:endParaRPr lang="tr-TR" dirty="0"/>
          </a:p>
        </p:txBody>
      </p:sp>
    </p:spTree>
    <p:extLst>
      <p:ext uri="{BB962C8B-B14F-4D97-AF65-F5344CB8AC3E}">
        <p14:creationId xmlns:p14="http://schemas.microsoft.com/office/powerpoint/2010/main" val="61942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A592F6C-2B17-F872-ADDD-C5FA8CD3D7D3}"/>
              </a:ext>
            </a:extLst>
          </p:cNvPr>
          <p:cNvSpPr>
            <a:spLocks noGrp="1"/>
          </p:cNvSpPr>
          <p:nvPr>
            <p:ph idx="1"/>
          </p:nvPr>
        </p:nvSpPr>
        <p:spPr/>
        <p:txBody>
          <a:bodyPr/>
          <a:lstStyle/>
          <a:p>
            <a:pPr algn="l"/>
            <a:r>
              <a:rPr lang="tr-TR" sz="2800" b="0" i="1" u="none" strike="noStrike" baseline="0" dirty="0">
                <a:solidFill>
                  <a:srgbClr val="994806"/>
                </a:solidFill>
                <a:latin typeface="Calibri-Italic"/>
              </a:rPr>
              <a:t>4. Bölüm: Üretim Planı</a:t>
            </a:r>
          </a:p>
          <a:p>
            <a:pPr algn="l"/>
            <a:r>
              <a:rPr lang="tr-TR" sz="2800" b="0" i="0" u="none" strike="noStrike" baseline="0" dirty="0">
                <a:solidFill>
                  <a:srgbClr val="000000"/>
                </a:solidFill>
                <a:latin typeface="Calibri" panose="020F0502020204030204" pitchFamily="34" charset="0"/>
              </a:rPr>
              <a:t>4.1 NACE Kodu (Endüstri sınıflandırması kodu)</a:t>
            </a:r>
          </a:p>
          <a:p>
            <a:pPr algn="l"/>
            <a:r>
              <a:rPr lang="tr-TR" sz="2800" b="0" i="0" u="none" strike="noStrike" baseline="0" dirty="0">
                <a:solidFill>
                  <a:srgbClr val="000000"/>
                </a:solidFill>
                <a:latin typeface="Calibri" panose="020F0502020204030204" pitchFamily="34" charset="0"/>
              </a:rPr>
              <a:t>4.2 Üretim/Hizmet Sunum Sürecinin Aşamaları</a:t>
            </a:r>
          </a:p>
          <a:p>
            <a:pPr algn="l"/>
            <a:r>
              <a:rPr lang="tr-TR" sz="2800" b="0" i="0" u="none" strike="noStrike" baseline="0" dirty="0">
                <a:solidFill>
                  <a:srgbClr val="000000"/>
                </a:solidFill>
                <a:latin typeface="Calibri" panose="020F0502020204030204" pitchFamily="34" charset="0"/>
              </a:rPr>
              <a:t>4.3 İş Akış Şeması</a:t>
            </a:r>
          </a:p>
          <a:p>
            <a:pPr algn="l"/>
            <a:r>
              <a:rPr lang="tr-TR" sz="2800" b="0" i="0" u="none" strike="noStrike" baseline="0" dirty="0">
                <a:solidFill>
                  <a:srgbClr val="000000"/>
                </a:solidFill>
                <a:latin typeface="Calibri" panose="020F0502020204030204" pitchFamily="34" charset="0"/>
              </a:rPr>
              <a:t>4.4 Üretim/Hizmet Sunum Teknikleri, Standartlar, Spesifikasyonlar</a:t>
            </a:r>
          </a:p>
          <a:p>
            <a:pPr algn="l"/>
            <a:r>
              <a:rPr lang="tr-TR" sz="2800" b="0" i="0" u="none" strike="noStrike" baseline="0" dirty="0">
                <a:solidFill>
                  <a:srgbClr val="000000"/>
                </a:solidFill>
                <a:latin typeface="Calibri" panose="020F0502020204030204" pitchFamily="34" charset="0"/>
              </a:rPr>
              <a:t>4.5 Hukuki Gereksinimler</a:t>
            </a:r>
            <a:endParaRPr lang="tr-TR" dirty="0"/>
          </a:p>
        </p:txBody>
      </p:sp>
    </p:spTree>
    <p:extLst>
      <p:ext uri="{BB962C8B-B14F-4D97-AF65-F5344CB8AC3E}">
        <p14:creationId xmlns:p14="http://schemas.microsoft.com/office/powerpoint/2010/main" val="2418328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CFA0295-58FD-56F1-3F81-FDF85B9E94DB}"/>
              </a:ext>
            </a:extLst>
          </p:cNvPr>
          <p:cNvSpPr>
            <a:spLocks noGrp="1"/>
          </p:cNvSpPr>
          <p:nvPr>
            <p:ph idx="1"/>
          </p:nvPr>
        </p:nvSpPr>
        <p:spPr/>
        <p:txBody>
          <a:bodyPr/>
          <a:lstStyle/>
          <a:p>
            <a:pPr algn="l"/>
            <a:r>
              <a:rPr lang="tr-TR" sz="2800" b="0" i="1" u="none" strike="noStrike" baseline="0" dirty="0">
                <a:solidFill>
                  <a:srgbClr val="994806"/>
                </a:solidFill>
                <a:latin typeface="Calibri-Italic"/>
              </a:rPr>
              <a:t>5. Bölüm: Yönetim Planı</a:t>
            </a:r>
          </a:p>
          <a:p>
            <a:pPr algn="l"/>
            <a:r>
              <a:rPr lang="tr-TR" sz="2800" b="0" i="0" u="none" strike="noStrike" baseline="0" dirty="0">
                <a:solidFill>
                  <a:srgbClr val="000000"/>
                </a:solidFill>
                <a:latin typeface="Calibri" panose="020F0502020204030204" pitchFamily="34" charset="0"/>
              </a:rPr>
              <a:t>5.1 Organizasyon Şeması</a:t>
            </a:r>
          </a:p>
          <a:p>
            <a:pPr algn="l"/>
            <a:r>
              <a:rPr lang="tr-TR" sz="2800" b="0" i="0" u="none" strike="noStrike" baseline="0" dirty="0">
                <a:solidFill>
                  <a:srgbClr val="000000"/>
                </a:solidFill>
                <a:latin typeface="Calibri" panose="020F0502020204030204" pitchFamily="34" charset="0"/>
              </a:rPr>
              <a:t>5.2 Görev ve Sorumluluklar</a:t>
            </a:r>
          </a:p>
          <a:p>
            <a:pPr algn="l"/>
            <a:r>
              <a:rPr lang="tr-TR" sz="2800" b="0" i="0" u="none" strike="noStrike" baseline="0" dirty="0">
                <a:solidFill>
                  <a:srgbClr val="000000"/>
                </a:solidFill>
                <a:latin typeface="Calibri" panose="020F0502020204030204" pitchFamily="34" charset="0"/>
              </a:rPr>
              <a:t>5.3 Görev Tanımlarına Göre Alınacak Personel Nitelikleri</a:t>
            </a:r>
          </a:p>
          <a:p>
            <a:pPr algn="l"/>
            <a:r>
              <a:rPr lang="tr-TR" sz="3200" b="0" i="1" u="none" strike="noStrike" baseline="0" dirty="0">
                <a:solidFill>
                  <a:srgbClr val="000000"/>
                </a:solidFill>
                <a:latin typeface="Calibri-Italic"/>
              </a:rPr>
              <a:t>(Mesleki yeterlilik belgesi sahipleri varsa belirtilecektir.)</a:t>
            </a:r>
            <a:endParaRPr lang="tr-TR" dirty="0"/>
          </a:p>
        </p:txBody>
      </p:sp>
    </p:spTree>
    <p:extLst>
      <p:ext uri="{BB962C8B-B14F-4D97-AF65-F5344CB8AC3E}">
        <p14:creationId xmlns:p14="http://schemas.microsoft.com/office/powerpoint/2010/main" val="1922595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9D55632-3A39-C29C-016C-52C840EC5531}"/>
              </a:ext>
            </a:extLst>
          </p:cNvPr>
          <p:cNvSpPr>
            <a:spLocks noGrp="1"/>
          </p:cNvSpPr>
          <p:nvPr>
            <p:ph idx="1"/>
          </p:nvPr>
        </p:nvSpPr>
        <p:spPr/>
        <p:txBody>
          <a:bodyPr/>
          <a:lstStyle/>
          <a:p>
            <a:pPr algn="l"/>
            <a:r>
              <a:rPr lang="tr-TR" sz="2800" b="0" i="1" u="none" strike="noStrike" baseline="0" dirty="0">
                <a:solidFill>
                  <a:srgbClr val="994806"/>
                </a:solidFill>
                <a:latin typeface="Calibri-Italic"/>
              </a:rPr>
              <a:t>6. Bölüm: Finansal Plan</a:t>
            </a:r>
          </a:p>
          <a:p>
            <a:pPr algn="l"/>
            <a:r>
              <a:rPr lang="tr-TR" sz="2800" b="0" i="0" u="none" strike="noStrike" baseline="0" dirty="0">
                <a:solidFill>
                  <a:srgbClr val="000000"/>
                </a:solidFill>
                <a:latin typeface="Calibri" panose="020F0502020204030204" pitchFamily="34" charset="0"/>
              </a:rPr>
              <a:t>6.1 Başlangıç Maliyetleri ve Diğer Başlangıç Giderleri</a:t>
            </a:r>
          </a:p>
          <a:p>
            <a:pPr algn="l"/>
            <a:r>
              <a:rPr lang="tr-TR" sz="2800" b="0" i="0" u="none" strike="noStrike" baseline="0" dirty="0">
                <a:solidFill>
                  <a:srgbClr val="000000"/>
                </a:solidFill>
                <a:latin typeface="Calibri" panose="020F0502020204030204" pitchFamily="34" charset="0"/>
              </a:rPr>
              <a:t>6.2 İşletme Giderleri</a:t>
            </a:r>
          </a:p>
          <a:p>
            <a:pPr algn="l"/>
            <a:r>
              <a:rPr lang="tr-TR" sz="2800" b="0" i="0" u="none" strike="noStrike" baseline="0" dirty="0">
                <a:solidFill>
                  <a:srgbClr val="000000"/>
                </a:solidFill>
                <a:latin typeface="Calibri" panose="020F0502020204030204" pitchFamily="34" charset="0"/>
              </a:rPr>
              <a:t>6.3 Nakit Projeksiyonları</a:t>
            </a:r>
          </a:p>
          <a:p>
            <a:pPr algn="l"/>
            <a:r>
              <a:rPr lang="tr-TR" sz="2800" b="0" i="0" u="none" strike="noStrike" baseline="0" dirty="0">
                <a:solidFill>
                  <a:srgbClr val="000000"/>
                </a:solidFill>
                <a:latin typeface="Calibri" panose="020F0502020204030204" pitchFamily="34" charset="0"/>
              </a:rPr>
              <a:t>6.4 Üretim/Satış Hedefleri</a:t>
            </a:r>
          </a:p>
          <a:p>
            <a:pPr algn="l"/>
            <a:r>
              <a:rPr lang="tr-TR" sz="2800" b="0" i="0" u="none" strike="noStrike" baseline="0" dirty="0">
                <a:solidFill>
                  <a:srgbClr val="000000"/>
                </a:solidFill>
                <a:latin typeface="Calibri" panose="020F0502020204030204" pitchFamily="34" charset="0"/>
              </a:rPr>
              <a:t>6.5 Kâra Geçiş Noktası</a:t>
            </a:r>
          </a:p>
          <a:p>
            <a:pPr algn="l"/>
            <a:r>
              <a:rPr lang="tr-TR" sz="2800" b="0" i="0" u="none" strike="noStrike" baseline="0" dirty="0">
                <a:solidFill>
                  <a:srgbClr val="000000"/>
                </a:solidFill>
                <a:latin typeface="Calibri" panose="020F0502020204030204" pitchFamily="34" charset="0"/>
              </a:rPr>
              <a:t>6.6 Finansal Kaynaklar (Öz Kaynak ve Diğerleri)</a:t>
            </a:r>
          </a:p>
          <a:p>
            <a:pPr algn="l"/>
            <a:r>
              <a:rPr lang="tr-TR" sz="2800" b="0" i="0" u="none" strike="noStrike" baseline="0" dirty="0">
                <a:solidFill>
                  <a:srgbClr val="000000"/>
                </a:solidFill>
                <a:latin typeface="Calibri" panose="020F0502020204030204" pitchFamily="34" charset="0"/>
              </a:rPr>
              <a:t>6.7 Öz Kaynak ve/veya Diğer Kaynaklardan Sağlanacak Finansman</a:t>
            </a:r>
            <a:endParaRPr lang="tr-TR" dirty="0"/>
          </a:p>
        </p:txBody>
      </p:sp>
    </p:spTree>
    <p:extLst>
      <p:ext uri="{BB962C8B-B14F-4D97-AF65-F5344CB8AC3E}">
        <p14:creationId xmlns:p14="http://schemas.microsoft.com/office/powerpoint/2010/main" val="734965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BEFB213-DAEE-7004-57E2-BE4410125CF5}"/>
              </a:ext>
            </a:extLst>
          </p:cNvPr>
          <p:cNvSpPr>
            <a:spLocks noGrp="1"/>
          </p:cNvSpPr>
          <p:nvPr>
            <p:ph type="title"/>
          </p:nvPr>
        </p:nvSpPr>
        <p:spPr/>
        <p:txBody>
          <a:bodyPr/>
          <a:lstStyle/>
          <a:p>
            <a:r>
              <a:rPr lang="tr-TR" sz="4400" b="1" i="0" u="none" strike="noStrike" baseline="0" dirty="0">
                <a:latin typeface="Calibri-Bold"/>
              </a:rPr>
              <a:t>Pazar Planı</a:t>
            </a:r>
            <a:endParaRPr lang="tr-TR" dirty="0"/>
          </a:p>
        </p:txBody>
      </p:sp>
      <p:sp>
        <p:nvSpPr>
          <p:cNvPr id="3" name="İçerik Yer Tutucusu 2">
            <a:extLst>
              <a:ext uri="{FF2B5EF4-FFF2-40B4-BE49-F238E27FC236}">
                <a16:creationId xmlns:a16="http://schemas.microsoft.com/office/drawing/2014/main" id="{518E66CE-ADE1-E0FA-CED2-D9F33ACCB2A8}"/>
              </a:ext>
            </a:extLst>
          </p:cNvPr>
          <p:cNvSpPr>
            <a:spLocks noGrp="1"/>
          </p:cNvSpPr>
          <p:nvPr>
            <p:ph idx="1"/>
          </p:nvPr>
        </p:nvSpPr>
        <p:spPr/>
        <p:txBody>
          <a:bodyPr>
            <a:normAutofit fontScale="92500" lnSpcReduction="20000"/>
          </a:bodyPr>
          <a:lstStyle/>
          <a:p>
            <a:pPr algn="l"/>
            <a:r>
              <a:rPr lang="tr-TR" sz="2800" b="0" i="1" u="none" strike="noStrike" baseline="0" dirty="0">
                <a:solidFill>
                  <a:srgbClr val="994806"/>
                </a:solidFill>
                <a:latin typeface="Calibri-Italic"/>
              </a:rPr>
              <a:t>Pazarlama planı mal ve hizmetlerin üreticiden tüketiciye etkin bir şekilde ulaştırılması için yapılan ifadelerden oluşur. Bu plan başarınızın resmi veya modelidir</a:t>
            </a:r>
            <a:r>
              <a:rPr lang="tr-TR" sz="2800" b="0" i="0" u="none" strike="noStrike" baseline="0" dirty="0">
                <a:solidFill>
                  <a:srgbClr val="000000"/>
                </a:solidFill>
                <a:latin typeface="Calibri" panose="020F0502020204030204" pitchFamily="34" charset="0"/>
              </a:rPr>
              <a:t>.</a:t>
            </a:r>
          </a:p>
          <a:p>
            <a:pPr algn="l"/>
            <a:r>
              <a:rPr lang="tr-TR" sz="2800" b="0" i="0" u="none" strike="noStrike" baseline="0" dirty="0">
                <a:latin typeface="Calibri" panose="020F0502020204030204" pitchFamily="34" charset="0"/>
              </a:rPr>
              <a:t>iyi bir pazarlama planı, firma içi ve dış çevrenizdeki durumu incelemekle başlar. </a:t>
            </a:r>
          </a:p>
          <a:p>
            <a:pPr algn="l"/>
            <a:r>
              <a:rPr lang="tr-TR" sz="2800" b="0" i="0" u="none" strike="noStrike" baseline="0" dirty="0">
                <a:latin typeface="Calibri" panose="020F0502020204030204" pitchFamily="34" charset="0"/>
              </a:rPr>
              <a:t>Daha sonra zaman, para, personel, yetenek, bağlantılar, müşteriler, imaj, ekipman, tedarikçiler, ürün veya hizmetler gibi sahip olduğunuz kaynakları yani silahlarınızı kontrol edersiniz. </a:t>
            </a:r>
          </a:p>
          <a:p>
            <a:pPr algn="l"/>
            <a:r>
              <a:rPr lang="tr-TR" sz="2800" b="0" i="0" u="none" strike="noStrike" baseline="0" dirty="0">
                <a:latin typeface="Calibri" panose="020F0502020204030204" pitchFamily="34" charset="0"/>
              </a:rPr>
              <a:t>Sonra, ürün veya hizmet, paketleme, prim, promosyon, kişisel satış, fiziksel dağıtım, ve halkla ilişkiler/ reklam gibi konularla ilgili hedeflerinizi ve taktik faaliyetlerinizi tespit edersiniz. </a:t>
            </a:r>
          </a:p>
          <a:p>
            <a:pPr algn="l"/>
            <a:r>
              <a:rPr lang="tr-TR" sz="2800" b="0" i="0" u="none" strike="noStrike" baseline="0" dirty="0">
                <a:latin typeface="Calibri" panose="020F0502020204030204" pitchFamily="34" charset="0"/>
              </a:rPr>
              <a:t>Son olarak bütçenizi ve zaman planınızı hazırlarsınız</a:t>
            </a:r>
            <a:endParaRPr lang="tr-TR" dirty="0"/>
          </a:p>
        </p:txBody>
      </p:sp>
    </p:spTree>
    <p:extLst>
      <p:ext uri="{BB962C8B-B14F-4D97-AF65-F5344CB8AC3E}">
        <p14:creationId xmlns:p14="http://schemas.microsoft.com/office/powerpoint/2010/main" val="943879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519513D-1625-AE10-FE2F-B54795B8B40B}"/>
              </a:ext>
            </a:extLst>
          </p:cNvPr>
          <p:cNvSpPr>
            <a:spLocks noGrp="1"/>
          </p:cNvSpPr>
          <p:nvPr>
            <p:ph type="title"/>
          </p:nvPr>
        </p:nvSpPr>
        <p:spPr/>
        <p:txBody>
          <a:bodyPr/>
          <a:lstStyle/>
          <a:p>
            <a:r>
              <a:rPr lang="tr-TR" sz="4400" b="1" i="0" u="none" strike="noStrike" baseline="0" dirty="0">
                <a:latin typeface="Calibri-Bold"/>
              </a:rPr>
              <a:t>Üretim Planı</a:t>
            </a:r>
            <a:endParaRPr lang="tr-TR" dirty="0"/>
          </a:p>
        </p:txBody>
      </p:sp>
      <p:sp>
        <p:nvSpPr>
          <p:cNvPr id="3" name="İçerik Yer Tutucusu 2">
            <a:extLst>
              <a:ext uri="{FF2B5EF4-FFF2-40B4-BE49-F238E27FC236}">
                <a16:creationId xmlns:a16="http://schemas.microsoft.com/office/drawing/2014/main" id="{74F9DBEA-DD45-F30D-49E8-0EAEC916EAC0}"/>
              </a:ext>
            </a:extLst>
          </p:cNvPr>
          <p:cNvSpPr>
            <a:spLocks noGrp="1"/>
          </p:cNvSpPr>
          <p:nvPr>
            <p:ph idx="1"/>
          </p:nvPr>
        </p:nvSpPr>
        <p:spPr/>
        <p:txBody>
          <a:bodyPr/>
          <a:lstStyle/>
          <a:p>
            <a:pPr algn="l"/>
            <a:r>
              <a:rPr lang="tr-TR" sz="2800" b="0" i="1" u="none" strike="noStrike" baseline="0" dirty="0">
                <a:solidFill>
                  <a:srgbClr val="994806"/>
                </a:solidFill>
                <a:latin typeface="Calibri-Italic"/>
              </a:rPr>
              <a:t>Mal ve hizmetlerinizin tasarımı ve sizin yetenek ve etkinlik seviyeniz genellikle sizin hayatta kalıp kalamayacağınızı belirler</a:t>
            </a:r>
            <a:r>
              <a:rPr lang="tr-TR" sz="2800" b="0" i="0" u="none" strike="noStrike" baseline="0" dirty="0">
                <a:solidFill>
                  <a:srgbClr val="000000"/>
                </a:solidFill>
                <a:latin typeface="Calibri" panose="020F0502020204030204" pitchFamily="34" charset="0"/>
              </a:rPr>
              <a:t>. </a:t>
            </a:r>
          </a:p>
          <a:p>
            <a:pPr algn="l"/>
            <a:r>
              <a:rPr lang="tr-TR" sz="2800" b="0" i="0" u="none" strike="noStrike" baseline="0" dirty="0">
                <a:solidFill>
                  <a:srgbClr val="000000"/>
                </a:solidFill>
                <a:latin typeface="Calibri" panose="020F0502020204030204" pitchFamily="34" charset="0"/>
              </a:rPr>
              <a:t>Planın denetlediği ve kontrol ettiği şey sizin tasarımınız ve etkinliğinizdir (</a:t>
            </a:r>
            <a:r>
              <a:rPr lang="tr-TR" sz="2800" b="0" i="0" u="none" strike="noStrike" baseline="0" dirty="0" err="1">
                <a:solidFill>
                  <a:srgbClr val="000000"/>
                </a:solidFill>
                <a:latin typeface="Calibri" panose="020F0502020204030204" pitchFamily="34" charset="0"/>
              </a:rPr>
              <a:t>Hisrich</a:t>
            </a:r>
            <a:r>
              <a:rPr lang="tr-TR" sz="2800" b="0" i="0" u="none" strike="noStrike" baseline="0" dirty="0">
                <a:solidFill>
                  <a:srgbClr val="000000"/>
                </a:solidFill>
                <a:latin typeface="Calibri" panose="020F0502020204030204" pitchFamily="34" charset="0"/>
              </a:rPr>
              <a:t>. R.D, 2002, 236). Dikkatli bir planlama olmaksızın bugünün hızlı makineleri bir anda kötü ürün üreten birer canavara dönerler.</a:t>
            </a:r>
            <a:endParaRPr lang="tr-TR" dirty="0"/>
          </a:p>
        </p:txBody>
      </p:sp>
    </p:spTree>
    <p:extLst>
      <p:ext uri="{BB962C8B-B14F-4D97-AF65-F5344CB8AC3E}">
        <p14:creationId xmlns:p14="http://schemas.microsoft.com/office/powerpoint/2010/main" val="1545471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EF29EA-20C3-BAEB-5E6F-D0ED2CB6B7BB}"/>
              </a:ext>
            </a:extLst>
          </p:cNvPr>
          <p:cNvSpPr>
            <a:spLocks noGrp="1"/>
          </p:cNvSpPr>
          <p:nvPr>
            <p:ph type="title"/>
          </p:nvPr>
        </p:nvSpPr>
        <p:spPr/>
        <p:txBody>
          <a:bodyPr/>
          <a:lstStyle/>
          <a:p>
            <a:r>
              <a:rPr lang="tr-TR" sz="4400" b="1" i="0" u="none" strike="noStrike" baseline="0" dirty="0">
                <a:latin typeface="Calibri-Bold"/>
              </a:rPr>
              <a:t>Finans Planı (Para Bulma)</a:t>
            </a:r>
            <a:endParaRPr lang="tr-TR" dirty="0"/>
          </a:p>
        </p:txBody>
      </p:sp>
      <p:sp>
        <p:nvSpPr>
          <p:cNvPr id="3" name="İçerik Yer Tutucusu 2">
            <a:extLst>
              <a:ext uri="{FF2B5EF4-FFF2-40B4-BE49-F238E27FC236}">
                <a16:creationId xmlns:a16="http://schemas.microsoft.com/office/drawing/2014/main" id="{C5C8A5C1-BE18-7CE3-CDA6-28547A5906E2}"/>
              </a:ext>
            </a:extLst>
          </p:cNvPr>
          <p:cNvSpPr>
            <a:spLocks noGrp="1"/>
          </p:cNvSpPr>
          <p:nvPr>
            <p:ph idx="1"/>
          </p:nvPr>
        </p:nvSpPr>
        <p:spPr/>
        <p:txBody>
          <a:bodyPr>
            <a:normAutofit/>
          </a:bodyPr>
          <a:lstStyle/>
          <a:p>
            <a:pPr algn="l"/>
            <a:r>
              <a:rPr lang="tr-TR" sz="2800" b="0" i="0" u="none" strike="noStrike" baseline="0" dirty="0">
                <a:latin typeface="Calibri" panose="020F0502020204030204" pitchFamily="34" charset="0"/>
              </a:rPr>
              <a:t>Analiz, planlama ve kontrol işlerinde kullanılan üç temel finansal doküman vardır. Birincisi, bilançodur. Bilanço, firmanın hangi aktiflere ve hangi borçlara sahip olduğunu gösterir. Borçlar, firmanın bankalara ve diğer kişilere olan borçlarını kapsar. İkinci doküman kâr/zarar cetvelidir. Bu tablo firmanın satışlarından maliyetleri düştükten sonra ne kadar kâr veya zarar kaldığını gösterir. Üçüncü doküman nakit akım tablolarıdır. Bu tablolar firmanın ne zaman borçlanacağını veya hisse ihraç edeceğini gösterir.</a:t>
            </a:r>
            <a:endParaRPr lang="tr-TR" dirty="0"/>
          </a:p>
        </p:txBody>
      </p:sp>
    </p:spTree>
    <p:extLst>
      <p:ext uri="{BB962C8B-B14F-4D97-AF65-F5344CB8AC3E}">
        <p14:creationId xmlns:p14="http://schemas.microsoft.com/office/powerpoint/2010/main" val="1579369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6AA1FBB-DCD8-3BE4-3FC0-98E425164AAF}"/>
              </a:ext>
            </a:extLst>
          </p:cNvPr>
          <p:cNvSpPr>
            <a:spLocks noGrp="1"/>
          </p:cNvSpPr>
          <p:nvPr>
            <p:ph type="title"/>
          </p:nvPr>
        </p:nvSpPr>
        <p:spPr/>
        <p:txBody>
          <a:bodyPr/>
          <a:lstStyle/>
          <a:p>
            <a:r>
              <a:rPr lang="tr-TR" sz="4400" b="1" i="0" u="none" strike="noStrike" baseline="0" dirty="0">
                <a:latin typeface="Calibri-Bold"/>
              </a:rPr>
              <a:t>Organizasyon</a:t>
            </a:r>
            <a:endParaRPr lang="tr-TR" dirty="0"/>
          </a:p>
        </p:txBody>
      </p:sp>
      <p:sp>
        <p:nvSpPr>
          <p:cNvPr id="3" name="İçerik Yer Tutucusu 2">
            <a:extLst>
              <a:ext uri="{FF2B5EF4-FFF2-40B4-BE49-F238E27FC236}">
                <a16:creationId xmlns:a16="http://schemas.microsoft.com/office/drawing/2014/main" id="{288A7890-1B23-8FC2-1190-78E7A31FBFB2}"/>
              </a:ext>
            </a:extLst>
          </p:cNvPr>
          <p:cNvSpPr>
            <a:spLocks noGrp="1"/>
          </p:cNvSpPr>
          <p:nvPr>
            <p:ph idx="1"/>
          </p:nvPr>
        </p:nvSpPr>
        <p:spPr/>
        <p:txBody>
          <a:bodyPr>
            <a:normAutofit/>
          </a:bodyPr>
          <a:lstStyle/>
          <a:p>
            <a:pPr algn="l"/>
            <a:r>
              <a:rPr lang="tr-TR" sz="2800" b="0" i="0" u="none" strike="noStrike" baseline="0" dirty="0">
                <a:latin typeface="Calibri" panose="020F0502020204030204" pitchFamily="34" charset="0"/>
              </a:rPr>
              <a:t>İşletmenin etkin ve verimli bir şekilde çalışabilmesi için uygun bir organizasyon yapısının oluşturulması gerekir. Yetki ve sorumlulukların belirlendiği bir organizasyon şeması oluşturulmalıdır. İş tanımları detaylı bir şekilde hazırlanmalıdır.</a:t>
            </a:r>
          </a:p>
          <a:p>
            <a:pPr algn="l"/>
            <a:r>
              <a:rPr lang="tr-TR" sz="2800" b="0" i="0" u="none" strike="noStrike" baseline="0" dirty="0">
                <a:latin typeface="Calibri" panose="020F0502020204030204" pitchFamily="34" charset="0"/>
              </a:rPr>
              <a:t>Yukarıda belirtilen konular aynı zamanda iş planının bölümlerini oluşturur. Bu bilgiler ekte verilen iş planına yerleştirildiğinde iş planınız hazır hâle gelecektir.</a:t>
            </a:r>
            <a:endParaRPr lang="tr-TR" dirty="0"/>
          </a:p>
        </p:txBody>
      </p:sp>
    </p:spTree>
    <p:extLst>
      <p:ext uri="{BB962C8B-B14F-4D97-AF65-F5344CB8AC3E}">
        <p14:creationId xmlns:p14="http://schemas.microsoft.com/office/powerpoint/2010/main" val="2461130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3585D21-21C5-2396-2E9D-DCB07359FEC0}"/>
              </a:ext>
            </a:extLst>
          </p:cNvPr>
          <p:cNvSpPr>
            <a:spLocks noGrp="1"/>
          </p:cNvSpPr>
          <p:nvPr>
            <p:ph type="title"/>
          </p:nvPr>
        </p:nvSpPr>
        <p:spPr/>
        <p:txBody>
          <a:bodyPr/>
          <a:lstStyle/>
          <a:p>
            <a:r>
              <a:rPr lang="tr-TR" sz="4400" b="1" i="0" u="none" strike="noStrike" baseline="0" dirty="0">
                <a:latin typeface="Calibri-Bold"/>
              </a:rPr>
              <a:t>İŞE BAŞLAMAK İÇİN KISA FORMLAR</a:t>
            </a:r>
            <a:endParaRPr lang="tr-TR" dirty="0"/>
          </a:p>
        </p:txBody>
      </p:sp>
      <p:sp>
        <p:nvSpPr>
          <p:cNvPr id="3" name="İçerik Yer Tutucusu 2">
            <a:extLst>
              <a:ext uri="{FF2B5EF4-FFF2-40B4-BE49-F238E27FC236}">
                <a16:creationId xmlns:a16="http://schemas.microsoft.com/office/drawing/2014/main" id="{A9381F3E-F28E-1752-E3B1-BED6B9E15C7D}"/>
              </a:ext>
            </a:extLst>
          </p:cNvPr>
          <p:cNvSpPr>
            <a:spLocks noGrp="1"/>
          </p:cNvSpPr>
          <p:nvPr>
            <p:ph idx="1"/>
          </p:nvPr>
        </p:nvSpPr>
        <p:spPr/>
        <p:txBody>
          <a:bodyPr/>
          <a:lstStyle/>
          <a:p>
            <a:pPr algn="l"/>
            <a:r>
              <a:rPr lang="tr-TR" sz="2800" b="0" i="0" u="none" strike="noStrike" baseline="0" dirty="0">
                <a:latin typeface="Calibri" panose="020F0502020204030204" pitchFamily="34" charset="0"/>
              </a:rPr>
              <a:t>Bu kontrol listelerini kullanarak yeni işinize başlamadan önce önemli noktaları daha detaylı olarak gözden geçirme imkânı bulabilirsiniz.</a:t>
            </a:r>
            <a:endParaRPr lang="tr-TR" dirty="0"/>
          </a:p>
        </p:txBody>
      </p:sp>
    </p:spTree>
    <p:extLst>
      <p:ext uri="{BB962C8B-B14F-4D97-AF65-F5344CB8AC3E}">
        <p14:creationId xmlns:p14="http://schemas.microsoft.com/office/powerpoint/2010/main" val="3652128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1EF1C71A-345E-E72E-77A3-D11F6DF345F7}"/>
              </a:ext>
            </a:extLst>
          </p:cNvPr>
          <p:cNvPicPr>
            <a:picLocks noGrp="1" noChangeAspect="1"/>
          </p:cNvPicPr>
          <p:nvPr>
            <p:ph idx="1"/>
          </p:nvPr>
        </p:nvPicPr>
        <p:blipFill>
          <a:blip r:embed="rId2"/>
          <a:stretch>
            <a:fillRect/>
          </a:stretch>
        </p:blipFill>
        <p:spPr>
          <a:xfrm>
            <a:off x="1604212" y="2403861"/>
            <a:ext cx="9750336" cy="3467549"/>
          </a:xfrm>
        </p:spPr>
      </p:pic>
    </p:spTree>
    <p:extLst>
      <p:ext uri="{BB962C8B-B14F-4D97-AF65-F5344CB8AC3E}">
        <p14:creationId xmlns:p14="http://schemas.microsoft.com/office/powerpoint/2010/main" val="897913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199A337E-5645-4C28-A56C-ABD0811FAEC1}"/>
              </a:ext>
            </a:extLst>
          </p:cNvPr>
          <p:cNvPicPr>
            <a:picLocks noGrp="1" noChangeAspect="1"/>
          </p:cNvPicPr>
          <p:nvPr>
            <p:ph idx="1"/>
          </p:nvPr>
        </p:nvPicPr>
        <p:blipFill>
          <a:blip r:embed="rId2"/>
          <a:stretch>
            <a:fillRect/>
          </a:stretch>
        </p:blipFill>
        <p:spPr>
          <a:xfrm>
            <a:off x="838200" y="1708629"/>
            <a:ext cx="10515601" cy="4435497"/>
          </a:xfrm>
        </p:spPr>
      </p:pic>
    </p:spTree>
    <p:extLst>
      <p:ext uri="{BB962C8B-B14F-4D97-AF65-F5344CB8AC3E}">
        <p14:creationId xmlns:p14="http://schemas.microsoft.com/office/powerpoint/2010/main" val="3055954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16F9FAE6-5A71-D60D-6016-7FCFDDBED08A}"/>
              </a:ext>
            </a:extLst>
          </p:cNvPr>
          <p:cNvPicPr>
            <a:picLocks noGrp="1" noChangeAspect="1"/>
          </p:cNvPicPr>
          <p:nvPr>
            <p:ph idx="1"/>
          </p:nvPr>
        </p:nvPicPr>
        <p:blipFill>
          <a:blip r:embed="rId2"/>
          <a:stretch>
            <a:fillRect/>
          </a:stretch>
        </p:blipFill>
        <p:spPr>
          <a:xfrm>
            <a:off x="838201" y="1219200"/>
            <a:ext cx="10515600" cy="2903621"/>
          </a:xfrm>
        </p:spPr>
      </p:pic>
      <p:pic>
        <p:nvPicPr>
          <p:cNvPr id="7" name="Resim 6">
            <a:extLst>
              <a:ext uri="{FF2B5EF4-FFF2-40B4-BE49-F238E27FC236}">
                <a16:creationId xmlns:a16="http://schemas.microsoft.com/office/drawing/2014/main" id="{79DDD504-90A3-DD77-09ED-38C43B203912}"/>
              </a:ext>
            </a:extLst>
          </p:cNvPr>
          <p:cNvPicPr>
            <a:picLocks noChangeAspect="1"/>
          </p:cNvPicPr>
          <p:nvPr/>
        </p:nvPicPr>
        <p:blipFill>
          <a:blip r:embed="rId3"/>
          <a:stretch>
            <a:fillRect/>
          </a:stretch>
        </p:blipFill>
        <p:spPr>
          <a:xfrm>
            <a:off x="962525" y="3978442"/>
            <a:ext cx="10391273" cy="2229853"/>
          </a:xfrm>
          <a:prstGeom prst="rect">
            <a:avLst/>
          </a:prstGeom>
        </p:spPr>
      </p:pic>
    </p:spTree>
    <p:extLst>
      <p:ext uri="{BB962C8B-B14F-4D97-AF65-F5344CB8AC3E}">
        <p14:creationId xmlns:p14="http://schemas.microsoft.com/office/powerpoint/2010/main" val="831238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D3098827-864E-0323-466B-435D6617DDBF}"/>
              </a:ext>
            </a:extLst>
          </p:cNvPr>
          <p:cNvPicPr>
            <a:picLocks noGrp="1" noChangeAspect="1"/>
          </p:cNvPicPr>
          <p:nvPr>
            <p:ph idx="1"/>
          </p:nvPr>
        </p:nvPicPr>
        <p:blipFill>
          <a:blip r:embed="rId2"/>
          <a:stretch>
            <a:fillRect/>
          </a:stretch>
        </p:blipFill>
        <p:spPr>
          <a:xfrm>
            <a:off x="1411705" y="614448"/>
            <a:ext cx="9609221" cy="4775700"/>
          </a:xfrm>
        </p:spPr>
      </p:pic>
    </p:spTree>
    <p:extLst>
      <p:ext uri="{BB962C8B-B14F-4D97-AF65-F5344CB8AC3E}">
        <p14:creationId xmlns:p14="http://schemas.microsoft.com/office/powerpoint/2010/main" val="3297132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875AEC48-B119-4DF8-5EC0-5CE29B3FF036}"/>
              </a:ext>
            </a:extLst>
          </p:cNvPr>
          <p:cNvPicPr>
            <a:picLocks noGrp="1" noChangeAspect="1"/>
          </p:cNvPicPr>
          <p:nvPr>
            <p:ph idx="1"/>
          </p:nvPr>
        </p:nvPicPr>
        <p:blipFill>
          <a:blip r:embed="rId2"/>
          <a:stretch>
            <a:fillRect/>
          </a:stretch>
        </p:blipFill>
        <p:spPr>
          <a:xfrm>
            <a:off x="838200" y="1989222"/>
            <a:ext cx="10515600" cy="3785936"/>
          </a:xfrm>
        </p:spPr>
      </p:pic>
    </p:spTree>
    <p:extLst>
      <p:ext uri="{BB962C8B-B14F-4D97-AF65-F5344CB8AC3E}">
        <p14:creationId xmlns:p14="http://schemas.microsoft.com/office/powerpoint/2010/main" val="3525568146"/>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1082</Words>
  <Application>Microsoft Office PowerPoint</Application>
  <PresentationFormat>Geniş ekran</PresentationFormat>
  <Paragraphs>91</Paragraphs>
  <Slides>22</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22</vt:i4>
      </vt:variant>
    </vt:vector>
  </HeadingPairs>
  <TitlesOfParts>
    <vt:vector size="29" baseType="lpstr">
      <vt:lpstr>Aptos</vt:lpstr>
      <vt:lpstr>Aptos Display</vt:lpstr>
      <vt:lpstr>Arial</vt:lpstr>
      <vt:lpstr>Calibri</vt:lpstr>
      <vt:lpstr>Calibri-Bold</vt:lpstr>
      <vt:lpstr>Calibri-Italic</vt:lpstr>
      <vt:lpstr>Office Teması</vt:lpstr>
      <vt:lpstr>Girişimcilik</vt:lpstr>
      <vt:lpstr>İŞ KURMA SÜRECİNİN TEMEL ADIMLARI</vt:lpstr>
      <vt:lpstr>PowerPoint Sunusu</vt:lpstr>
      <vt:lpstr>PowerPoint Sunusu</vt:lpstr>
      <vt:lpstr>PowerPoint Sunusu</vt:lpstr>
      <vt:lpstr>GİRİŞİMCİ İÇİN İŞ PLANI</vt:lpstr>
      <vt:lpstr>ÖRNEK İŞ PLANI</vt:lpstr>
      <vt:lpstr>PowerPoint Sunusu</vt:lpstr>
      <vt:lpstr>PowerPoint Sunusu</vt:lpstr>
      <vt:lpstr>PowerPoint Sunusu</vt:lpstr>
      <vt:lpstr>PowerPoint Sunusu</vt:lpstr>
      <vt:lpstr>PowerPoint Sunusu</vt:lpstr>
      <vt:lpstr>Pazar Planı</vt:lpstr>
      <vt:lpstr>Üretim Planı</vt:lpstr>
      <vt:lpstr>Finans Planı (Para Bulma)</vt:lpstr>
      <vt:lpstr>Organizasyon</vt:lpstr>
      <vt:lpstr>İŞE BAŞLAMAK İÇİN KISA FORMLAR</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RW</dc:creator>
  <cp:lastModifiedBy>RW</cp:lastModifiedBy>
  <cp:revision>4</cp:revision>
  <dcterms:created xsi:type="dcterms:W3CDTF">2025-12-02T06:46:25Z</dcterms:created>
  <dcterms:modified xsi:type="dcterms:W3CDTF">2025-12-02T07:47:18Z</dcterms:modified>
</cp:coreProperties>
</file>