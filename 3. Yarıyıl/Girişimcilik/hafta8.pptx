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0" d="100"/>
          <a:sy n="60" d="100"/>
        </p:scale>
        <p:origin x="78" y="10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66F34D7-E266-5055-BDF1-3E2F61468196}"/>
              </a:ext>
            </a:extLst>
          </p:cNvPr>
          <p:cNvSpPr>
            <a:spLocks noGrp="1"/>
          </p:cNvSpPr>
          <p:nvPr>
            <p:ph type="ctrTitle"/>
          </p:nvPr>
        </p:nvSpPr>
        <p:spPr>
          <a:xfrm>
            <a:off x="1524000" y="1122363"/>
            <a:ext cx="9144000" cy="2387600"/>
          </a:xfrm>
        </p:spPr>
        <p:txBody>
          <a:bodyPr anchor="b"/>
          <a:lstStyle>
            <a:lvl1pPr algn="ctr">
              <a:defRPr sz="6000"/>
            </a:lvl1pPr>
          </a:lstStyle>
          <a:p>
            <a:r>
              <a:rPr lang="tr-TR"/>
              <a:t>Asıl başlık stilini düzenlemek için tıklayın</a:t>
            </a:r>
          </a:p>
        </p:txBody>
      </p:sp>
      <p:sp>
        <p:nvSpPr>
          <p:cNvPr id="3" name="Alt Başlık 2">
            <a:extLst>
              <a:ext uri="{FF2B5EF4-FFF2-40B4-BE49-F238E27FC236}">
                <a16:creationId xmlns:a16="http://schemas.microsoft.com/office/drawing/2014/main" id="{A13008C6-FD44-DAB5-DEED-004A88F7E37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tr-TR"/>
              <a:t>Asıl alt başlık stilini düzenlemek için tıklayın</a:t>
            </a:r>
          </a:p>
        </p:txBody>
      </p:sp>
      <p:sp>
        <p:nvSpPr>
          <p:cNvPr id="4" name="Veri Yer Tutucusu 3">
            <a:extLst>
              <a:ext uri="{FF2B5EF4-FFF2-40B4-BE49-F238E27FC236}">
                <a16:creationId xmlns:a16="http://schemas.microsoft.com/office/drawing/2014/main" id="{2435C1FA-7DB9-6339-A00B-2C56AB082951}"/>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5" name="Alt Bilgi Yer Tutucusu 4">
            <a:extLst>
              <a:ext uri="{FF2B5EF4-FFF2-40B4-BE49-F238E27FC236}">
                <a16:creationId xmlns:a16="http://schemas.microsoft.com/office/drawing/2014/main" id="{A9A4D7B1-6AEB-037A-6418-7F01FD56882E}"/>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976A8232-4008-135E-9B6B-50FC45BCDD50}"/>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23482003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189D356-761E-806B-AB44-2F4FBC13B04A}"/>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22E454B5-C18D-6B87-5133-C83876499667}"/>
              </a:ext>
            </a:extLst>
          </p:cNvPr>
          <p:cNvSpPr>
            <a:spLocks noGrp="1"/>
          </p:cNvSpPr>
          <p:nvPr>
            <p:ph idx="1"/>
          </p:nvPr>
        </p:nvSpPr>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6920754A-553C-D99E-1A54-C0D75EFFAA39}"/>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5" name="Alt Bilgi Yer Tutucusu 4">
            <a:extLst>
              <a:ext uri="{FF2B5EF4-FFF2-40B4-BE49-F238E27FC236}">
                <a16:creationId xmlns:a16="http://schemas.microsoft.com/office/drawing/2014/main" id="{7BC3EF2A-3FF1-F067-A950-586337DB527C}"/>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6D9B770C-DDD2-CA91-5188-01EC894A5546}"/>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169220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D52963B-37C4-4947-9B20-4BB5BE38C8AD}"/>
              </a:ext>
            </a:extLst>
          </p:cNvPr>
          <p:cNvSpPr>
            <a:spLocks noGrp="1"/>
          </p:cNvSpPr>
          <p:nvPr>
            <p:ph type="title"/>
          </p:nvPr>
        </p:nvSpPr>
        <p:spPr>
          <a:xfrm>
            <a:off x="831850" y="1709738"/>
            <a:ext cx="10515600" cy="2852737"/>
          </a:xfrm>
        </p:spPr>
        <p:txBody>
          <a:bodyPr anchor="b"/>
          <a:lstStyle>
            <a:lvl1pPr>
              <a:defRPr sz="6000"/>
            </a:lvl1pPr>
          </a:lstStyle>
          <a:p>
            <a:r>
              <a:rPr lang="tr-TR"/>
              <a:t>Asıl başlık stilini düzenlemek için tıklayın</a:t>
            </a:r>
          </a:p>
        </p:txBody>
      </p:sp>
      <p:sp>
        <p:nvSpPr>
          <p:cNvPr id="3" name="Metin Yer Tutucusu 2">
            <a:extLst>
              <a:ext uri="{FF2B5EF4-FFF2-40B4-BE49-F238E27FC236}">
                <a16:creationId xmlns:a16="http://schemas.microsoft.com/office/drawing/2014/main" id="{FBAF03E8-36A4-EC4A-58FD-88155E96B45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tr-TR"/>
              <a:t>Asıl metin stillerini düzenlemek için tıklayın</a:t>
            </a:r>
          </a:p>
        </p:txBody>
      </p:sp>
      <p:sp>
        <p:nvSpPr>
          <p:cNvPr id="4" name="Veri Yer Tutucusu 3">
            <a:extLst>
              <a:ext uri="{FF2B5EF4-FFF2-40B4-BE49-F238E27FC236}">
                <a16:creationId xmlns:a16="http://schemas.microsoft.com/office/drawing/2014/main" id="{8199B9DC-B2E2-755B-390D-D4D95AB23F32}"/>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5" name="Alt Bilgi Yer Tutucusu 4">
            <a:extLst>
              <a:ext uri="{FF2B5EF4-FFF2-40B4-BE49-F238E27FC236}">
                <a16:creationId xmlns:a16="http://schemas.microsoft.com/office/drawing/2014/main" id="{85A05120-B116-4EBF-EDB7-B7510661ACCB}"/>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A3FFE6C5-3EA8-3E0A-7BE9-4B5C30122C50}"/>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28068966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FC48908-C57D-79AC-AA3B-3095E3F30987}"/>
              </a:ext>
            </a:extLst>
          </p:cNvPr>
          <p:cNvSpPr>
            <a:spLocks noGrp="1"/>
          </p:cNvSpPr>
          <p:nvPr>
            <p:ph type="title"/>
          </p:nvPr>
        </p:nvSpPr>
        <p:spPr/>
        <p:txBody>
          <a:bodyPr/>
          <a:lstStyle/>
          <a:p>
            <a:r>
              <a:rPr lang="tr-TR"/>
              <a:t>Asıl başlık stilini düzenlemek için tıklayın</a:t>
            </a:r>
          </a:p>
        </p:txBody>
      </p:sp>
      <p:sp>
        <p:nvSpPr>
          <p:cNvPr id="3" name="İçerik Yer Tutucusu 2">
            <a:extLst>
              <a:ext uri="{FF2B5EF4-FFF2-40B4-BE49-F238E27FC236}">
                <a16:creationId xmlns:a16="http://schemas.microsoft.com/office/drawing/2014/main" id="{621072B9-F4E6-0F53-26A0-84455B625B1F}"/>
              </a:ext>
            </a:extLst>
          </p:cNvPr>
          <p:cNvSpPr>
            <a:spLocks noGrp="1"/>
          </p:cNvSpPr>
          <p:nvPr>
            <p:ph sz="half" idx="1"/>
          </p:nvPr>
        </p:nvSpPr>
        <p:spPr>
          <a:xfrm>
            <a:off x="838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İçerik Yer Tutucusu 3">
            <a:extLst>
              <a:ext uri="{FF2B5EF4-FFF2-40B4-BE49-F238E27FC236}">
                <a16:creationId xmlns:a16="http://schemas.microsoft.com/office/drawing/2014/main" id="{FB31995C-0E67-67DE-DC23-175619440D9D}"/>
              </a:ext>
            </a:extLst>
          </p:cNvPr>
          <p:cNvSpPr>
            <a:spLocks noGrp="1"/>
          </p:cNvSpPr>
          <p:nvPr>
            <p:ph sz="half" idx="2"/>
          </p:nvPr>
        </p:nvSpPr>
        <p:spPr>
          <a:xfrm>
            <a:off x="6172200" y="1825625"/>
            <a:ext cx="5181600" cy="435133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Veri Yer Tutucusu 4">
            <a:extLst>
              <a:ext uri="{FF2B5EF4-FFF2-40B4-BE49-F238E27FC236}">
                <a16:creationId xmlns:a16="http://schemas.microsoft.com/office/drawing/2014/main" id="{ACFECD06-41EF-A37D-C30F-254B7908DCCA}"/>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6" name="Alt Bilgi Yer Tutucusu 5">
            <a:extLst>
              <a:ext uri="{FF2B5EF4-FFF2-40B4-BE49-F238E27FC236}">
                <a16:creationId xmlns:a16="http://schemas.microsoft.com/office/drawing/2014/main" id="{ECD2FCD2-CBCA-CC29-C80D-664E9A9902C5}"/>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F5654887-4D3B-ADEC-56F3-3DDE64C6303F}"/>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27271295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2A50C5C-D56A-6BC6-8B78-1745FDA932C8}"/>
              </a:ext>
            </a:extLst>
          </p:cNvPr>
          <p:cNvSpPr>
            <a:spLocks noGrp="1"/>
          </p:cNvSpPr>
          <p:nvPr>
            <p:ph type="title"/>
          </p:nvPr>
        </p:nvSpPr>
        <p:spPr>
          <a:xfrm>
            <a:off x="839788" y="365125"/>
            <a:ext cx="10515600" cy="1325563"/>
          </a:xfrm>
        </p:spPr>
        <p:txBody>
          <a:bodyPr/>
          <a:lstStyle/>
          <a:p>
            <a:r>
              <a:rPr lang="tr-TR"/>
              <a:t>Asıl başlık stilini düzenlemek için tıklayın</a:t>
            </a:r>
          </a:p>
        </p:txBody>
      </p:sp>
      <p:sp>
        <p:nvSpPr>
          <p:cNvPr id="3" name="Metin Yer Tutucusu 2">
            <a:extLst>
              <a:ext uri="{FF2B5EF4-FFF2-40B4-BE49-F238E27FC236}">
                <a16:creationId xmlns:a16="http://schemas.microsoft.com/office/drawing/2014/main" id="{82FDE83B-C4F5-26B3-DD56-62CBA28A568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İçerik Yer Tutucusu 3">
            <a:extLst>
              <a:ext uri="{FF2B5EF4-FFF2-40B4-BE49-F238E27FC236}">
                <a16:creationId xmlns:a16="http://schemas.microsoft.com/office/drawing/2014/main" id="{F55A4356-D00C-1239-2060-B17165D89252}"/>
              </a:ext>
            </a:extLst>
          </p:cNvPr>
          <p:cNvSpPr>
            <a:spLocks noGrp="1"/>
          </p:cNvSpPr>
          <p:nvPr>
            <p:ph sz="half" idx="2"/>
          </p:nvPr>
        </p:nvSpPr>
        <p:spPr>
          <a:xfrm>
            <a:off x="839788" y="2505075"/>
            <a:ext cx="5157787"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5" name="Metin Yer Tutucusu 4">
            <a:extLst>
              <a:ext uri="{FF2B5EF4-FFF2-40B4-BE49-F238E27FC236}">
                <a16:creationId xmlns:a16="http://schemas.microsoft.com/office/drawing/2014/main" id="{1E3EDF12-8BF6-86BD-C48A-E626B995767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İçerik Yer Tutucusu 5">
            <a:extLst>
              <a:ext uri="{FF2B5EF4-FFF2-40B4-BE49-F238E27FC236}">
                <a16:creationId xmlns:a16="http://schemas.microsoft.com/office/drawing/2014/main" id="{176761BF-31BE-05AF-7DD3-12144166598F}"/>
              </a:ext>
            </a:extLst>
          </p:cNvPr>
          <p:cNvSpPr>
            <a:spLocks noGrp="1"/>
          </p:cNvSpPr>
          <p:nvPr>
            <p:ph sz="quarter" idx="4"/>
          </p:nvPr>
        </p:nvSpPr>
        <p:spPr>
          <a:xfrm>
            <a:off x="6172200" y="2505075"/>
            <a:ext cx="5183188" cy="3684588"/>
          </a:xfrm>
        </p:spPr>
        <p:txBody>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7" name="Veri Yer Tutucusu 6">
            <a:extLst>
              <a:ext uri="{FF2B5EF4-FFF2-40B4-BE49-F238E27FC236}">
                <a16:creationId xmlns:a16="http://schemas.microsoft.com/office/drawing/2014/main" id="{1C35C5B8-49A1-66EB-41A8-71173A8416C4}"/>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8" name="Alt Bilgi Yer Tutucusu 7">
            <a:extLst>
              <a:ext uri="{FF2B5EF4-FFF2-40B4-BE49-F238E27FC236}">
                <a16:creationId xmlns:a16="http://schemas.microsoft.com/office/drawing/2014/main" id="{5676C0F0-1861-3B31-ABCC-815711D073A7}"/>
              </a:ext>
            </a:extLst>
          </p:cNvPr>
          <p:cNvSpPr>
            <a:spLocks noGrp="1"/>
          </p:cNvSpPr>
          <p:nvPr>
            <p:ph type="ftr" sz="quarter" idx="11"/>
          </p:nvPr>
        </p:nvSpPr>
        <p:spPr/>
        <p:txBody>
          <a:bodyPr/>
          <a:lstStyle/>
          <a:p>
            <a:endParaRPr lang="tr-TR"/>
          </a:p>
        </p:txBody>
      </p:sp>
      <p:sp>
        <p:nvSpPr>
          <p:cNvPr id="9" name="Slayt Numarası Yer Tutucusu 8">
            <a:extLst>
              <a:ext uri="{FF2B5EF4-FFF2-40B4-BE49-F238E27FC236}">
                <a16:creationId xmlns:a16="http://schemas.microsoft.com/office/drawing/2014/main" id="{7447E0F3-7A94-63B5-83E3-CC2F6B74AA9C}"/>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31438638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0C6F8EF2-4B36-4F00-8AD2-DE88F30A6BB4}"/>
              </a:ext>
            </a:extLst>
          </p:cNvPr>
          <p:cNvSpPr>
            <a:spLocks noGrp="1"/>
          </p:cNvSpPr>
          <p:nvPr>
            <p:ph type="title"/>
          </p:nvPr>
        </p:nvSpPr>
        <p:spPr/>
        <p:txBody>
          <a:bodyPr/>
          <a:lstStyle/>
          <a:p>
            <a:r>
              <a:rPr lang="tr-TR"/>
              <a:t>Asıl başlık stilini düzenlemek için tıklayın</a:t>
            </a:r>
          </a:p>
        </p:txBody>
      </p:sp>
      <p:sp>
        <p:nvSpPr>
          <p:cNvPr id="3" name="Veri Yer Tutucusu 2">
            <a:extLst>
              <a:ext uri="{FF2B5EF4-FFF2-40B4-BE49-F238E27FC236}">
                <a16:creationId xmlns:a16="http://schemas.microsoft.com/office/drawing/2014/main" id="{96C9FB54-6A89-FAC2-2C54-ABC1D50DF8D5}"/>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4" name="Alt Bilgi Yer Tutucusu 3">
            <a:extLst>
              <a:ext uri="{FF2B5EF4-FFF2-40B4-BE49-F238E27FC236}">
                <a16:creationId xmlns:a16="http://schemas.microsoft.com/office/drawing/2014/main" id="{14F3F503-8AFE-82AC-DB01-92012F69D110}"/>
              </a:ext>
            </a:extLst>
          </p:cNvPr>
          <p:cNvSpPr>
            <a:spLocks noGrp="1"/>
          </p:cNvSpPr>
          <p:nvPr>
            <p:ph type="ftr" sz="quarter" idx="11"/>
          </p:nvPr>
        </p:nvSpPr>
        <p:spPr/>
        <p:txBody>
          <a:bodyPr/>
          <a:lstStyle/>
          <a:p>
            <a:endParaRPr lang="tr-TR"/>
          </a:p>
        </p:txBody>
      </p:sp>
      <p:sp>
        <p:nvSpPr>
          <p:cNvPr id="5" name="Slayt Numarası Yer Tutucusu 4">
            <a:extLst>
              <a:ext uri="{FF2B5EF4-FFF2-40B4-BE49-F238E27FC236}">
                <a16:creationId xmlns:a16="http://schemas.microsoft.com/office/drawing/2014/main" id="{8B42DB26-E250-866B-84CA-4198A1896252}"/>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34739348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a:extLst>
              <a:ext uri="{FF2B5EF4-FFF2-40B4-BE49-F238E27FC236}">
                <a16:creationId xmlns:a16="http://schemas.microsoft.com/office/drawing/2014/main" id="{C3ADFD91-4809-B425-0A7C-B0402811A407}"/>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3" name="Alt Bilgi Yer Tutucusu 2">
            <a:extLst>
              <a:ext uri="{FF2B5EF4-FFF2-40B4-BE49-F238E27FC236}">
                <a16:creationId xmlns:a16="http://schemas.microsoft.com/office/drawing/2014/main" id="{5A923666-9D09-6C5D-C5EB-782C55CEA716}"/>
              </a:ext>
            </a:extLst>
          </p:cNvPr>
          <p:cNvSpPr>
            <a:spLocks noGrp="1"/>
          </p:cNvSpPr>
          <p:nvPr>
            <p:ph type="ftr" sz="quarter" idx="11"/>
          </p:nvPr>
        </p:nvSpPr>
        <p:spPr/>
        <p:txBody>
          <a:bodyPr/>
          <a:lstStyle/>
          <a:p>
            <a:endParaRPr lang="tr-TR"/>
          </a:p>
        </p:txBody>
      </p:sp>
      <p:sp>
        <p:nvSpPr>
          <p:cNvPr id="4" name="Slayt Numarası Yer Tutucusu 3">
            <a:extLst>
              <a:ext uri="{FF2B5EF4-FFF2-40B4-BE49-F238E27FC236}">
                <a16:creationId xmlns:a16="http://schemas.microsoft.com/office/drawing/2014/main" id="{97C04F10-F20A-84BF-D47C-840DCA30FBF5}"/>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2057570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B0493C93-3AE2-0212-52A6-819F27441573}"/>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İçerik Yer Tutucusu 2">
            <a:extLst>
              <a:ext uri="{FF2B5EF4-FFF2-40B4-BE49-F238E27FC236}">
                <a16:creationId xmlns:a16="http://schemas.microsoft.com/office/drawing/2014/main" id="{5E0AE378-E917-D789-8639-896436D6F8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Metin Yer Tutucusu 3">
            <a:extLst>
              <a:ext uri="{FF2B5EF4-FFF2-40B4-BE49-F238E27FC236}">
                <a16:creationId xmlns:a16="http://schemas.microsoft.com/office/drawing/2014/main" id="{C37E4455-DCA3-24C8-D185-3D0C2FE4D7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8E6571A3-F1FE-04E6-86BD-1B52B69634DA}"/>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6" name="Alt Bilgi Yer Tutucusu 5">
            <a:extLst>
              <a:ext uri="{FF2B5EF4-FFF2-40B4-BE49-F238E27FC236}">
                <a16:creationId xmlns:a16="http://schemas.microsoft.com/office/drawing/2014/main" id="{09023204-6EBA-01E9-86C8-9C516084B83C}"/>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55E2F466-D555-F6CF-21A1-D7DF85620B91}"/>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10939306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4A3ACAD-97F5-8C7E-E2A7-74D5A4F5B2A3}"/>
              </a:ext>
            </a:extLst>
          </p:cNvPr>
          <p:cNvSpPr>
            <a:spLocks noGrp="1"/>
          </p:cNvSpPr>
          <p:nvPr>
            <p:ph type="title"/>
          </p:nvPr>
        </p:nvSpPr>
        <p:spPr>
          <a:xfrm>
            <a:off x="839788" y="457200"/>
            <a:ext cx="3932237" cy="1600200"/>
          </a:xfrm>
        </p:spPr>
        <p:txBody>
          <a:bodyPr anchor="b"/>
          <a:lstStyle>
            <a:lvl1pPr>
              <a:defRPr sz="3200"/>
            </a:lvl1pPr>
          </a:lstStyle>
          <a:p>
            <a:r>
              <a:rPr lang="tr-TR"/>
              <a:t>Asıl başlık stilini düzenlemek için tıklayın</a:t>
            </a:r>
          </a:p>
        </p:txBody>
      </p:sp>
      <p:sp>
        <p:nvSpPr>
          <p:cNvPr id="3" name="Resim Yer Tutucusu 2">
            <a:extLst>
              <a:ext uri="{FF2B5EF4-FFF2-40B4-BE49-F238E27FC236}">
                <a16:creationId xmlns:a16="http://schemas.microsoft.com/office/drawing/2014/main" id="{A3614749-9F09-9118-F3B2-C34A8C2A14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a:extLst>
              <a:ext uri="{FF2B5EF4-FFF2-40B4-BE49-F238E27FC236}">
                <a16:creationId xmlns:a16="http://schemas.microsoft.com/office/drawing/2014/main" id="{0E7BA6D7-650B-37B8-1A21-5A466C762F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tr-TR"/>
              <a:t>Asıl metin stillerini düzenlemek için tıklayın</a:t>
            </a:r>
          </a:p>
        </p:txBody>
      </p:sp>
      <p:sp>
        <p:nvSpPr>
          <p:cNvPr id="5" name="Veri Yer Tutucusu 4">
            <a:extLst>
              <a:ext uri="{FF2B5EF4-FFF2-40B4-BE49-F238E27FC236}">
                <a16:creationId xmlns:a16="http://schemas.microsoft.com/office/drawing/2014/main" id="{0E5BEA03-6E62-9514-5D8D-8723AF05D942}"/>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6" name="Alt Bilgi Yer Tutucusu 5">
            <a:extLst>
              <a:ext uri="{FF2B5EF4-FFF2-40B4-BE49-F238E27FC236}">
                <a16:creationId xmlns:a16="http://schemas.microsoft.com/office/drawing/2014/main" id="{3C99280F-0068-A966-D320-11B41EBF1036}"/>
              </a:ext>
            </a:extLst>
          </p:cNvPr>
          <p:cNvSpPr>
            <a:spLocks noGrp="1"/>
          </p:cNvSpPr>
          <p:nvPr>
            <p:ph type="ftr" sz="quarter" idx="11"/>
          </p:nvPr>
        </p:nvSpPr>
        <p:spPr/>
        <p:txBody>
          <a:bodyPr/>
          <a:lstStyle/>
          <a:p>
            <a:endParaRPr lang="tr-TR"/>
          </a:p>
        </p:txBody>
      </p:sp>
      <p:sp>
        <p:nvSpPr>
          <p:cNvPr id="7" name="Slayt Numarası Yer Tutucusu 6">
            <a:extLst>
              <a:ext uri="{FF2B5EF4-FFF2-40B4-BE49-F238E27FC236}">
                <a16:creationId xmlns:a16="http://schemas.microsoft.com/office/drawing/2014/main" id="{C2B7BF92-608B-D4CC-BECE-247F0DEAD9E5}"/>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6426011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7836924-98BE-2C8A-B66A-1933DE965F7A}"/>
              </a:ext>
            </a:extLst>
          </p:cNvPr>
          <p:cNvSpPr>
            <a:spLocks noGrp="1"/>
          </p:cNvSpPr>
          <p:nvPr>
            <p:ph type="title"/>
          </p:nvPr>
        </p:nvSpPr>
        <p:spPr/>
        <p:txBody>
          <a:bodyPr/>
          <a:lstStyle/>
          <a:p>
            <a:r>
              <a:rPr lang="tr-TR"/>
              <a:t>Asıl başlık stilini düzenlemek için tıklayın</a:t>
            </a:r>
          </a:p>
        </p:txBody>
      </p:sp>
      <p:sp>
        <p:nvSpPr>
          <p:cNvPr id="3" name="Dikey Metin Yer Tutucusu 2">
            <a:extLst>
              <a:ext uri="{FF2B5EF4-FFF2-40B4-BE49-F238E27FC236}">
                <a16:creationId xmlns:a16="http://schemas.microsoft.com/office/drawing/2014/main" id="{CDD4C3B5-9C67-146D-D9C6-290573B611F6}"/>
              </a:ext>
            </a:extLst>
          </p:cNvPr>
          <p:cNvSpPr>
            <a:spLocks noGrp="1"/>
          </p:cNvSpPr>
          <p:nvPr>
            <p:ph type="body" orient="vert" idx="1"/>
          </p:nvPr>
        </p:nvSpPr>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152D11E4-69B1-D5F7-243A-936CE347478D}"/>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5" name="Alt Bilgi Yer Tutucusu 4">
            <a:extLst>
              <a:ext uri="{FF2B5EF4-FFF2-40B4-BE49-F238E27FC236}">
                <a16:creationId xmlns:a16="http://schemas.microsoft.com/office/drawing/2014/main" id="{395974B6-BD22-C471-356D-2BEA3D2ADFCD}"/>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F160E92C-252E-C716-E0CF-70F72DEA2547}"/>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1781593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a:extLst>
              <a:ext uri="{FF2B5EF4-FFF2-40B4-BE49-F238E27FC236}">
                <a16:creationId xmlns:a16="http://schemas.microsoft.com/office/drawing/2014/main" id="{1B1CAEF0-A8CC-839B-31D7-1C4AD90E85FD}"/>
              </a:ext>
            </a:extLst>
          </p:cNvPr>
          <p:cNvSpPr>
            <a:spLocks noGrp="1"/>
          </p:cNvSpPr>
          <p:nvPr>
            <p:ph type="title" orient="vert"/>
          </p:nvPr>
        </p:nvSpPr>
        <p:spPr>
          <a:xfrm>
            <a:off x="8724900" y="365125"/>
            <a:ext cx="2628900" cy="5811838"/>
          </a:xfrm>
        </p:spPr>
        <p:txBody>
          <a:bodyPr vert="eaVert"/>
          <a:lstStyle/>
          <a:p>
            <a:r>
              <a:rPr lang="tr-TR"/>
              <a:t>Asıl başlık stilini düzenlemek için tıklayın</a:t>
            </a:r>
          </a:p>
        </p:txBody>
      </p:sp>
      <p:sp>
        <p:nvSpPr>
          <p:cNvPr id="3" name="Dikey Metin Yer Tutucusu 2">
            <a:extLst>
              <a:ext uri="{FF2B5EF4-FFF2-40B4-BE49-F238E27FC236}">
                <a16:creationId xmlns:a16="http://schemas.microsoft.com/office/drawing/2014/main" id="{C3972B47-73BF-5907-A648-13184FC3B164}"/>
              </a:ext>
            </a:extLst>
          </p:cNvPr>
          <p:cNvSpPr>
            <a:spLocks noGrp="1"/>
          </p:cNvSpPr>
          <p:nvPr>
            <p:ph type="body" orient="vert" idx="1"/>
          </p:nvPr>
        </p:nvSpPr>
        <p:spPr>
          <a:xfrm>
            <a:off x="838200" y="365125"/>
            <a:ext cx="7734300" cy="5811838"/>
          </a:xfrm>
        </p:spPr>
        <p:txBody>
          <a:bodyPr vert="eaVe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86F4AF4A-E67F-0AD6-5AD2-C55BDE8C7DB5}"/>
              </a:ext>
            </a:extLst>
          </p:cNvPr>
          <p:cNvSpPr>
            <a:spLocks noGrp="1"/>
          </p:cNvSpPr>
          <p:nvPr>
            <p:ph type="dt" sz="half" idx="10"/>
          </p:nvPr>
        </p:nvSpPr>
        <p:spPr/>
        <p:txBody>
          <a:bodyPr/>
          <a:lstStyle/>
          <a:p>
            <a:fld id="{614AAC60-B24B-4714-9CA3-96F940E05C1D}" type="datetimeFigureOut">
              <a:rPr lang="tr-TR" smtClean="0"/>
              <a:t>15.12.2025</a:t>
            </a:fld>
            <a:endParaRPr lang="tr-TR"/>
          </a:p>
        </p:txBody>
      </p:sp>
      <p:sp>
        <p:nvSpPr>
          <p:cNvPr id="5" name="Alt Bilgi Yer Tutucusu 4">
            <a:extLst>
              <a:ext uri="{FF2B5EF4-FFF2-40B4-BE49-F238E27FC236}">
                <a16:creationId xmlns:a16="http://schemas.microsoft.com/office/drawing/2014/main" id="{374D10C7-5284-5602-4FBB-CE6ABD63BF81}"/>
              </a:ext>
            </a:extLst>
          </p:cNvPr>
          <p:cNvSpPr>
            <a:spLocks noGrp="1"/>
          </p:cNvSpPr>
          <p:nvPr>
            <p:ph type="ftr" sz="quarter" idx="11"/>
          </p:nvPr>
        </p:nvSpPr>
        <p:spPr/>
        <p:txBody>
          <a:bodyPr/>
          <a:lstStyle/>
          <a:p>
            <a:endParaRPr lang="tr-TR"/>
          </a:p>
        </p:txBody>
      </p:sp>
      <p:sp>
        <p:nvSpPr>
          <p:cNvPr id="6" name="Slayt Numarası Yer Tutucusu 5">
            <a:extLst>
              <a:ext uri="{FF2B5EF4-FFF2-40B4-BE49-F238E27FC236}">
                <a16:creationId xmlns:a16="http://schemas.microsoft.com/office/drawing/2014/main" id="{36FD6AD3-7064-B30E-A6D1-6C8A0AEFCDF6}"/>
              </a:ext>
            </a:extLst>
          </p:cNvPr>
          <p:cNvSpPr>
            <a:spLocks noGrp="1"/>
          </p:cNvSpPr>
          <p:nvPr>
            <p:ph type="sldNum" sz="quarter" idx="12"/>
          </p:nvPr>
        </p:nvSpPr>
        <p:spPr/>
        <p:txBody>
          <a:bodyPr/>
          <a:lstStyle/>
          <a:p>
            <a:fld id="{F520A4F3-F8F6-4035-9C98-4D5B17EE29B7}" type="slidenum">
              <a:rPr lang="tr-TR" smtClean="0"/>
              <a:t>‹#›</a:t>
            </a:fld>
            <a:endParaRPr lang="tr-TR"/>
          </a:p>
        </p:txBody>
      </p:sp>
    </p:spTree>
    <p:extLst>
      <p:ext uri="{BB962C8B-B14F-4D97-AF65-F5344CB8AC3E}">
        <p14:creationId xmlns:p14="http://schemas.microsoft.com/office/powerpoint/2010/main" val="4111566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a:extLst>
              <a:ext uri="{FF2B5EF4-FFF2-40B4-BE49-F238E27FC236}">
                <a16:creationId xmlns:a16="http://schemas.microsoft.com/office/drawing/2014/main" id="{B987C440-EE3D-8EEF-E3C2-5BC65EA04AB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tr-TR"/>
              <a:t>Asıl başlık stilini düzenlemek için tıklayın</a:t>
            </a:r>
          </a:p>
        </p:txBody>
      </p:sp>
      <p:sp>
        <p:nvSpPr>
          <p:cNvPr id="3" name="Metin Yer Tutucusu 2">
            <a:extLst>
              <a:ext uri="{FF2B5EF4-FFF2-40B4-BE49-F238E27FC236}">
                <a16:creationId xmlns:a16="http://schemas.microsoft.com/office/drawing/2014/main" id="{548BB82D-2BB8-9C9A-4EE9-3C6E223BF90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p>
        </p:txBody>
      </p:sp>
      <p:sp>
        <p:nvSpPr>
          <p:cNvPr id="4" name="Veri Yer Tutucusu 3">
            <a:extLst>
              <a:ext uri="{FF2B5EF4-FFF2-40B4-BE49-F238E27FC236}">
                <a16:creationId xmlns:a16="http://schemas.microsoft.com/office/drawing/2014/main" id="{54B0A3D3-380E-C1C0-4624-E091C679B1E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14AAC60-B24B-4714-9CA3-96F940E05C1D}" type="datetimeFigureOut">
              <a:rPr lang="tr-TR" smtClean="0"/>
              <a:t>15.12.2025</a:t>
            </a:fld>
            <a:endParaRPr lang="tr-TR"/>
          </a:p>
        </p:txBody>
      </p:sp>
      <p:sp>
        <p:nvSpPr>
          <p:cNvPr id="5" name="Alt Bilgi Yer Tutucusu 4">
            <a:extLst>
              <a:ext uri="{FF2B5EF4-FFF2-40B4-BE49-F238E27FC236}">
                <a16:creationId xmlns:a16="http://schemas.microsoft.com/office/drawing/2014/main" id="{E326E8E8-C06B-8587-1D9B-0496BBBC94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tr-TR"/>
          </a:p>
        </p:txBody>
      </p:sp>
      <p:sp>
        <p:nvSpPr>
          <p:cNvPr id="6" name="Slayt Numarası Yer Tutucusu 5">
            <a:extLst>
              <a:ext uri="{FF2B5EF4-FFF2-40B4-BE49-F238E27FC236}">
                <a16:creationId xmlns:a16="http://schemas.microsoft.com/office/drawing/2014/main" id="{D95D9AF4-7D1E-6011-6C3E-808B74B3E79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520A4F3-F8F6-4035-9C98-4D5B17EE29B7}" type="slidenum">
              <a:rPr lang="tr-TR" smtClean="0"/>
              <a:t>‹#›</a:t>
            </a:fld>
            <a:endParaRPr lang="tr-TR"/>
          </a:p>
        </p:txBody>
      </p:sp>
    </p:spTree>
    <p:extLst>
      <p:ext uri="{BB962C8B-B14F-4D97-AF65-F5344CB8AC3E}">
        <p14:creationId xmlns:p14="http://schemas.microsoft.com/office/powerpoint/2010/main" val="9440598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AB01A9A0-708E-10C2-81CF-ABF847BF54BE}"/>
              </a:ext>
            </a:extLst>
          </p:cNvPr>
          <p:cNvSpPr>
            <a:spLocks noGrp="1"/>
          </p:cNvSpPr>
          <p:nvPr>
            <p:ph type="ctrTitle"/>
          </p:nvPr>
        </p:nvSpPr>
        <p:spPr/>
        <p:txBody>
          <a:bodyPr/>
          <a:lstStyle/>
          <a:p>
            <a:r>
              <a:rPr lang="tr-TR" dirty="0"/>
              <a:t>Girişimcilik </a:t>
            </a:r>
          </a:p>
        </p:txBody>
      </p:sp>
      <p:sp>
        <p:nvSpPr>
          <p:cNvPr id="3" name="Alt Başlık 2">
            <a:extLst>
              <a:ext uri="{FF2B5EF4-FFF2-40B4-BE49-F238E27FC236}">
                <a16:creationId xmlns:a16="http://schemas.microsoft.com/office/drawing/2014/main" id="{5E7BC158-6B13-F324-DF00-78D9046C1FF8}"/>
              </a:ext>
            </a:extLst>
          </p:cNvPr>
          <p:cNvSpPr>
            <a:spLocks noGrp="1"/>
          </p:cNvSpPr>
          <p:nvPr>
            <p:ph type="subTitle" idx="1"/>
          </p:nvPr>
        </p:nvSpPr>
        <p:spPr/>
        <p:txBody>
          <a:bodyPr/>
          <a:lstStyle/>
          <a:p>
            <a:r>
              <a:rPr lang="tr-TR" dirty="0"/>
              <a:t>9</a:t>
            </a:r>
          </a:p>
          <a:p>
            <a:r>
              <a:rPr lang="tr-TR" sz="2400" b="1" i="0" u="none" strike="noStrike" baseline="0" dirty="0">
                <a:latin typeface="Calibri-Bold"/>
              </a:rPr>
              <a:t>KAPASİTE KULLANIMI VE</a:t>
            </a:r>
          </a:p>
          <a:p>
            <a:r>
              <a:rPr lang="tr-TR" sz="2400" b="1" i="0" u="none" strike="noStrike" baseline="0" dirty="0">
                <a:latin typeface="Calibri-Bold"/>
              </a:rPr>
              <a:t>BAŞABAŞ NOKTASI ANALİZİ</a:t>
            </a:r>
            <a:endParaRPr lang="tr-TR" dirty="0"/>
          </a:p>
        </p:txBody>
      </p:sp>
    </p:spTree>
    <p:extLst>
      <p:ext uri="{BB962C8B-B14F-4D97-AF65-F5344CB8AC3E}">
        <p14:creationId xmlns:p14="http://schemas.microsoft.com/office/powerpoint/2010/main" val="34446569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98F8FE45-9101-25C6-A23D-4F8BF0D3FE3C}"/>
              </a:ext>
            </a:extLst>
          </p:cNvPr>
          <p:cNvSpPr>
            <a:spLocks noGrp="1"/>
          </p:cNvSpPr>
          <p:nvPr>
            <p:ph type="title"/>
          </p:nvPr>
        </p:nvSpPr>
        <p:spPr/>
        <p:txBody>
          <a:bodyPr/>
          <a:lstStyle/>
          <a:p>
            <a:r>
              <a:rPr lang="tr-TR" sz="4400" b="1" i="0" u="none" strike="noStrike" baseline="0" dirty="0">
                <a:latin typeface="Calibri-Bold"/>
              </a:rPr>
              <a:t>KAPASİTE KAVRAMI</a:t>
            </a:r>
            <a:endParaRPr lang="tr-TR" dirty="0"/>
          </a:p>
        </p:txBody>
      </p:sp>
      <p:sp>
        <p:nvSpPr>
          <p:cNvPr id="3" name="İçerik Yer Tutucusu 2">
            <a:extLst>
              <a:ext uri="{FF2B5EF4-FFF2-40B4-BE49-F238E27FC236}">
                <a16:creationId xmlns:a16="http://schemas.microsoft.com/office/drawing/2014/main" id="{425EF539-7E7A-4611-D539-9ECEFB95CF36}"/>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Kapasite kavramı, bir işletmenin belli bir dönemde (Çoğunlukla bir yıl olarak alınır.) mevcut kaynaklarını kullanarak elde edebileceği maksimum üretim miktarını ifade eder.</a:t>
            </a:r>
          </a:p>
          <a:p>
            <a:pPr algn="l"/>
            <a:r>
              <a:rPr lang="tr-TR" sz="2800" b="0" i="0" u="none" strike="noStrike" baseline="0" dirty="0">
                <a:latin typeface="Calibri" panose="020F0502020204030204" pitchFamily="34" charset="0"/>
              </a:rPr>
              <a:t>Bir işletmenin mal ve hizmet üretebilme yetenek ve imkânlarının belli bir ölçü ile ifade edilmesine işletme kapasitesi denilmektedir. </a:t>
            </a:r>
          </a:p>
          <a:p>
            <a:pPr algn="l"/>
            <a:r>
              <a:rPr lang="tr-TR" sz="2800" b="0" i="0" u="none" strike="noStrike" baseline="0" dirty="0">
                <a:latin typeface="Calibri" panose="020F0502020204030204" pitchFamily="34" charset="0"/>
              </a:rPr>
              <a:t>Kapasite, mal ve hizmet üretebilme yeteneği ve imkânları hakkında fikir vermekte ve genellikle belirli bir zaman içindeki üretim miktarı olarak tanımlanmaktadır.</a:t>
            </a:r>
            <a:endParaRPr lang="tr-TR" dirty="0"/>
          </a:p>
        </p:txBody>
      </p:sp>
    </p:spTree>
    <p:extLst>
      <p:ext uri="{BB962C8B-B14F-4D97-AF65-F5344CB8AC3E}">
        <p14:creationId xmlns:p14="http://schemas.microsoft.com/office/powerpoint/2010/main" val="3692301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1F2F3E4-A4F0-CC11-D7D1-2C228E68CA59}"/>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842CDAAB-5440-D1FD-308F-73178B48AFA2}"/>
              </a:ext>
            </a:extLst>
          </p:cNvPr>
          <p:cNvSpPr>
            <a:spLocks noGrp="1"/>
          </p:cNvSpPr>
          <p:nvPr>
            <p:ph idx="1"/>
          </p:nvPr>
        </p:nvSpPr>
        <p:spPr/>
        <p:txBody>
          <a:bodyPr/>
          <a:lstStyle/>
          <a:p>
            <a:pPr algn="l"/>
            <a:r>
              <a:rPr lang="tr-TR" sz="2800" b="0" i="0" u="none" strike="noStrike" baseline="0" dirty="0">
                <a:latin typeface="Calibri" panose="020F0502020204030204" pitchFamily="34" charset="0"/>
              </a:rPr>
              <a:t>İnsanlar için de kapasiteden bahsedilebilir. Normal bir insan günde sekiz saat çalışabiliyorsa bu kişinin çalışma ve iş yapma </a:t>
            </a:r>
            <a:r>
              <a:rPr lang="tr-TR" sz="2800" b="0" i="0" u="none" strike="noStrike" baseline="0" dirty="0" err="1">
                <a:latin typeface="Calibri" panose="020F0502020204030204" pitchFamily="34" charset="0"/>
              </a:rPr>
              <a:t>yeteneğisekiz</a:t>
            </a:r>
            <a:r>
              <a:rPr lang="tr-TR" sz="2800" b="0" i="0" u="none" strike="noStrike" baseline="0" dirty="0">
                <a:latin typeface="Calibri" panose="020F0502020204030204" pitchFamily="34" charset="0"/>
              </a:rPr>
              <a:t> saat demektir. </a:t>
            </a:r>
          </a:p>
          <a:p>
            <a:pPr algn="l"/>
            <a:r>
              <a:rPr lang="tr-TR" sz="2800" b="0" i="0" u="none" strike="noStrike" baseline="0" dirty="0">
                <a:latin typeface="Calibri" panose="020F0502020204030204" pitchFamily="34" charset="0"/>
              </a:rPr>
              <a:t>Bir makine günde aralıksız olarak en fazla on sekiz saat çalışabiliyorsa bu makinenin günlük kapasitesi de on sekiz saattir. </a:t>
            </a:r>
          </a:p>
          <a:p>
            <a:pPr algn="l"/>
            <a:r>
              <a:rPr lang="tr-TR" sz="2800" b="0" i="0" u="none" strike="noStrike" baseline="0" dirty="0">
                <a:latin typeface="Calibri" panose="020F0502020204030204" pitchFamily="34" charset="0"/>
              </a:rPr>
              <a:t>İşletme büyüklüğü teorik bir kavram iken kapasite kavramı pratik bir kavramdır.</a:t>
            </a:r>
            <a:endParaRPr lang="tr-TR" dirty="0"/>
          </a:p>
        </p:txBody>
      </p:sp>
    </p:spTree>
    <p:extLst>
      <p:ext uri="{BB962C8B-B14F-4D97-AF65-F5344CB8AC3E}">
        <p14:creationId xmlns:p14="http://schemas.microsoft.com/office/powerpoint/2010/main" val="2388526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3D12139-2360-7CA0-E0BE-D5F54A659FA8}"/>
              </a:ext>
            </a:extLst>
          </p:cNvPr>
          <p:cNvSpPr>
            <a:spLocks noGrp="1"/>
          </p:cNvSpPr>
          <p:nvPr>
            <p:ph idx="1"/>
          </p:nvPr>
        </p:nvSpPr>
        <p:spPr/>
        <p:txBody>
          <a:bodyPr/>
          <a:lstStyle/>
          <a:p>
            <a:pPr algn="l"/>
            <a:r>
              <a:rPr lang="tr-TR" sz="2800" b="0" i="0" u="none" strike="noStrike" baseline="0" dirty="0">
                <a:solidFill>
                  <a:srgbClr val="FF0000"/>
                </a:solidFill>
                <a:latin typeface="Calibri" panose="020F0502020204030204" pitchFamily="34" charset="0"/>
              </a:rPr>
              <a:t>Bir işletmenin para, ham madde, malzeme, makine, iş gücü, doğa ve bilgi gibi üretim faktörlerini en iyi ve en uygun biçimde bir araya getirerek belirli bir dönem içinde ürettiği mal ve hizmet miktarı, o işletmenin kapasitesini ifade etmektedir.</a:t>
            </a:r>
            <a:endParaRPr lang="tr-TR" dirty="0">
              <a:solidFill>
                <a:srgbClr val="FF0000"/>
              </a:solidFill>
            </a:endParaRPr>
          </a:p>
        </p:txBody>
      </p:sp>
    </p:spTree>
    <p:extLst>
      <p:ext uri="{BB962C8B-B14F-4D97-AF65-F5344CB8AC3E}">
        <p14:creationId xmlns:p14="http://schemas.microsoft.com/office/powerpoint/2010/main" val="9993891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292C63C9-9EDC-408E-9D78-AD4E29649E1F}"/>
              </a:ext>
            </a:extLst>
          </p:cNvPr>
          <p:cNvSpPr>
            <a:spLocks noGrp="1"/>
          </p:cNvSpPr>
          <p:nvPr>
            <p:ph type="title"/>
          </p:nvPr>
        </p:nvSpPr>
        <p:spPr/>
        <p:txBody>
          <a:bodyPr/>
          <a:lstStyle/>
          <a:p>
            <a:r>
              <a:rPr lang="tr-TR" sz="4400" b="1" i="0" u="none" strike="noStrike" baseline="0" dirty="0">
                <a:latin typeface="Calibri-Bold"/>
              </a:rPr>
              <a:t>KAPASİTE TÜRLERİ</a:t>
            </a:r>
            <a:endParaRPr lang="tr-TR" dirty="0"/>
          </a:p>
        </p:txBody>
      </p:sp>
      <p:sp>
        <p:nvSpPr>
          <p:cNvPr id="3" name="İçerik Yer Tutucusu 2">
            <a:extLst>
              <a:ext uri="{FF2B5EF4-FFF2-40B4-BE49-F238E27FC236}">
                <a16:creationId xmlns:a16="http://schemas.microsoft.com/office/drawing/2014/main" id="{9D0A74E8-46FC-159F-BC82-A46B4FD53283}"/>
              </a:ext>
            </a:extLst>
          </p:cNvPr>
          <p:cNvSpPr>
            <a:spLocks noGrp="1"/>
          </p:cNvSpPr>
          <p:nvPr>
            <p:ph idx="1"/>
          </p:nvPr>
        </p:nvSpPr>
        <p:spPr/>
        <p:txBody>
          <a:bodyPr/>
          <a:lstStyle/>
          <a:p>
            <a:pPr algn="l"/>
            <a:r>
              <a:rPr lang="tr-TR" sz="2800" b="0" i="0" u="none" strike="noStrike" baseline="0" dirty="0">
                <a:latin typeface="Calibri" panose="020F0502020204030204" pitchFamily="34" charset="0"/>
              </a:rPr>
              <a:t>Bir işletmenin kapasitesini ifade etmek için, değişik sınıflamalar kullanılmaktadır. Bunların en bilineni kapasitenin beş başlık altında incelendiği sınıflamadır.</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Teorik (maksimum) kapasite,</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Normal (pratik) kapasite,</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Gerçek (fiilî) kapasite,</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Atıl (boş) kapasite ve</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Zorlanmış kapasite</a:t>
            </a:r>
            <a:endParaRPr lang="tr-TR" dirty="0"/>
          </a:p>
        </p:txBody>
      </p:sp>
    </p:spTree>
    <p:extLst>
      <p:ext uri="{BB962C8B-B14F-4D97-AF65-F5344CB8AC3E}">
        <p14:creationId xmlns:p14="http://schemas.microsoft.com/office/powerpoint/2010/main" val="2150191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EF1B3EC-70B0-B796-E764-693E88FE3468}"/>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İşletmeler, sahip oldukları kaynaklardan her zaman tam olarak yararlanamaz. Çünkü makine bozulmaları, </a:t>
            </a:r>
            <a:r>
              <a:rPr lang="tr-TR" sz="2800" b="0" i="0" u="none" strike="noStrike" baseline="0" dirty="0" err="1">
                <a:latin typeface="Calibri" panose="020F0502020204030204" pitchFamily="34" charset="0"/>
              </a:rPr>
              <a:t>işgörenlerin</a:t>
            </a:r>
            <a:r>
              <a:rPr lang="tr-TR" sz="2800" b="0" i="0" u="none" strike="noStrike" baseline="0" dirty="0">
                <a:latin typeface="Calibri" panose="020F0502020204030204" pitchFamily="34" charset="0"/>
              </a:rPr>
              <a:t> kanuni izin ve sağlık problemleri ile enerji kesintileri ve talep azlığı gibi nedenler, işte aksamalara neden olmaktadır.</a:t>
            </a:r>
          </a:p>
          <a:p>
            <a:pPr algn="l"/>
            <a:r>
              <a:rPr lang="tr-TR" sz="2800" b="0" i="0" u="none" strike="noStrike" baseline="0" dirty="0">
                <a:latin typeface="Calibri" panose="020F0502020204030204" pitchFamily="34" charset="0"/>
              </a:rPr>
              <a:t>Bazen çeşitli dış etkenlerden kaynaklanan veya sermaye yetersizliği gibi işletmenin bazı unsurlarındaki eksiklikler, üretim miktarını kurulu ölçeğin aşağısına çekebilmektedir. </a:t>
            </a:r>
          </a:p>
          <a:p>
            <a:pPr algn="l"/>
            <a:r>
              <a:rPr lang="tr-TR" sz="2800" b="0" i="0" u="none" strike="noStrike" baseline="0" dirty="0">
                <a:latin typeface="Calibri" panose="020F0502020204030204" pitchFamily="34" charset="0"/>
              </a:rPr>
              <a:t>Böylelikle karşımıza, işletme kaynaklarının tam olarak kullanıldığı, bazılarının atıl bırakıldığı veya kabul edilebilir aksamalar göz önüne alınarak belirlenen farklı kapasite kavramları çıkmaktadır.</a:t>
            </a:r>
            <a:endParaRPr lang="tr-TR" dirty="0"/>
          </a:p>
        </p:txBody>
      </p:sp>
    </p:spTree>
    <p:extLst>
      <p:ext uri="{BB962C8B-B14F-4D97-AF65-F5344CB8AC3E}">
        <p14:creationId xmlns:p14="http://schemas.microsoft.com/office/powerpoint/2010/main" val="4067723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910ED19-B05B-240A-3789-6C5F05229D4B}"/>
              </a:ext>
            </a:extLst>
          </p:cNvPr>
          <p:cNvSpPr>
            <a:spLocks noGrp="1"/>
          </p:cNvSpPr>
          <p:nvPr>
            <p:ph type="title"/>
          </p:nvPr>
        </p:nvSpPr>
        <p:spPr/>
        <p:txBody>
          <a:bodyPr/>
          <a:lstStyle/>
          <a:p>
            <a:r>
              <a:rPr lang="tr-TR" sz="4400" b="1" i="0" u="none" strike="noStrike" baseline="0" dirty="0">
                <a:latin typeface="Calibri-Bold"/>
              </a:rPr>
              <a:t>Teorik (Maksimum) Kapasite</a:t>
            </a:r>
            <a:endParaRPr lang="tr-TR" dirty="0"/>
          </a:p>
        </p:txBody>
      </p:sp>
      <p:sp>
        <p:nvSpPr>
          <p:cNvPr id="3" name="İçerik Yer Tutucusu 2">
            <a:extLst>
              <a:ext uri="{FF2B5EF4-FFF2-40B4-BE49-F238E27FC236}">
                <a16:creationId xmlns:a16="http://schemas.microsoft.com/office/drawing/2014/main" id="{88B68AC4-FFB2-204F-F43F-D61AD9CF185B}"/>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Bir işletmede, iş gücü, makine ve diğer tüm üretim faktörlerinin hiçbir aksama olmaksızın kullanımı sonucunda elde edeceği üretim miktarını gösteren kapasitedir.</a:t>
            </a:r>
          </a:p>
          <a:p>
            <a:pPr algn="l"/>
            <a:r>
              <a:rPr lang="tr-TR" sz="2800" b="0" i="0" u="none" strike="noStrike" baseline="0" dirty="0">
                <a:latin typeface="Calibri" panose="020F0502020204030204" pitchFamily="34" charset="0"/>
              </a:rPr>
              <a:t>Bir lastik fabrikasının yılda hiç arıza vermeden üretebileceği toplam lastik adedi 5.000.000 adet ise bu rakam teorik kapasiteyi oluşturmaktadır. </a:t>
            </a:r>
          </a:p>
          <a:p>
            <a:pPr algn="l"/>
            <a:r>
              <a:rPr lang="tr-TR" sz="2800" b="0" i="0" u="none" strike="noStrike" baseline="0" dirty="0">
                <a:latin typeface="Calibri" panose="020F0502020204030204" pitchFamily="34" charset="0"/>
              </a:rPr>
              <a:t>Ya da bir hizmet işletmesinin belirli bir dönemde sağlayacağı en yüksek hizmet anlamında; örneğin; herhangi bir hastane için hastalara ayıracağı toplam oda/yatak sayısı, bir lokantanın toplam masa sayısı bu tür kapasiteyi belirtmektedir.</a:t>
            </a:r>
            <a:endParaRPr lang="tr-TR" dirty="0"/>
          </a:p>
        </p:txBody>
      </p:sp>
    </p:spTree>
    <p:extLst>
      <p:ext uri="{BB962C8B-B14F-4D97-AF65-F5344CB8AC3E}">
        <p14:creationId xmlns:p14="http://schemas.microsoft.com/office/powerpoint/2010/main" val="3634825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44B09B11-2B05-41CC-1FD0-C37DE203B74D}"/>
              </a:ext>
            </a:extLst>
          </p:cNvPr>
          <p:cNvSpPr>
            <a:spLocks noGrp="1"/>
          </p:cNvSpPr>
          <p:nvPr>
            <p:ph type="title"/>
          </p:nvPr>
        </p:nvSpPr>
        <p:spPr/>
        <p:txBody>
          <a:bodyPr/>
          <a:lstStyle/>
          <a:p>
            <a:r>
              <a:rPr lang="tr-TR" sz="4400" b="1" i="0" u="none" strike="noStrike" baseline="0" dirty="0">
                <a:latin typeface="Calibri-Bold"/>
              </a:rPr>
              <a:t>Normal (Pratik) Kapasite</a:t>
            </a:r>
            <a:endParaRPr lang="tr-TR" dirty="0"/>
          </a:p>
        </p:txBody>
      </p:sp>
      <p:sp>
        <p:nvSpPr>
          <p:cNvPr id="3" name="İçerik Yer Tutucusu 2">
            <a:extLst>
              <a:ext uri="{FF2B5EF4-FFF2-40B4-BE49-F238E27FC236}">
                <a16:creationId xmlns:a16="http://schemas.microsoft.com/office/drawing/2014/main" id="{42962DDD-574F-966D-99CD-5884DFF828D4}"/>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Normal kapasite, gerek iş gücünden gerekse diğer üretim faktörlerinden kaynaklanacak kabul edilebilir aksamalar göz önüne alınarak hesaplanan kapasitedir.</a:t>
            </a:r>
          </a:p>
        </p:txBody>
      </p:sp>
    </p:spTree>
    <p:extLst>
      <p:ext uri="{BB962C8B-B14F-4D97-AF65-F5344CB8AC3E}">
        <p14:creationId xmlns:p14="http://schemas.microsoft.com/office/powerpoint/2010/main" val="2738697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CCCCB4AE-99E3-6931-4948-061616979AE9}"/>
              </a:ext>
            </a:extLst>
          </p:cNvPr>
          <p:cNvSpPr>
            <a:spLocks noGrp="1"/>
          </p:cNvSpPr>
          <p:nvPr>
            <p:ph type="title"/>
          </p:nvPr>
        </p:nvSpPr>
        <p:spPr/>
        <p:txBody>
          <a:bodyPr/>
          <a:lstStyle/>
          <a:p>
            <a:r>
              <a:rPr lang="tr-TR" sz="4400" b="1" i="0" u="none" strike="noStrike" baseline="0" dirty="0">
                <a:latin typeface="Calibri-Bold"/>
              </a:rPr>
              <a:t>Zorlanmış Kapasite</a:t>
            </a:r>
            <a:endParaRPr lang="tr-TR" dirty="0"/>
          </a:p>
        </p:txBody>
      </p:sp>
      <p:sp>
        <p:nvSpPr>
          <p:cNvPr id="3" name="İçerik Yer Tutucusu 2">
            <a:extLst>
              <a:ext uri="{FF2B5EF4-FFF2-40B4-BE49-F238E27FC236}">
                <a16:creationId xmlns:a16="http://schemas.microsoft.com/office/drawing/2014/main" id="{1EA508AB-5241-4241-D5AC-77D97CADB204}"/>
              </a:ext>
            </a:extLst>
          </p:cNvPr>
          <p:cNvSpPr>
            <a:spLocks noGrp="1"/>
          </p:cNvSpPr>
          <p:nvPr>
            <p:ph idx="1"/>
          </p:nvPr>
        </p:nvSpPr>
        <p:spPr/>
        <p:txBody>
          <a:bodyPr/>
          <a:lstStyle/>
          <a:p>
            <a:pPr algn="l"/>
            <a:r>
              <a:rPr lang="tr-TR" sz="2800" b="0" i="1" u="none" strike="noStrike" baseline="0" dirty="0">
                <a:solidFill>
                  <a:srgbClr val="994806"/>
                </a:solidFill>
                <a:latin typeface="Calibri-Italic"/>
              </a:rPr>
              <a:t>Üretim miktarını geçici de olsa, normal sayılan kapasitenin üzerine çıkarabilmek amacıyla, izinlerin iptali, makine bakımlarının üretim zamanı dışında gerçekleştirilmesi gibi zorlamalarla ulaşılabilecek olan kapasitedir.</a:t>
            </a:r>
          </a:p>
          <a:p>
            <a:pPr algn="l"/>
            <a:r>
              <a:rPr lang="tr-TR" sz="2800" b="0" i="0" u="none" strike="noStrike" baseline="0" dirty="0">
                <a:latin typeface="Calibri" panose="020F0502020204030204" pitchFamily="34" charset="0"/>
              </a:rPr>
              <a:t>Zorlanmış kapasite; teorik kapasitenin normal kapasiteyi aşan kısmı olarak da tanımlanabilir.</a:t>
            </a:r>
            <a:endParaRPr lang="tr-TR" dirty="0"/>
          </a:p>
        </p:txBody>
      </p:sp>
    </p:spTree>
    <p:extLst>
      <p:ext uri="{BB962C8B-B14F-4D97-AF65-F5344CB8AC3E}">
        <p14:creationId xmlns:p14="http://schemas.microsoft.com/office/powerpoint/2010/main" val="3869815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781CE4BC-DC3F-7927-676B-ED76FDFFDB9F}"/>
              </a:ext>
            </a:extLst>
          </p:cNvPr>
          <p:cNvSpPr>
            <a:spLocks noGrp="1"/>
          </p:cNvSpPr>
          <p:nvPr>
            <p:ph type="title"/>
          </p:nvPr>
        </p:nvSpPr>
        <p:spPr/>
        <p:txBody>
          <a:bodyPr/>
          <a:lstStyle/>
          <a:p>
            <a:r>
              <a:rPr lang="tr-TR" sz="4400" b="1" i="0" u="none" strike="noStrike" baseline="0" dirty="0">
                <a:latin typeface="Calibri-Bold"/>
              </a:rPr>
              <a:t>Gerçek (Fiilî) Kapasite</a:t>
            </a:r>
            <a:endParaRPr lang="tr-TR" dirty="0"/>
          </a:p>
        </p:txBody>
      </p:sp>
      <p:sp>
        <p:nvSpPr>
          <p:cNvPr id="3" name="İçerik Yer Tutucusu 2">
            <a:extLst>
              <a:ext uri="{FF2B5EF4-FFF2-40B4-BE49-F238E27FC236}">
                <a16:creationId xmlns:a16="http://schemas.microsoft.com/office/drawing/2014/main" id="{4689EF3B-2FF6-2F6E-9106-A6BE2C825F62}"/>
              </a:ext>
            </a:extLst>
          </p:cNvPr>
          <p:cNvSpPr>
            <a:spLocks noGrp="1"/>
          </p:cNvSpPr>
          <p:nvPr>
            <p:ph idx="1"/>
          </p:nvPr>
        </p:nvSpPr>
        <p:spPr/>
        <p:txBody>
          <a:bodyPr>
            <a:normAutofit/>
          </a:bodyPr>
          <a:lstStyle/>
          <a:p>
            <a:pPr algn="l"/>
            <a:r>
              <a:rPr lang="tr-TR" sz="2800" b="0" i="1" u="none" strike="noStrike" baseline="0" dirty="0">
                <a:solidFill>
                  <a:srgbClr val="994806"/>
                </a:solidFill>
                <a:latin typeface="Calibri-Italic"/>
              </a:rPr>
              <a:t>İşletmenin belli bir dönemde, genellikle bir yılda ürettiği mal veya hizmet miktarını yani gerçekleşmiş üretim miktarını gösteren kapasitedir.</a:t>
            </a:r>
          </a:p>
          <a:p>
            <a:pPr algn="l"/>
            <a:r>
              <a:rPr lang="tr-TR" sz="2800" b="0" i="0" u="none" strike="noStrike" baseline="0" dirty="0">
                <a:latin typeface="Calibri" panose="020F0502020204030204" pitchFamily="34" charset="0"/>
              </a:rPr>
              <a:t>Bir işletmenin planlanan maksimum kapasite ile çalışması hemen hemen imkânsızdır. Bu durum ancak serbest pazar şartlarının geçerli olmadığı alanlarda söz konusu olabilir. Her işletmede üretimin aksamasına neden olan işletme içinden veya işletme dışından kaynaklanan birtakım sınırlamalar vardır.</a:t>
            </a:r>
            <a:endParaRPr lang="tr-TR" dirty="0"/>
          </a:p>
        </p:txBody>
      </p:sp>
    </p:spTree>
    <p:extLst>
      <p:ext uri="{BB962C8B-B14F-4D97-AF65-F5344CB8AC3E}">
        <p14:creationId xmlns:p14="http://schemas.microsoft.com/office/powerpoint/2010/main" val="3721201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4B046A4-2D75-F916-5103-A50C545E0256}"/>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Kimi zaman üretim süreçlerinde meydana gelen aksamalar, kimi zaman beşerî kaynaklı problemler işletmelerin maksimum kapasite ile çalışmasına engel olmaktadır. Üretim sürecinde meydana gelen aksamalar nedeniyle planlanan maksimum kapasitenin altında üretim yapılır. Bu nedenle, planlanandan farklı olarak ortaya çıkan kapasiteye, gerçek kapasite adı verilmektedir.</a:t>
            </a:r>
          </a:p>
          <a:p>
            <a:pPr algn="l"/>
            <a:r>
              <a:rPr lang="tr-TR" sz="2800" b="0" i="0" u="none" strike="noStrike" baseline="0" dirty="0">
                <a:latin typeface="Calibri" panose="020F0502020204030204" pitchFamily="34" charset="0"/>
              </a:rPr>
              <a:t>Bir işletmenin üretim için planladığı kapasite, yıllık 600.000 ton iken gerçek kapasitesi 550.000 ton olarak gerçekleşebilir. Değişik endüstri ve işletmelerin şartlarına göre farklı olmakla beraber, gerçek kapasitenin %75-80 </a:t>
            </a:r>
            <a:r>
              <a:rPr lang="tr-TR" sz="2800" b="0" i="0" u="none" strike="noStrike" baseline="0" dirty="0" err="1">
                <a:latin typeface="Calibri" panose="020F0502020204030204" pitchFamily="34" charset="0"/>
              </a:rPr>
              <a:t>civarındaolabileceği</a:t>
            </a:r>
            <a:r>
              <a:rPr lang="tr-TR" sz="2800" b="0" i="0" u="none" strike="noStrike" baseline="0" dirty="0">
                <a:latin typeface="Calibri" panose="020F0502020204030204" pitchFamily="34" charset="0"/>
              </a:rPr>
              <a:t> ileri sürülmektedir.</a:t>
            </a:r>
            <a:endParaRPr lang="tr-TR" dirty="0"/>
          </a:p>
        </p:txBody>
      </p:sp>
    </p:spTree>
    <p:extLst>
      <p:ext uri="{BB962C8B-B14F-4D97-AF65-F5344CB8AC3E}">
        <p14:creationId xmlns:p14="http://schemas.microsoft.com/office/powerpoint/2010/main" val="2519397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A74A364-1485-8B6A-7076-E777C0B9DDE2}"/>
              </a:ext>
            </a:extLst>
          </p:cNvPr>
          <p:cNvSpPr>
            <a:spLocks noGrp="1"/>
          </p:cNvSpPr>
          <p:nvPr>
            <p:ph idx="1"/>
          </p:nvPr>
        </p:nvSpPr>
        <p:spPr/>
        <p:txBody>
          <a:bodyPr/>
          <a:lstStyle/>
          <a:p>
            <a:pPr algn="l"/>
            <a:r>
              <a:rPr lang="tr-TR" sz="2800" b="0" i="0" u="none" strike="noStrike" baseline="0" dirty="0">
                <a:latin typeface="Calibri" panose="020F0502020204030204" pitchFamily="34" charset="0"/>
              </a:rPr>
              <a:t>Birçok konuda dünyaya örnek olan Japon işletmeleri bu tür azalmayı kabul etmemektedirler. Toplam Kalite Yönetimi adıyla yaptıkları çalışmalarla, bir üretim süresinde sıfır hatayı ve eksiksiz kapasiteyi hedeflemektedirler.</a:t>
            </a:r>
            <a:endParaRPr lang="tr-TR" dirty="0"/>
          </a:p>
        </p:txBody>
      </p:sp>
    </p:spTree>
    <p:extLst>
      <p:ext uri="{BB962C8B-B14F-4D97-AF65-F5344CB8AC3E}">
        <p14:creationId xmlns:p14="http://schemas.microsoft.com/office/powerpoint/2010/main" val="17457027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DC37F822-DBCD-6A6B-79E5-F788884E2C1D}"/>
              </a:ext>
            </a:extLst>
          </p:cNvPr>
          <p:cNvSpPr>
            <a:spLocks noGrp="1"/>
          </p:cNvSpPr>
          <p:nvPr>
            <p:ph type="title"/>
          </p:nvPr>
        </p:nvSpPr>
        <p:spPr/>
        <p:txBody>
          <a:bodyPr/>
          <a:lstStyle/>
          <a:p>
            <a:r>
              <a:rPr lang="tr-TR" sz="4400" b="1" i="0" u="none" strike="noStrike" baseline="0" dirty="0">
                <a:latin typeface="Calibri-Bold"/>
              </a:rPr>
              <a:t>Atıl (Boş) Kapasite</a:t>
            </a:r>
            <a:endParaRPr lang="tr-TR" dirty="0"/>
          </a:p>
        </p:txBody>
      </p:sp>
      <p:sp>
        <p:nvSpPr>
          <p:cNvPr id="3" name="İçerik Yer Tutucusu 2">
            <a:extLst>
              <a:ext uri="{FF2B5EF4-FFF2-40B4-BE49-F238E27FC236}">
                <a16:creationId xmlns:a16="http://schemas.microsoft.com/office/drawing/2014/main" id="{0FF7A309-9E29-74D2-3E70-7E26BA05FDC9}"/>
              </a:ext>
            </a:extLst>
          </p:cNvPr>
          <p:cNvSpPr>
            <a:spLocks noGrp="1"/>
          </p:cNvSpPr>
          <p:nvPr>
            <p:ph idx="1"/>
          </p:nvPr>
        </p:nvSpPr>
        <p:spPr/>
        <p:txBody>
          <a:bodyPr/>
          <a:lstStyle/>
          <a:p>
            <a:pPr algn="l"/>
            <a:r>
              <a:rPr lang="tr-TR" sz="2800" b="0" i="0" u="none" strike="noStrike" baseline="0" dirty="0">
                <a:latin typeface="Calibri" panose="020F0502020204030204" pitchFamily="34" charset="0"/>
              </a:rPr>
              <a:t>Atıl kapasite, satış miktarının kurulu ölçekten az olması veya işletme sermayesinin yetersiz olması gibi nedenlerle işletme kaynaklarının yeterince kullanılmaması sonucu ortaya çıkan, atıl kalan kaynakların kullanılması hâlinde üretilebilecek ürün miktarını gösteren kapasitedir. Atıl kapasiteye aylak kapasitede denmektedir.</a:t>
            </a:r>
          </a:p>
          <a:p>
            <a:pPr algn="l"/>
            <a:r>
              <a:rPr lang="tr-TR" sz="2800" b="0" i="1" u="none" strike="noStrike" baseline="0" dirty="0">
                <a:solidFill>
                  <a:srgbClr val="994806"/>
                </a:solidFill>
                <a:latin typeface="Calibri-Italic"/>
              </a:rPr>
              <a:t>Normal kapasitenin yararlanılmayan kısmı veya kullanılmayan kapasite</a:t>
            </a:r>
            <a:endParaRPr lang="tr-TR" dirty="0"/>
          </a:p>
        </p:txBody>
      </p:sp>
    </p:spTree>
    <p:extLst>
      <p:ext uri="{BB962C8B-B14F-4D97-AF65-F5344CB8AC3E}">
        <p14:creationId xmlns:p14="http://schemas.microsoft.com/office/powerpoint/2010/main" val="6378612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26359800-E053-EF08-8008-0EE8EF802C5E}"/>
              </a:ext>
            </a:extLst>
          </p:cNvPr>
          <p:cNvPicPr>
            <a:picLocks noGrp="1" noChangeAspect="1"/>
          </p:cNvPicPr>
          <p:nvPr>
            <p:ph idx="1"/>
          </p:nvPr>
        </p:nvPicPr>
        <p:blipFill>
          <a:blip r:embed="rId2"/>
          <a:stretch>
            <a:fillRect/>
          </a:stretch>
        </p:blipFill>
        <p:spPr>
          <a:xfrm>
            <a:off x="838199" y="866275"/>
            <a:ext cx="10515602" cy="3689684"/>
          </a:xfrm>
        </p:spPr>
      </p:pic>
      <p:pic>
        <p:nvPicPr>
          <p:cNvPr id="7" name="Resim 6">
            <a:extLst>
              <a:ext uri="{FF2B5EF4-FFF2-40B4-BE49-F238E27FC236}">
                <a16:creationId xmlns:a16="http://schemas.microsoft.com/office/drawing/2014/main" id="{B492171D-6EFC-C0A7-CB38-A13F7DED196B}"/>
              </a:ext>
            </a:extLst>
          </p:cNvPr>
          <p:cNvPicPr>
            <a:picLocks noChangeAspect="1"/>
          </p:cNvPicPr>
          <p:nvPr/>
        </p:nvPicPr>
        <p:blipFill>
          <a:blip r:embed="rId3"/>
          <a:stretch>
            <a:fillRect/>
          </a:stretch>
        </p:blipFill>
        <p:spPr>
          <a:xfrm>
            <a:off x="838201" y="4588044"/>
            <a:ext cx="10515602" cy="1716503"/>
          </a:xfrm>
          <a:prstGeom prst="rect">
            <a:avLst/>
          </a:prstGeom>
        </p:spPr>
      </p:pic>
    </p:spTree>
    <p:extLst>
      <p:ext uri="{BB962C8B-B14F-4D97-AF65-F5344CB8AC3E}">
        <p14:creationId xmlns:p14="http://schemas.microsoft.com/office/powerpoint/2010/main" val="36939252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E74AB1B2-B9A3-C166-526B-C7B7A27F8CE2}"/>
              </a:ext>
            </a:extLst>
          </p:cNvPr>
          <p:cNvSpPr>
            <a:spLocks noGrp="1"/>
          </p:cNvSpPr>
          <p:nvPr>
            <p:ph type="title"/>
          </p:nvPr>
        </p:nvSpPr>
        <p:spPr/>
        <p:txBody>
          <a:bodyPr/>
          <a:lstStyle/>
          <a:p>
            <a:endParaRPr lang="tr-TR"/>
          </a:p>
        </p:txBody>
      </p:sp>
      <p:sp>
        <p:nvSpPr>
          <p:cNvPr id="3" name="İçerik Yer Tutucusu 2">
            <a:extLst>
              <a:ext uri="{FF2B5EF4-FFF2-40B4-BE49-F238E27FC236}">
                <a16:creationId xmlns:a16="http://schemas.microsoft.com/office/drawing/2014/main" id="{156794D3-F5E0-0A58-CC0E-340D22FAC8DD}"/>
              </a:ext>
            </a:extLst>
          </p:cNvPr>
          <p:cNvSpPr>
            <a:spLocks noGrp="1"/>
          </p:cNvSpPr>
          <p:nvPr>
            <p:ph idx="1"/>
          </p:nvPr>
        </p:nvSpPr>
        <p:spPr/>
        <p:txBody>
          <a:bodyPr/>
          <a:lstStyle/>
          <a:p>
            <a:pPr algn="l"/>
            <a:r>
              <a:rPr lang="tr-TR" sz="2800" b="0" i="0" u="none" strike="noStrike" baseline="0" dirty="0">
                <a:latin typeface="Calibri" panose="020F0502020204030204" pitchFamily="34" charset="0"/>
              </a:rPr>
              <a:t>Şekil de görüleceği üzere, gerçek kapasite normal kapasitenin biraz altında gerçekleşebilmektedir. Gerçek kapasite ile normal kapasite arasındaki farka atıl kapasite denmektedir.</a:t>
            </a:r>
          </a:p>
          <a:p>
            <a:pPr algn="l"/>
            <a:r>
              <a:rPr lang="tr-TR" sz="2800" b="0" i="0" u="none" strike="noStrike" baseline="0" dirty="0">
                <a:latin typeface="Calibri" panose="020F0502020204030204" pitchFamily="34" charset="0"/>
              </a:rPr>
              <a:t>Fakat normal kapasite işletmenin gerçekleştirebileceği en üst kapasite düzeyi değildir. İşletmenin zorlanarak gerçekleştireceği bu kapasite kısmı zorlanmış kapasitedir. Normal kapasite ile zorlanmış kapasite toplandığında teorik kapasiteye ulaşılmaktadır.</a:t>
            </a:r>
            <a:endParaRPr lang="tr-TR" dirty="0"/>
          </a:p>
        </p:txBody>
      </p:sp>
    </p:spTree>
    <p:extLst>
      <p:ext uri="{BB962C8B-B14F-4D97-AF65-F5344CB8AC3E}">
        <p14:creationId xmlns:p14="http://schemas.microsoft.com/office/powerpoint/2010/main" val="1463073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831C1A2-7388-A49D-6A2D-BA57ED66ED55}"/>
              </a:ext>
            </a:extLst>
          </p:cNvPr>
          <p:cNvSpPr>
            <a:spLocks noGrp="1"/>
          </p:cNvSpPr>
          <p:nvPr>
            <p:ph type="title"/>
          </p:nvPr>
        </p:nvSpPr>
        <p:spPr/>
        <p:txBody>
          <a:bodyPr/>
          <a:lstStyle/>
          <a:p>
            <a:r>
              <a:rPr lang="tr-TR" sz="4400" b="1" i="0" u="none" strike="noStrike" baseline="0" dirty="0">
                <a:latin typeface="Calibri-Bold"/>
              </a:rPr>
              <a:t>BAŞA BAŞ NOKTASI ANALİZİ</a:t>
            </a:r>
            <a:endParaRPr lang="tr-TR" dirty="0"/>
          </a:p>
        </p:txBody>
      </p:sp>
      <p:sp>
        <p:nvSpPr>
          <p:cNvPr id="3" name="İçerik Yer Tutucusu 2">
            <a:extLst>
              <a:ext uri="{FF2B5EF4-FFF2-40B4-BE49-F238E27FC236}">
                <a16:creationId xmlns:a16="http://schemas.microsoft.com/office/drawing/2014/main" id="{8722FD95-3A7B-5ACE-068C-20E489F25324}"/>
              </a:ext>
            </a:extLst>
          </p:cNvPr>
          <p:cNvSpPr>
            <a:spLocks noGrp="1"/>
          </p:cNvSpPr>
          <p:nvPr>
            <p:ph idx="1"/>
          </p:nvPr>
        </p:nvSpPr>
        <p:spPr/>
        <p:txBody>
          <a:bodyPr/>
          <a:lstStyle/>
          <a:p>
            <a:pPr algn="l"/>
            <a:r>
              <a:rPr lang="tr-TR" sz="2800" b="0" i="1" u="none" strike="noStrike" baseline="0" dirty="0">
                <a:solidFill>
                  <a:srgbClr val="994806"/>
                </a:solidFill>
                <a:latin typeface="Calibri-Italic"/>
              </a:rPr>
              <a:t>Başa Baş Noktası Analizi, işletme kapasitesinin veya ölçeğinin belirlenmesinde yararlanılan, basit ama bir o kadar kullanışlı ve yararlı bir grafik araçtır.</a:t>
            </a:r>
          </a:p>
          <a:p>
            <a:pPr algn="l"/>
            <a:r>
              <a:rPr lang="tr-TR" sz="2800" b="0" i="0" u="none" strike="noStrike" baseline="0" dirty="0">
                <a:latin typeface="Calibri" panose="020F0502020204030204" pitchFamily="34" charset="0"/>
              </a:rPr>
              <a:t>Bu analiz, hangi üretim veya kapasite düzeyinde işletmenin kârsız (başa baş), hangilerinde ise zarar ve kâr durumunda olacağını ortaya koyan bir kapasite belirleme aracıdır.</a:t>
            </a:r>
            <a:endParaRPr lang="tr-TR" dirty="0"/>
          </a:p>
        </p:txBody>
      </p:sp>
    </p:spTree>
    <p:extLst>
      <p:ext uri="{BB962C8B-B14F-4D97-AF65-F5344CB8AC3E}">
        <p14:creationId xmlns:p14="http://schemas.microsoft.com/office/powerpoint/2010/main" val="289813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6A3984BF-0FAE-3A56-4A6C-E42DCF20F9F1}"/>
              </a:ext>
            </a:extLst>
          </p:cNvPr>
          <p:cNvPicPr>
            <a:picLocks noGrp="1" noChangeAspect="1"/>
          </p:cNvPicPr>
          <p:nvPr>
            <p:ph sz="half" idx="1"/>
          </p:nvPr>
        </p:nvPicPr>
        <p:blipFill>
          <a:blip r:embed="rId2"/>
          <a:stretch>
            <a:fillRect/>
          </a:stretch>
        </p:blipFill>
        <p:spPr>
          <a:xfrm>
            <a:off x="256674" y="633301"/>
            <a:ext cx="5453410" cy="4646999"/>
          </a:xfrm>
        </p:spPr>
      </p:pic>
      <p:sp>
        <p:nvSpPr>
          <p:cNvPr id="7" name="İçerik Yer Tutucusu 6">
            <a:extLst>
              <a:ext uri="{FF2B5EF4-FFF2-40B4-BE49-F238E27FC236}">
                <a16:creationId xmlns:a16="http://schemas.microsoft.com/office/drawing/2014/main" id="{CBFAF915-598B-3429-EF91-9062DAB64097}"/>
              </a:ext>
            </a:extLst>
          </p:cNvPr>
          <p:cNvSpPr>
            <a:spLocks noGrp="1"/>
          </p:cNvSpPr>
          <p:nvPr>
            <p:ph sz="half" idx="2"/>
          </p:nvPr>
        </p:nvSpPr>
        <p:spPr>
          <a:xfrm>
            <a:off x="6172200" y="543927"/>
            <a:ext cx="5181600" cy="4910390"/>
          </a:xfrm>
        </p:spPr>
        <p:txBody>
          <a:bodyPr>
            <a:normAutofit fontScale="77500" lnSpcReduction="20000"/>
          </a:bodyPr>
          <a:lstStyle/>
          <a:p>
            <a:pPr algn="l"/>
            <a:r>
              <a:rPr lang="tr-TR" sz="2800" b="0" i="0" u="none" strike="noStrike" baseline="0" dirty="0">
                <a:latin typeface="Calibri" panose="020F0502020204030204" pitchFamily="34" charset="0"/>
              </a:rPr>
              <a:t>Şekil de dikey eksende Toplam Gelir (TG) ve Toplam Maliyet (TM), yatay eksende ise üretim miktarı gösterilmiştir.</a:t>
            </a:r>
          </a:p>
          <a:p>
            <a:pPr algn="l"/>
            <a:r>
              <a:rPr lang="tr-TR" sz="2800" b="0" i="0" u="none" strike="noStrike" baseline="0" dirty="0">
                <a:latin typeface="Calibri" panose="020F0502020204030204" pitchFamily="34" charset="0"/>
              </a:rPr>
              <a:t>TG, üretim ve satışla birlikte gelir elde edilmeye başlanacağı için orijinden başlayarak üretim ve satış miktarı arttıkça ürünün fiyatı ile doğru orantılı olarak artan, Toplam Geliri gösteren doğrusal bir eğridir.</a:t>
            </a:r>
          </a:p>
          <a:p>
            <a:pPr algn="l"/>
            <a:r>
              <a:rPr lang="tr-TR" sz="2800" b="0" i="0" u="none" strike="noStrike" baseline="0" dirty="0">
                <a:latin typeface="Calibri" panose="020F0502020204030204" pitchFamily="34" charset="0"/>
              </a:rPr>
              <a:t>TM ise, üretim miktarı ile ilişkili olmayan, üretim olsun veya olmasın katlanılan sabit maliyetlerden dolayı, orijinden daha yukarıdan başlayarak üretim miktarı ile ilişkili olarak değişen değişken maliyetlerle orantılı olarak artarak doğrusal bir seyir takip eden Toplam Maliyeti göstermektedir.</a:t>
            </a:r>
            <a:endParaRPr lang="tr-TR" dirty="0"/>
          </a:p>
        </p:txBody>
      </p:sp>
      <p:sp>
        <p:nvSpPr>
          <p:cNvPr id="8" name="Metin kutusu 7">
            <a:extLst>
              <a:ext uri="{FF2B5EF4-FFF2-40B4-BE49-F238E27FC236}">
                <a16:creationId xmlns:a16="http://schemas.microsoft.com/office/drawing/2014/main" id="{431DCD56-B8AD-63EE-7A43-3DAC884F0478}"/>
              </a:ext>
            </a:extLst>
          </p:cNvPr>
          <p:cNvSpPr txBox="1"/>
          <p:nvPr/>
        </p:nvSpPr>
        <p:spPr>
          <a:xfrm>
            <a:off x="1030705" y="6040033"/>
            <a:ext cx="7732295" cy="369332"/>
          </a:xfrm>
          <a:prstGeom prst="rect">
            <a:avLst/>
          </a:prstGeom>
          <a:noFill/>
        </p:spPr>
        <p:txBody>
          <a:bodyPr wrap="square" rtlCol="0">
            <a:spAutoFit/>
          </a:bodyPr>
          <a:lstStyle/>
          <a:p>
            <a:r>
              <a:rPr lang="tr-TR" sz="1800" b="0" i="0" u="none" strike="noStrike" baseline="0" dirty="0">
                <a:latin typeface="Calibri" panose="020F0502020204030204" pitchFamily="34" charset="0"/>
              </a:rPr>
              <a:t>Q</a:t>
            </a:r>
            <a:r>
              <a:rPr lang="tr-TR" sz="800" b="0" i="0" u="none" strike="noStrike" baseline="0" dirty="0">
                <a:latin typeface="Calibri" panose="020F0502020204030204" pitchFamily="34" charset="0"/>
              </a:rPr>
              <a:t>*</a:t>
            </a:r>
            <a:r>
              <a:rPr lang="tr-TR" sz="1800" b="0" i="0" u="none" strike="noStrike" baseline="0" dirty="0">
                <a:latin typeface="Calibri" panose="020F0502020204030204" pitchFamily="34" charset="0"/>
              </a:rPr>
              <a:t>= (Toplam Sabit Maliyet)/(Fiyat - Ortalama Değişken Maliyet)</a:t>
            </a:r>
            <a:endParaRPr lang="tr-TR" dirty="0"/>
          </a:p>
        </p:txBody>
      </p:sp>
      <p:sp>
        <p:nvSpPr>
          <p:cNvPr id="9" name="Metin kutusu 8">
            <a:extLst>
              <a:ext uri="{FF2B5EF4-FFF2-40B4-BE49-F238E27FC236}">
                <a16:creationId xmlns:a16="http://schemas.microsoft.com/office/drawing/2014/main" id="{D82E998D-2DD5-4B5A-06B0-9E93B1659760}"/>
              </a:ext>
            </a:extLst>
          </p:cNvPr>
          <p:cNvSpPr txBox="1"/>
          <p:nvPr/>
        </p:nvSpPr>
        <p:spPr>
          <a:xfrm>
            <a:off x="256674" y="5534160"/>
            <a:ext cx="11518231" cy="369332"/>
          </a:xfrm>
          <a:prstGeom prst="rect">
            <a:avLst/>
          </a:prstGeom>
          <a:noFill/>
        </p:spPr>
        <p:txBody>
          <a:bodyPr wrap="square" rtlCol="0">
            <a:spAutoFit/>
          </a:bodyPr>
          <a:lstStyle/>
          <a:p>
            <a:pPr algn="l"/>
            <a:r>
              <a:rPr lang="tr-TR" sz="1800" b="0" i="0" u="none" strike="noStrike" baseline="0" dirty="0">
                <a:latin typeface="Calibri" panose="020F0502020204030204" pitchFamily="34" charset="0"/>
              </a:rPr>
              <a:t>Başa baş noktası üretim miktarı, maliyet kalemlerinin bilinmesi hâlinde, aşağıdaki formül ile hesaplanır.</a:t>
            </a:r>
            <a:endParaRPr lang="tr-TR" dirty="0"/>
          </a:p>
        </p:txBody>
      </p:sp>
    </p:spTree>
    <p:extLst>
      <p:ext uri="{BB962C8B-B14F-4D97-AF65-F5344CB8AC3E}">
        <p14:creationId xmlns:p14="http://schemas.microsoft.com/office/powerpoint/2010/main" val="31471298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5AEBE8E-0EFA-A29D-A0A1-F8EA864A4A64}"/>
              </a:ext>
            </a:extLst>
          </p:cNvPr>
          <p:cNvSpPr>
            <a:spLocks noGrp="1"/>
          </p:cNvSpPr>
          <p:nvPr>
            <p:ph type="title"/>
          </p:nvPr>
        </p:nvSpPr>
        <p:spPr>
          <a:xfrm>
            <a:off x="838200" y="365126"/>
            <a:ext cx="10515600" cy="805948"/>
          </a:xfrm>
        </p:spPr>
        <p:txBody>
          <a:bodyPr>
            <a:normAutofit/>
          </a:bodyPr>
          <a:lstStyle/>
          <a:p>
            <a:r>
              <a:rPr lang="tr-TR" sz="2800" b="1" i="0" u="none" strike="noStrike" baseline="0" dirty="0">
                <a:latin typeface="Calibri-Bold"/>
              </a:rPr>
              <a:t>OPTİMUM KAPASİTE ve UYGUN KURULUŞ ÖLÇEĞİNİN SEÇİMİ</a:t>
            </a:r>
            <a:endParaRPr lang="tr-TR" sz="2800" dirty="0"/>
          </a:p>
        </p:txBody>
      </p:sp>
      <p:sp>
        <p:nvSpPr>
          <p:cNvPr id="3" name="İçerik Yer Tutucusu 2">
            <a:extLst>
              <a:ext uri="{FF2B5EF4-FFF2-40B4-BE49-F238E27FC236}">
                <a16:creationId xmlns:a16="http://schemas.microsoft.com/office/drawing/2014/main" id="{18544328-C262-4FCA-1B42-50DA81475F97}"/>
              </a:ext>
            </a:extLst>
          </p:cNvPr>
          <p:cNvSpPr>
            <a:spLocks noGrp="1"/>
          </p:cNvSpPr>
          <p:nvPr>
            <p:ph sz="half" idx="1"/>
          </p:nvPr>
        </p:nvSpPr>
        <p:spPr/>
        <p:txBody>
          <a:bodyPr>
            <a:normAutofit fontScale="92500" lnSpcReduction="20000"/>
          </a:bodyPr>
          <a:lstStyle/>
          <a:p>
            <a:pPr algn="l"/>
            <a:r>
              <a:rPr lang="tr-TR" sz="3000" b="0" i="1" u="none" strike="noStrike" baseline="0" dirty="0">
                <a:solidFill>
                  <a:srgbClr val="994806"/>
                </a:solidFill>
                <a:latin typeface="Calibri-Italic"/>
              </a:rPr>
              <a:t>Optimum kapasite, bir işletmenin üretebileceği ürün miktarını yani kurulu ölçeği ile ulaşabileceği üretim düzeyini, en düşük maliyetle elde edebileceği kapasitedir. </a:t>
            </a:r>
          </a:p>
          <a:p>
            <a:pPr algn="l"/>
            <a:r>
              <a:rPr lang="tr-TR" sz="3000" b="0" i="1" u="none" strike="noStrike" baseline="0" dirty="0">
                <a:solidFill>
                  <a:srgbClr val="994806"/>
                </a:solidFill>
                <a:latin typeface="Calibri-Italic"/>
              </a:rPr>
              <a:t>Bir diğer deyişle birim maliyetleri minimum kılan kapasitedir.</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tr-TR" sz="3000" b="0" i="1" u="none" strike="noStrike" kern="1200" cap="none" spc="0" normalizeH="0" baseline="0" noProof="0" dirty="0">
                <a:ln>
                  <a:noFill/>
                </a:ln>
                <a:solidFill>
                  <a:srgbClr val="994806"/>
                </a:solidFill>
                <a:effectLst/>
                <a:uLnTx/>
                <a:uFillTx/>
                <a:latin typeface="Calibri-Italic"/>
                <a:ea typeface="+mn-ea"/>
                <a:cs typeface="+mn-cs"/>
              </a:rPr>
              <a:t>Ölçek, kapasite tanımından anlaşılacağı üzere, bir işletmenin sahip olduğu nitel ve nicel tüm değerlerin toplamıdır. </a:t>
            </a:r>
          </a:p>
          <a:p>
            <a:pPr algn="l"/>
            <a:endParaRPr lang="tr-TR" dirty="0"/>
          </a:p>
        </p:txBody>
      </p:sp>
      <p:sp>
        <p:nvSpPr>
          <p:cNvPr id="4" name="İçerik Yer Tutucusu 3">
            <a:extLst>
              <a:ext uri="{FF2B5EF4-FFF2-40B4-BE49-F238E27FC236}">
                <a16:creationId xmlns:a16="http://schemas.microsoft.com/office/drawing/2014/main" id="{FE3E3364-1348-88E4-53B8-EB9E4C72484D}"/>
              </a:ext>
            </a:extLst>
          </p:cNvPr>
          <p:cNvSpPr>
            <a:spLocks noGrp="1"/>
          </p:cNvSpPr>
          <p:nvPr>
            <p:ph sz="half" idx="2"/>
          </p:nvPr>
        </p:nvSpPr>
        <p:spPr/>
        <p:txBody>
          <a:bodyPr>
            <a:normAutofit fontScale="92500" lnSpcReduction="20000"/>
          </a:bodyPr>
          <a:lstStyle/>
          <a:p>
            <a:pPr algn="l"/>
            <a:r>
              <a:rPr lang="tr-TR" sz="2800" b="0" i="0" u="none" strike="noStrike" baseline="0" dirty="0">
                <a:solidFill>
                  <a:srgbClr val="000000"/>
                </a:solidFill>
                <a:latin typeface="Calibri" panose="020F0502020204030204" pitchFamily="34" charset="0"/>
              </a:rPr>
              <a:t>Yani optimum kapasite kuruluş ölçeğinin bir fonksiyonudur.</a:t>
            </a:r>
          </a:p>
          <a:p>
            <a:pPr algn="l"/>
            <a:r>
              <a:rPr lang="tr-TR" sz="2800" b="0" i="0" u="none" strike="noStrike" baseline="0" dirty="0">
                <a:latin typeface="Calibri" panose="020F0502020204030204" pitchFamily="34" charset="0"/>
              </a:rPr>
              <a:t>Optimum kapasite aynı zamanda işletmenin yapısına, büyüklüğüne ve amaçlarına en uygun düşen üretim miktarıdır. </a:t>
            </a:r>
          </a:p>
          <a:p>
            <a:pPr algn="l"/>
            <a:r>
              <a:rPr lang="tr-TR" sz="2800" b="0" i="0" u="none" strike="noStrike" baseline="0" dirty="0">
                <a:latin typeface="Calibri" panose="020F0502020204030204" pitchFamily="34" charset="0"/>
              </a:rPr>
              <a:t>Bu kapasite öyle bir noktada gerçekleşmelidir ki o noktada üretim maliyetleri en düşük, üretim miktarı en yüksek, üstelik üretilen malın tümü satılmış olmalıdır.</a:t>
            </a:r>
            <a:endParaRPr lang="tr-TR" dirty="0"/>
          </a:p>
        </p:txBody>
      </p:sp>
    </p:spTree>
    <p:extLst>
      <p:ext uri="{BB962C8B-B14F-4D97-AF65-F5344CB8AC3E}">
        <p14:creationId xmlns:p14="http://schemas.microsoft.com/office/powerpoint/2010/main" val="270801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FA62B99D-9DFD-8030-B339-3D325E4AE6F6}"/>
              </a:ext>
            </a:extLst>
          </p:cNvPr>
          <p:cNvSpPr>
            <a:spLocks noGrp="1"/>
          </p:cNvSpPr>
          <p:nvPr>
            <p:ph sz="half" idx="1"/>
          </p:nvPr>
        </p:nvSpPr>
        <p:spPr>
          <a:xfrm>
            <a:off x="385011" y="737937"/>
            <a:ext cx="5634789" cy="5439026"/>
          </a:xfrm>
        </p:spPr>
        <p:txBody>
          <a:bodyPr>
            <a:normAutofit lnSpcReduction="10000"/>
          </a:bodyPr>
          <a:lstStyle/>
          <a:p>
            <a:pPr algn="l"/>
            <a:r>
              <a:rPr lang="tr-TR" sz="2800" b="0" i="0" u="none" strike="noStrike" baseline="0" dirty="0">
                <a:latin typeface="Calibri" panose="020F0502020204030204" pitchFamily="34" charset="0"/>
              </a:rPr>
              <a:t>İşletmelerin maliyetlerinin ve optimum kapasite düzeyinin belirlenmesinde, kısa dönemde artan ve azalan verimler kanunu, uzun dönemde ise ölçeğe göre </a:t>
            </a:r>
            <a:r>
              <a:rPr lang="sv-SE" sz="2800" b="0" i="0" u="none" strike="noStrike" baseline="0" dirty="0">
                <a:latin typeface="Calibri" panose="020F0502020204030204" pitchFamily="34" charset="0"/>
              </a:rPr>
              <a:t>artan, sabit ve azalan getiri şartları etkili olmaktadır.</a:t>
            </a:r>
            <a:endParaRPr lang="tr-TR" sz="2800" b="0" i="0" u="none" strike="noStrike" baseline="0" dirty="0">
              <a:latin typeface="Calibri" panose="020F0502020204030204" pitchFamily="34" charset="0"/>
            </a:endParaRPr>
          </a:p>
          <a:p>
            <a:pPr algn="l"/>
            <a:r>
              <a:rPr lang="tr-TR" sz="2800" b="0" i="1" u="none" strike="noStrike" baseline="0" dirty="0">
                <a:solidFill>
                  <a:srgbClr val="994806"/>
                </a:solidFill>
                <a:latin typeface="Calibri-Italic"/>
              </a:rPr>
              <a:t>İktisat Teorisinde, tüm üretim faktörlerinin değiştirilemediği dönem olarak kabul edilen kısa dönemde, belli bir sabit faktör üzerine her bir değişken faktörün ilavesinin üretime sağladığı katkı, bir önceki faktöre göre giderek artar. Buna artan verim denir.</a:t>
            </a:r>
            <a:endParaRPr lang="tr-TR" dirty="0"/>
          </a:p>
        </p:txBody>
      </p:sp>
      <p:sp>
        <p:nvSpPr>
          <p:cNvPr id="4" name="İçerik Yer Tutucusu 3">
            <a:extLst>
              <a:ext uri="{FF2B5EF4-FFF2-40B4-BE49-F238E27FC236}">
                <a16:creationId xmlns:a16="http://schemas.microsoft.com/office/drawing/2014/main" id="{91BE3A28-164F-5E93-2AF8-44B35BFEB944}"/>
              </a:ext>
            </a:extLst>
          </p:cNvPr>
          <p:cNvSpPr>
            <a:spLocks noGrp="1"/>
          </p:cNvSpPr>
          <p:nvPr>
            <p:ph sz="half" idx="2"/>
          </p:nvPr>
        </p:nvSpPr>
        <p:spPr>
          <a:xfrm>
            <a:off x="6172200" y="737937"/>
            <a:ext cx="5634788" cy="5439026"/>
          </a:xfrm>
        </p:spPr>
        <p:txBody>
          <a:bodyPr>
            <a:normAutofit lnSpcReduction="10000"/>
          </a:bodyPr>
          <a:lstStyle/>
          <a:p>
            <a:pPr algn="l"/>
            <a:r>
              <a:rPr lang="tr-TR" sz="2800" b="0" i="1" u="none" strike="noStrike" baseline="0" dirty="0">
                <a:solidFill>
                  <a:srgbClr val="994806"/>
                </a:solidFill>
                <a:latin typeface="Calibri-Italic"/>
              </a:rPr>
              <a:t>İlave faktörün üretim sistemine dâhil edilmesinin üretimi artarak artırması, artan verimin geçerli olduğu aşamaya kadar devam eder. </a:t>
            </a:r>
          </a:p>
          <a:p>
            <a:pPr algn="l"/>
            <a:r>
              <a:rPr lang="tr-TR" sz="2800" b="0" i="1" u="none" strike="noStrike" baseline="0" dirty="0">
                <a:solidFill>
                  <a:srgbClr val="994806"/>
                </a:solidFill>
                <a:latin typeface="Calibri-Italic"/>
              </a:rPr>
              <a:t>Bu faktör düzeyinin aşılması hâlinde her ilave değişken faktör bir önceki faktöre göre toplam üretimi daha az artırır. Buna da azalan verim denir. </a:t>
            </a:r>
          </a:p>
          <a:p>
            <a:pPr algn="l"/>
            <a:r>
              <a:rPr lang="tr-TR" sz="2800" b="0" i="1" u="none" strike="noStrike" baseline="0" dirty="0">
                <a:solidFill>
                  <a:srgbClr val="994806"/>
                </a:solidFill>
                <a:latin typeface="Calibri-Italic"/>
              </a:rPr>
              <a:t>Belirtilen bu iki olay birlikte, Artan ve Azalan Verimler Kanunu olarak bilinir.</a:t>
            </a:r>
            <a:endParaRPr lang="tr-TR" dirty="0"/>
          </a:p>
        </p:txBody>
      </p:sp>
    </p:spTree>
    <p:extLst>
      <p:ext uri="{BB962C8B-B14F-4D97-AF65-F5344CB8AC3E}">
        <p14:creationId xmlns:p14="http://schemas.microsoft.com/office/powerpoint/2010/main" val="1126826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İçerik Yer Tutucusu 5">
            <a:extLst>
              <a:ext uri="{FF2B5EF4-FFF2-40B4-BE49-F238E27FC236}">
                <a16:creationId xmlns:a16="http://schemas.microsoft.com/office/drawing/2014/main" id="{BE8A13D7-755E-CA44-544C-20323F76640D}"/>
              </a:ext>
            </a:extLst>
          </p:cNvPr>
          <p:cNvSpPr>
            <a:spLocks noGrp="1"/>
          </p:cNvSpPr>
          <p:nvPr>
            <p:ph idx="1"/>
          </p:nvPr>
        </p:nvSpPr>
        <p:spPr/>
        <p:txBody>
          <a:bodyPr/>
          <a:lstStyle/>
          <a:p>
            <a:pPr algn="l"/>
            <a:r>
              <a:rPr lang="tr-TR" sz="2800" b="0" i="0" u="none" strike="noStrike" baseline="0" dirty="0">
                <a:latin typeface="Calibri" panose="020F0502020204030204" pitchFamily="34" charset="0"/>
              </a:rPr>
              <a:t>Artan ve Azalan Verimler Kanunu’na göre, üretim miktarı arttıkça, ortalama (birim) maliyetler önce azalan, daha sonra artan bir seyir takip etmektedir. Bu durumda işletme üretim miktarının artarak arttığı dolayısıyla birim maliyetlerin azalan bir trend izlediği üretim aralığında faaliyet göstermelidir.</a:t>
            </a:r>
            <a:endParaRPr lang="tr-TR" dirty="0"/>
          </a:p>
        </p:txBody>
      </p:sp>
    </p:spTree>
    <p:extLst>
      <p:ext uri="{BB962C8B-B14F-4D97-AF65-F5344CB8AC3E}">
        <p14:creationId xmlns:p14="http://schemas.microsoft.com/office/powerpoint/2010/main" val="65418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06C12AF-74DE-2E49-0ED8-03F3D40A495D}"/>
              </a:ext>
            </a:extLst>
          </p:cNvPr>
          <p:cNvSpPr>
            <a:spLocks noGrp="1"/>
          </p:cNvSpPr>
          <p:nvPr>
            <p:ph idx="1"/>
          </p:nvPr>
        </p:nvSpPr>
        <p:spPr/>
        <p:txBody>
          <a:bodyPr>
            <a:normAutofit/>
          </a:bodyPr>
          <a:lstStyle/>
          <a:p>
            <a:pPr algn="l"/>
            <a:r>
              <a:rPr lang="tr-TR" sz="2800" b="0" i="0" u="none" strike="noStrike" baseline="0" dirty="0">
                <a:solidFill>
                  <a:srgbClr val="000000"/>
                </a:solidFill>
                <a:latin typeface="Calibri" panose="020F0502020204030204" pitchFamily="34" charset="0"/>
              </a:rPr>
              <a:t>Uzun dönemde ise tüm üretim faktörleri değiştirilebilmektedir. Üretim faktörlerindeki bu değişme, işletme ölçeğinde bir değişmeyi ifade eder. Üretim ölçeğinde meydana gelen değişmeler sonucu, üretim miktarında meydana gelen değişmelere </a:t>
            </a:r>
            <a:r>
              <a:rPr lang="tr-TR" sz="2800" b="0" i="1" u="none" strike="noStrike" baseline="0" dirty="0">
                <a:solidFill>
                  <a:srgbClr val="994806"/>
                </a:solidFill>
                <a:latin typeface="Calibri-Italic"/>
              </a:rPr>
              <a:t>“ölçeğe göre getiri” </a:t>
            </a:r>
            <a:r>
              <a:rPr lang="tr-TR" sz="2800" b="0" i="0" u="none" strike="noStrike" baseline="0" dirty="0">
                <a:solidFill>
                  <a:srgbClr val="000000"/>
                </a:solidFill>
                <a:latin typeface="Calibri" panose="020F0502020204030204" pitchFamily="34" charset="0"/>
              </a:rPr>
              <a:t>denilmektedir.</a:t>
            </a:r>
          </a:p>
          <a:p>
            <a:pPr algn="l"/>
            <a:r>
              <a:rPr lang="tr-TR" sz="2800" b="0" i="0" u="none" strike="noStrike" baseline="0" dirty="0">
                <a:latin typeface="Calibri" panose="020F0502020204030204" pitchFamily="34" charset="0"/>
              </a:rPr>
              <a:t>Üretim miktarıyla yakından ilgili olan ölçek değişmeleri üretim miktarını hep aynı yönde ve aynı oranda değiştirmez. Özellikle, ölçek büyüdüğünde üretim miktarı her zaman orantılı artmayabilir. Bütün üretim faktörleri birlikte ve aynı oranda değiştirildiğinde üç çeşit ölçeğe göre getiri durumu ortaya çıkar.</a:t>
            </a:r>
            <a:endParaRPr lang="tr-TR" dirty="0"/>
          </a:p>
        </p:txBody>
      </p:sp>
    </p:spTree>
    <p:extLst>
      <p:ext uri="{BB962C8B-B14F-4D97-AF65-F5344CB8AC3E}">
        <p14:creationId xmlns:p14="http://schemas.microsoft.com/office/powerpoint/2010/main" val="1548070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C464993E-374B-B15F-804F-83B7D300C9D0}"/>
              </a:ext>
            </a:extLst>
          </p:cNvPr>
          <p:cNvSpPr>
            <a:spLocks noGrp="1"/>
          </p:cNvSpPr>
          <p:nvPr>
            <p:ph idx="1"/>
          </p:nvPr>
        </p:nvSpPr>
        <p:spPr/>
        <p:txBody>
          <a:bodyPr/>
          <a:lstStyle/>
          <a:p>
            <a:pPr algn="l"/>
            <a:r>
              <a:rPr lang="tr-TR" sz="2800" b="0" i="0" u="none" strike="noStrike" baseline="0" dirty="0">
                <a:solidFill>
                  <a:srgbClr val="000000"/>
                </a:solidFill>
                <a:latin typeface="Calibri" panose="020F0502020204030204" pitchFamily="34" charset="0"/>
              </a:rPr>
              <a:t>Ölçeğe göre getiri durumları üç biçimde ifade edilebilir:</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Ölçeğe göre sabit getiri,</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Ölçeğe göre azalan getiri ve</a:t>
            </a:r>
          </a:p>
          <a:p>
            <a:pPr algn="l"/>
            <a:r>
              <a:rPr lang="tr-TR" sz="2800" b="0" i="0" u="none" strike="noStrike" baseline="0" dirty="0">
                <a:solidFill>
                  <a:srgbClr val="994806"/>
                </a:solidFill>
                <a:latin typeface="SymbolMT"/>
              </a:rPr>
              <a:t>• </a:t>
            </a:r>
            <a:r>
              <a:rPr lang="tr-TR" sz="2800" b="0" i="1" u="none" strike="noStrike" baseline="0" dirty="0">
                <a:solidFill>
                  <a:srgbClr val="994806"/>
                </a:solidFill>
                <a:latin typeface="Calibri-Italic"/>
              </a:rPr>
              <a:t>Ölçeğe göre artan getiridir.</a:t>
            </a:r>
          </a:p>
          <a:p>
            <a:pPr algn="l"/>
            <a:endParaRPr lang="tr-TR" dirty="0"/>
          </a:p>
        </p:txBody>
      </p:sp>
    </p:spTree>
    <p:extLst>
      <p:ext uri="{BB962C8B-B14F-4D97-AF65-F5344CB8AC3E}">
        <p14:creationId xmlns:p14="http://schemas.microsoft.com/office/powerpoint/2010/main" val="12155630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74E715C4-26F4-CC38-5981-F1AE135F1C20}"/>
              </a:ext>
            </a:extLst>
          </p:cNvPr>
          <p:cNvSpPr>
            <a:spLocks noGrp="1"/>
          </p:cNvSpPr>
          <p:nvPr>
            <p:ph idx="1"/>
          </p:nvPr>
        </p:nvSpPr>
        <p:spPr/>
        <p:txBody>
          <a:bodyPr/>
          <a:lstStyle/>
          <a:p>
            <a:pPr algn="l"/>
            <a:r>
              <a:rPr lang="tr-TR" sz="2800" b="0" i="0" u="none" strike="noStrike" baseline="0" dirty="0">
                <a:latin typeface="Calibri" panose="020F0502020204030204" pitchFamily="34" charset="0"/>
              </a:rPr>
              <a:t>Üretimde kullanılan tüm üretim faktörlerinin birlikte ve aynı oranda değiştirilmesi, </a:t>
            </a:r>
          </a:p>
          <a:p>
            <a:pPr algn="l"/>
            <a:r>
              <a:rPr lang="tr-TR" sz="2800" b="0" i="0" u="none" strike="noStrike" baseline="0" dirty="0">
                <a:latin typeface="Calibri" panose="020F0502020204030204" pitchFamily="34" charset="0"/>
              </a:rPr>
              <a:t>üretim miktarını da aynı yönde ve aynı oranda değiştiriyorsa ölçeğe göre sabit getiri, </a:t>
            </a:r>
          </a:p>
          <a:p>
            <a:pPr algn="l"/>
            <a:r>
              <a:rPr lang="tr-TR" sz="2800" b="0" i="0" u="none" strike="noStrike" baseline="0" dirty="0">
                <a:latin typeface="Calibri" panose="020F0502020204030204" pitchFamily="34" charset="0"/>
              </a:rPr>
              <a:t>aynı yönde ve daha fazla değiştiriyorsa ölçeğe göre artan getiri, </a:t>
            </a:r>
          </a:p>
          <a:p>
            <a:pPr algn="l"/>
            <a:r>
              <a:rPr lang="tr-TR" sz="2800" b="0" i="0" u="none" strike="noStrike" baseline="0" dirty="0">
                <a:latin typeface="Calibri" panose="020F0502020204030204" pitchFamily="34" charset="0"/>
              </a:rPr>
              <a:t>aynı yönde fakat daha az değiştiriyorsa ölçeğe göre azalan getiri durumu söz konusudur.</a:t>
            </a:r>
            <a:endParaRPr lang="tr-TR" dirty="0"/>
          </a:p>
        </p:txBody>
      </p:sp>
    </p:spTree>
    <p:extLst>
      <p:ext uri="{BB962C8B-B14F-4D97-AF65-F5344CB8AC3E}">
        <p14:creationId xmlns:p14="http://schemas.microsoft.com/office/powerpoint/2010/main" val="25751589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DF30CD57-D1C4-0CDA-3960-AAE12DB306C6}"/>
              </a:ext>
            </a:extLst>
          </p:cNvPr>
          <p:cNvSpPr>
            <a:spLocks noGrp="1"/>
          </p:cNvSpPr>
          <p:nvPr>
            <p:ph idx="1"/>
          </p:nvPr>
        </p:nvSpPr>
        <p:spPr/>
        <p:txBody>
          <a:bodyPr/>
          <a:lstStyle/>
          <a:p>
            <a:pPr algn="l"/>
            <a:r>
              <a:rPr lang="tr-TR" sz="2800" b="0" i="0" u="none" strike="noStrike" baseline="0" dirty="0">
                <a:solidFill>
                  <a:srgbClr val="000000"/>
                </a:solidFill>
                <a:latin typeface="Calibri" panose="020F0502020204030204" pitchFamily="34" charset="0"/>
              </a:rPr>
              <a:t>İfade edilenlerden anlaşılacağı </a:t>
            </a:r>
            <a:r>
              <a:rPr lang="tr-TR" sz="2800" b="0" i="1" u="none" strike="noStrike" baseline="0" dirty="0">
                <a:solidFill>
                  <a:srgbClr val="994806"/>
                </a:solidFill>
                <a:latin typeface="Calibri-Italic"/>
              </a:rPr>
              <a:t>üzere ölçeğe göre getiri analizi uzun dönem bir analizdir ve bu nedenle üretim faktörlerinin tamamı değiştirilebilmektedir.</a:t>
            </a:r>
          </a:p>
          <a:p>
            <a:pPr algn="l"/>
            <a:r>
              <a:rPr lang="tr-TR" sz="2800" b="0" i="1" u="none" strike="noStrike" baseline="0" dirty="0">
                <a:solidFill>
                  <a:srgbClr val="994806"/>
                </a:solidFill>
                <a:latin typeface="Calibri-Italic"/>
              </a:rPr>
              <a:t>Ölçeğe göre getirinin ölçülmesinde bir diğer husus ise; üretim faktörlerinin birlikte, aynı oranda ve aynı yönde değiştirilmesidir. </a:t>
            </a:r>
            <a:r>
              <a:rPr lang="tr-TR" sz="2800" b="0" i="0" u="none" strike="noStrike" baseline="0" dirty="0">
                <a:solidFill>
                  <a:srgbClr val="000000"/>
                </a:solidFill>
                <a:latin typeface="Calibri" panose="020F0502020204030204" pitchFamily="34" charset="0"/>
              </a:rPr>
              <a:t>Sözgelimi birlikte ve aynı oranda artırılmasıdır.</a:t>
            </a:r>
            <a:endParaRPr lang="tr-TR" dirty="0"/>
          </a:p>
        </p:txBody>
      </p:sp>
    </p:spTree>
    <p:extLst>
      <p:ext uri="{BB962C8B-B14F-4D97-AF65-F5344CB8AC3E}">
        <p14:creationId xmlns:p14="http://schemas.microsoft.com/office/powerpoint/2010/main" val="36017864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6E0D0D6F-C12C-A43F-E15D-2998815A70D1}"/>
              </a:ext>
            </a:extLst>
          </p:cNvPr>
          <p:cNvPicPr>
            <a:picLocks noGrp="1" noChangeAspect="1"/>
          </p:cNvPicPr>
          <p:nvPr>
            <p:ph idx="1"/>
          </p:nvPr>
        </p:nvPicPr>
        <p:blipFill>
          <a:blip r:embed="rId2"/>
          <a:stretch>
            <a:fillRect/>
          </a:stretch>
        </p:blipFill>
        <p:spPr>
          <a:xfrm>
            <a:off x="1310432" y="1519989"/>
            <a:ext cx="9325484" cy="3818021"/>
          </a:xfrm>
        </p:spPr>
      </p:pic>
    </p:spTree>
    <p:extLst>
      <p:ext uri="{BB962C8B-B14F-4D97-AF65-F5344CB8AC3E}">
        <p14:creationId xmlns:p14="http://schemas.microsoft.com/office/powerpoint/2010/main" val="9928522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BB08B5D-CC5F-AFE2-AA5D-3E970FB6BA47}"/>
              </a:ext>
            </a:extLst>
          </p:cNvPr>
          <p:cNvSpPr>
            <a:spLocks noGrp="1"/>
          </p:cNvSpPr>
          <p:nvPr>
            <p:ph idx="1"/>
          </p:nvPr>
        </p:nvSpPr>
        <p:spPr/>
        <p:txBody>
          <a:bodyPr>
            <a:normAutofit lnSpcReduction="10000"/>
          </a:bodyPr>
          <a:lstStyle/>
          <a:p>
            <a:pPr algn="l"/>
            <a:r>
              <a:rPr lang="tr-TR" sz="2800" b="1" i="0" u="none" strike="noStrike" baseline="0" dirty="0">
                <a:latin typeface="Calibri" panose="020F0502020204030204" pitchFamily="34" charset="0"/>
              </a:rPr>
              <a:t>a</a:t>
            </a:r>
            <a:r>
              <a:rPr lang="tr-TR" sz="2800" b="1" i="0" u="none" strike="noStrike" baseline="0" dirty="0">
                <a:latin typeface="Calibri-Bold"/>
              </a:rPr>
              <a:t>. </a:t>
            </a:r>
            <a:r>
              <a:rPr lang="tr-TR" sz="2800" b="0" i="0" u="none" strike="noStrike" baseline="0" dirty="0">
                <a:latin typeface="Calibri" panose="020F0502020204030204" pitchFamily="34" charset="0"/>
              </a:rPr>
              <a:t>Panelinde üretim faktörlerindeki (iş gücü, toprak) artış, toplam üretimi de aynı yönde ve aynı oranda artırmıştır. Ölçeğe göre sabit getiri söz konusudur. OF eğrisi de bu yüzden pozitif eğimli ve doğrusaldır.</a:t>
            </a:r>
          </a:p>
          <a:p>
            <a:pPr algn="l"/>
            <a:r>
              <a:rPr lang="tr-TR" sz="2800" b="1" i="0" u="none" strike="noStrike" baseline="0" dirty="0">
                <a:latin typeface="Calibri" panose="020F0502020204030204" pitchFamily="34" charset="0"/>
              </a:rPr>
              <a:t>b</a:t>
            </a:r>
            <a:r>
              <a:rPr lang="tr-TR" sz="2800" b="1" i="0" u="none" strike="noStrike" baseline="0" dirty="0">
                <a:latin typeface="Calibri-Bold"/>
              </a:rPr>
              <a:t>. </a:t>
            </a:r>
            <a:r>
              <a:rPr lang="tr-TR" sz="2800" b="0" i="0" u="none" strike="noStrike" baseline="0" dirty="0">
                <a:latin typeface="Calibri" panose="020F0502020204030204" pitchFamily="34" charset="0"/>
              </a:rPr>
              <a:t>Panelinde üretim faktörlerindeki artış, toplam üretimi daha fazla artırmıştır. Ölçeğe göre artan getiri söz konusudur. OG eğrisi de bu yüzden pozitif eğimli ve dışbükey bir seyir izlemektedir.</a:t>
            </a:r>
          </a:p>
          <a:p>
            <a:pPr algn="l"/>
            <a:r>
              <a:rPr lang="tr-TR" sz="2800" b="1" i="0" u="none" strike="noStrike" baseline="0" dirty="0">
                <a:latin typeface="Calibri-Bold"/>
              </a:rPr>
              <a:t>c. </a:t>
            </a:r>
            <a:r>
              <a:rPr lang="tr-TR" sz="2800" b="0" i="0" u="none" strike="noStrike" baseline="0" dirty="0">
                <a:latin typeface="Calibri" panose="020F0502020204030204" pitchFamily="34" charset="0"/>
              </a:rPr>
              <a:t>Panelinde üretim faktörlerindeki artış, toplam üretimi daha az artırmıştır. Ölçeğe göre azalan getiri söz konusudur. OH eğrisi de bu yüzden pozitif eğimli fakat azalarak artan (veya içbükey) bir seyir izlemektedir.</a:t>
            </a:r>
            <a:endParaRPr lang="tr-TR" dirty="0"/>
          </a:p>
        </p:txBody>
      </p:sp>
    </p:spTree>
    <p:extLst>
      <p:ext uri="{BB962C8B-B14F-4D97-AF65-F5344CB8AC3E}">
        <p14:creationId xmlns:p14="http://schemas.microsoft.com/office/powerpoint/2010/main" val="10892277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3BFE1911-293E-4938-11F8-AD31557A20A4}"/>
              </a:ext>
            </a:extLst>
          </p:cNvPr>
          <p:cNvSpPr>
            <a:spLocks noGrp="1"/>
          </p:cNvSpPr>
          <p:nvPr>
            <p:ph idx="1"/>
          </p:nvPr>
        </p:nvSpPr>
        <p:spPr/>
        <p:txBody>
          <a:bodyPr/>
          <a:lstStyle/>
          <a:p>
            <a:pPr algn="l"/>
            <a:r>
              <a:rPr lang="tr-TR" sz="2800" b="0" i="0" u="none" strike="noStrike" baseline="0" dirty="0">
                <a:latin typeface="Calibri" panose="020F0502020204030204" pitchFamily="34" charset="0"/>
              </a:rPr>
              <a:t>Ölçeğe göre getiri konusu ile bağlantılı olarak, uzun dönem maliyetlerdeki değişim, beraberinde kısa dönemli bir analiz olarak kısa dönem maliyetlerden de yararlanılarak optimum ölçekli tesis ve optimum kapasite belirlenebilir.</a:t>
            </a:r>
          </a:p>
          <a:p>
            <a:pPr algn="l"/>
            <a:r>
              <a:rPr lang="tr-TR" sz="2800" b="0" i="0" u="none" strike="noStrike" baseline="0" dirty="0">
                <a:latin typeface="Calibri" panose="020F0502020204030204" pitchFamily="34" charset="0"/>
              </a:rPr>
              <a:t>Ölçeğe göre getiri şartlarının maliyetler üzerindeki etkisi, firmaların üretim kapasitelerini ve optimum ölçekteki tesisi de içine alacak biçimde, şekil üzerinde gösterilmiştir.</a:t>
            </a:r>
            <a:endParaRPr lang="tr-TR" dirty="0"/>
          </a:p>
        </p:txBody>
      </p:sp>
    </p:spTree>
    <p:extLst>
      <p:ext uri="{BB962C8B-B14F-4D97-AF65-F5344CB8AC3E}">
        <p14:creationId xmlns:p14="http://schemas.microsoft.com/office/powerpoint/2010/main" val="7109814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çerik Yer Tutucusu 4">
            <a:extLst>
              <a:ext uri="{FF2B5EF4-FFF2-40B4-BE49-F238E27FC236}">
                <a16:creationId xmlns:a16="http://schemas.microsoft.com/office/drawing/2014/main" id="{FC9833ED-3E27-FC25-39B8-C7C38C689599}"/>
              </a:ext>
            </a:extLst>
          </p:cNvPr>
          <p:cNvPicPr>
            <a:picLocks noGrp="1" noChangeAspect="1"/>
          </p:cNvPicPr>
          <p:nvPr>
            <p:ph idx="1"/>
          </p:nvPr>
        </p:nvPicPr>
        <p:blipFill>
          <a:blip r:embed="rId2"/>
          <a:stretch>
            <a:fillRect/>
          </a:stretch>
        </p:blipFill>
        <p:spPr>
          <a:xfrm>
            <a:off x="1171075" y="1026694"/>
            <a:ext cx="9721514" cy="4748463"/>
          </a:xfrm>
        </p:spPr>
      </p:pic>
    </p:spTree>
    <p:extLst>
      <p:ext uri="{BB962C8B-B14F-4D97-AF65-F5344CB8AC3E}">
        <p14:creationId xmlns:p14="http://schemas.microsoft.com/office/powerpoint/2010/main" val="21339548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372091B-C000-948C-4C83-5D00052BE6A4}"/>
              </a:ext>
            </a:extLst>
          </p:cNvPr>
          <p:cNvSpPr>
            <a:spLocks noGrp="1"/>
          </p:cNvSpPr>
          <p:nvPr>
            <p:ph idx="1"/>
          </p:nvPr>
        </p:nvSpPr>
        <p:spPr>
          <a:xfrm>
            <a:off x="838200" y="1347537"/>
            <a:ext cx="10515600" cy="4829426"/>
          </a:xfrm>
        </p:spPr>
        <p:txBody>
          <a:bodyPr>
            <a:normAutofit/>
          </a:bodyPr>
          <a:lstStyle/>
          <a:p>
            <a:pPr algn="l"/>
            <a:r>
              <a:rPr lang="tr-TR" sz="2800" b="0" i="0" u="none" strike="noStrike" baseline="0" dirty="0">
                <a:latin typeface="Calibri" panose="020F0502020204030204" pitchFamily="34" charset="0"/>
              </a:rPr>
              <a:t>Şekil de görülen iki Kısa Dönem Ortalama Maliyet (KOM) eğrisinin her biri, belli bir üretimi (Q</a:t>
            </a:r>
            <a:r>
              <a:rPr lang="tr-TR" sz="800" b="0" i="0" u="none" strike="noStrike" baseline="0" dirty="0">
                <a:latin typeface="Calibri" panose="020F0502020204030204" pitchFamily="34" charset="0"/>
              </a:rPr>
              <a:t>1 </a:t>
            </a:r>
            <a:r>
              <a:rPr lang="tr-TR" sz="2800" b="0" i="0" u="none" strike="noStrike" baseline="0" dirty="0">
                <a:latin typeface="Calibri" panose="020F0502020204030204" pitchFamily="34" charset="0"/>
              </a:rPr>
              <a:t>ve Q</a:t>
            </a:r>
            <a:r>
              <a:rPr lang="tr-TR" sz="800" b="0" i="0" u="none" strike="noStrike" baseline="0" dirty="0">
                <a:latin typeface="Calibri" panose="020F0502020204030204" pitchFamily="34" charset="0"/>
              </a:rPr>
              <a:t>2 </a:t>
            </a:r>
            <a:r>
              <a:rPr lang="tr-TR" sz="2800" b="0" i="0" u="none" strike="noStrike" baseline="0" dirty="0">
                <a:latin typeface="Calibri" panose="020F0502020204030204" pitchFamily="34" charset="0"/>
              </a:rPr>
              <a:t>üretim düzeyleri) minimum maliyetle gerçekleştirecek bir tesisi temsil etmektedir. Firma, gelecekteki üretim miktarını göz önünde bulundurarak bu tesislerden birini seçecektir. Birinci tesiste ikinci tesisin üretim miktarı da elde edilebilir fakat maliyetler oldukça yüksek olacaktır.</a:t>
            </a:r>
          </a:p>
          <a:p>
            <a:pPr algn="l"/>
            <a:r>
              <a:rPr lang="tr-TR" sz="2800" b="0" i="1" u="none" strike="noStrike" baseline="0" dirty="0">
                <a:solidFill>
                  <a:srgbClr val="994806"/>
                </a:solidFill>
                <a:latin typeface="Calibri-Italic"/>
              </a:rPr>
              <a:t>Her bir KOM eğrisine optimal olduğu noktada teğet olan, ölçeğe göre artan </a:t>
            </a:r>
            <a:r>
              <a:rPr lang="es-ES" sz="2800" b="0" i="1" u="none" strike="noStrike" baseline="0" dirty="0">
                <a:solidFill>
                  <a:srgbClr val="994806"/>
                </a:solidFill>
                <a:latin typeface="Calibri-Italic"/>
              </a:rPr>
              <a:t>ve azalan getiriden dolayı “U” biçimli Uzun Dönem Ortalama Maliyet (UOM) eğrisi</a:t>
            </a:r>
            <a:r>
              <a:rPr lang="tr-TR" sz="2800" b="0" i="1" u="none" strike="noStrike" baseline="0" dirty="0">
                <a:solidFill>
                  <a:srgbClr val="994806"/>
                </a:solidFill>
                <a:latin typeface="Calibri-Italic"/>
              </a:rPr>
              <a:t> ise, firmanın istediği herhangi bir tesisi kuracağı zaman, her üretim düzeyinin en düşük ortalama maliyetini göstermektedir.</a:t>
            </a:r>
            <a:endParaRPr lang="tr-TR" dirty="0"/>
          </a:p>
        </p:txBody>
      </p:sp>
    </p:spTree>
    <p:extLst>
      <p:ext uri="{BB962C8B-B14F-4D97-AF65-F5344CB8AC3E}">
        <p14:creationId xmlns:p14="http://schemas.microsoft.com/office/powerpoint/2010/main" val="19625846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A2734A65-3456-7D41-59AF-883C8672F52E}"/>
              </a:ext>
            </a:extLst>
          </p:cNvPr>
          <p:cNvSpPr>
            <a:spLocks noGrp="1"/>
          </p:cNvSpPr>
          <p:nvPr>
            <p:ph idx="1"/>
          </p:nvPr>
        </p:nvSpPr>
        <p:spPr/>
        <p:txBody>
          <a:bodyPr>
            <a:normAutofit/>
          </a:bodyPr>
          <a:lstStyle/>
          <a:p>
            <a:pPr algn="l"/>
            <a:r>
              <a:rPr lang="tr-TR" sz="2800" b="0" i="0" u="none" strike="noStrike" baseline="0" dirty="0">
                <a:latin typeface="Calibri" panose="020F0502020204030204" pitchFamily="34" charset="0"/>
              </a:rPr>
              <a:t>UOM eğrisine minimum olduğu noktada teğet olan, KOM</a:t>
            </a:r>
            <a:r>
              <a:rPr lang="tr-TR" sz="800" b="0" i="0" u="none" strike="noStrike" baseline="0" dirty="0">
                <a:latin typeface="Calibri" panose="020F0502020204030204" pitchFamily="34" charset="0"/>
              </a:rPr>
              <a:t>2 </a:t>
            </a:r>
            <a:r>
              <a:rPr lang="tr-TR" sz="2800" b="0" i="0" u="none" strike="noStrike" baseline="0" dirty="0">
                <a:latin typeface="Calibri" panose="020F0502020204030204" pitchFamily="34" charset="0"/>
              </a:rPr>
              <a:t>ile gösterilen ikinci tesis, tam kapasitenin söz konusu olduğu, birim maliyetlerin olabilen en düşük düzeye çekildiği, optimum çaptaki tesisi ifade eder.</a:t>
            </a:r>
          </a:p>
          <a:p>
            <a:pPr algn="l"/>
            <a:r>
              <a:rPr lang="tr-TR" sz="2800" b="0" i="0" u="none" strike="noStrike" baseline="0" dirty="0">
                <a:latin typeface="Calibri" panose="020F0502020204030204" pitchFamily="34" charset="0"/>
              </a:rPr>
              <a:t>Bu durumda girişimciler, pazar araştırması ile talebi belirlemeli ve bu talebe uygun üretim miktarını elde edebilecekleri optimum ölçekli tesisi kurmalıdırlar. Şekilden hareketle söylenecek olursa Q</a:t>
            </a:r>
            <a:r>
              <a:rPr lang="tr-TR" sz="800" b="0" i="0" u="none" strike="noStrike" baseline="0" dirty="0">
                <a:latin typeface="Calibri" panose="020F0502020204030204" pitchFamily="34" charset="0"/>
              </a:rPr>
              <a:t>1 </a:t>
            </a:r>
            <a:r>
              <a:rPr lang="tr-TR" sz="2800" b="0" i="0" u="none" strike="noStrike" baseline="0" dirty="0">
                <a:latin typeface="Calibri" panose="020F0502020204030204" pitchFamily="34" charset="0"/>
              </a:rPr>
              <a:t>talebi söz konusu ise KOM</a:t>
            </a:r>
            <a:r>
              <a:rPr lang="tr-TR" sz="800" b="0" i="0" u="none" strike="noStrike" baseline="0" dirty="0">
                <a:latin typeface="Calibri" panose="020F0502020204030204" pitchFamily="34" charset="0"/>
              </a:rPr>
              <a:t>1</a:t>
            </a:r>
            <a:r>
              <a:rPr lang="tr-TR" sz="2800" b="0" i="0" u="none" strike="noStrike" baseline="0" dirty="0">
                <a:latin typeface="Calibri" panose="020F0502020204030204" pitchFamily="34" charset="0"/>
              </a:rPr>
              <a:t>, Q</a:t>
            </a:r>
            <a:r>
              <a:rPr lang="tr-TR" sz="800" b="0" i="0" u="none" strike="noStrike" baseline="0" dirty="0">
                <a:latin typeface="Calibri" panose="020F0502020204030204" pitchFamily="34" charset="0"/>
              </a:rPr>
              <a:t>2 </a:t>
            </a:r>
            <a:r>
              <a:rPr lang="tr-TR" sz="2800" b="0" i="0" u="none" strike="noStrike" baseline="0" dirty="0">
                <a:latin typeface="Calibri" panose="020F0502020204030204" pitchFamily="34" charset="0"/>
              </a:rPr>
              <a:t>talebi söz </a:t>
            </a:r>
            <a:r>
              <a:rPr lang="fi-FI" sz="2800" b="0" i="0" u="none" strike="noStrike" baseline="0" dirty="0">
                <a:latin typeface="Calibri" panose="020F0502020204030204" pitchFamily="34" charset="0"/>
              </a:rPr>
              <a:t>konusu ise KOM</a:t>
            </a:r>
            <a:r>
              <a:rPr lang="fi-FI" sz="800" b="0" i="0" u="none" strike="noStrike" baseline="0" dirty="0">
                <a:latin typeface="Calibri" panose="020F0502020204030204" pitchFamily="34" charset="0"/>
              </a:rPr>
              <a:t>2 </a:t>
            </a:r>
            <a:r>
              <a:rPr lang="fi-FI" sz="2800" b="0" i="0" u="none" strike="noStrike" baseline="0" dirty="0">
                <a:latin typeface="Calibri" panose="020F0502020204030204" pitchFamily="34" charset="0"/>
              </a:rPr>
              <a:t>tesisi kurulmalıdır.</a:t>
            </a:r>
            <a:endParaRPr lang="tr-TR" dirty="0"/>
          </a:p>
        </p:txBody>
      </p:sp>
    </p:spTree>
    <p:extLst>
      <p:ext uri="{BB962C8B-B14F-4D97-AF65-F5344CB8AC3E}">
        <p14:creationId xmlns:p14="http://schemas.microsoft.com/office/powerpoint/2010/main" val="3003714932"/>
      </p:ext>
    </p:extLst>
  </p:cSld>
  <p:clrMapOvr>
    <a:masterClrMapping/>
  </p:clrMapOvr>
</p:sld>
</file>

<file path=ppt/theme/theme1.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174</TotalTime>
  <Words>1779</Words>
  <Application>Microsoft Office PowerPoint</Application>
  <PresentationFormat>Geniş ekran</PresentationFormat>
  <Paragraphs>84</Paragraphs>
  <Slides>30</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30</vt:i4>
      </vt:variant>
    </vt:vector>
  </HeadingPairs>
  <TitlesOfParts>
    <vt:vector size="38" baseType="lpstr">
      <vt:lpstr>Aptos</vt:lpstr>
      <vt:lpstr>Aptos Display</vt:lpstr>
      <vt:lpstr>Arial</vt:lpstr>
      <vt:lpstr>Calibri</vt:lpstr>
      <vt:lpstr>Calibri-Bold</vt:lpstr>
      <vt:lpstr>Calibri-Italic</vt:lpstr>
      <vt:lpstr>SymbolMT</vt:lpstr>
      <vt:lpstr>Office Teması</vt:lpstr>
      <vt:lpstr>Girişimcilik </vt:lpstr>
      <vt:lpstr>KAPASİTE KAVRAMI</vt:lpstr>
      <vt:lpstr>PowerPoint Sunusu</vt:lpstr>
      <vt:lpstr>PowerPoint Sunusu</vt:lpstr>
      <vt:lpstr>KAPASİTE TÜRLERİ</vt:lpstr>
      <vt:lpstr>PowerPoint Sunusu</vt:lpstr>
      <vt:lpstr>Teorik (Maksimum) Kapasite</vt:lpstr>
      <vt:lpstr>Normal (Pratik) Kapasite</vt:lpstr>
      <vt:lpstr>Zorlanmış Kapasite</vt:lpstr>
      <vt:lpstr>Gerçek (Fiilî) Kapasite</vt:lpstr>
      <vt:lpstr>PowerPoint Sunusu</vt:lpstr>
      <vt:lpstr>PowerPoint Sunusu</vt:lpstr>
      <vt:lpstr>Atıl (Boş) Kapasite</vt:lpstr>
      <vt:lpstr>PowerPoint Sunusu</vt:lpstr>
      <vt:lpstr>PowerPoint Sunusu</vt:lpstr>
      <vt:lpstr>BAŞA BAŞ NOKTASI ANALİZİ</vt:lpstr>
      <vt:lpstr>PowerPoint Sunusu</vt:lpstr>
      <vt:lpstr>OPTİMUM KAPASİTE ve UYGUN KURULUŞ ÖLÇEĞİNİN SEÇİMİ</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RW</dc:creator>
  <cp:lastModifiedBy>RW</cp:lastModifiedBy>
  <cp:revision>3</cp:revision>
  <dcterms:created xsi:type="dcterms:W3CDTF">2025-12-15T09:27:53Z</dcterms:created>
  <dcterms:modified xsi:type="dcterms:W3CDTF">2025-12-15T12:22:00Z</dcterms:modified>
</cp:coreProperties>
</file>