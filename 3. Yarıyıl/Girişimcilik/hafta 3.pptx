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78" r:id="rId3"/>
    <p:sldId id="279" r:id="rId4"/>
    <p:sldId id="280" r:id="rId5"/>
    <p:sldId id="257" r:id="rId6"/>
    <p:sldId id="258" r:id="rId7"/>
    <p:sldId id="281" r:id="rId8"/>
    <p:sldId id="282" r:id="rId9"/>
    <p:sldId id="283"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C76AA0-B10D-4224-8D1A-F26F6C93C4DE}" v="5" dt="2025-10-07T12:17:27.2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405" autoAdjust="0"/>
  </p:normalViewPr>
  <p:slideViewPr>
    <p:cSldViewPr snapToGrid="0">
      <p:cViewPr varScale="1">
        <p:scale>
          <a:sx n="64" d="100"/>
          <a:sy n="64" d="100"/>
        </p:scale>
        <p:origin x="110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T CETIN" userId="2e2693f6-b6ea-444e-bae2-ae104160d18b" providerId="ADAL" clId="{7BC76AA0-B10D-4224-8D1A-F26F6C93C4DE}"/>
    <pc:docChg chg="undo custSel addSld modSld sldOrd">
      <pc:chgData name="AHMET CETIN" userId="2e2693f6-b6ea-444e-bae2-ae104160d18b" providerId="ADAL" clId="{7BC76AA0-B10D-4224-8D1A-F26F6C93C4DE}" dt="2025-10-07T12:22:48.311" v="672" actId="207"/>
      <pc:docMkLst>
        <pc:docMk/>
      </pc:docMkLst>
      <pc:sldChg chg="modSp new mod">
        <pc:chgData name="AHMET CETIN" userId="2e2693f6-b6ea-444e-bae2-ae104160d18b" providerId="ADAL" clId="{7BC76AA0-B10D-4224-8D1A-F26F6C93C4DE}" dt="2025-10-02T15:11:09.270" v="77" actId="20577"/>
        <pc:sldMkLst>
          <pc:docMk/>
          <pc:sldMk cId="3128619987" sldId="256"/>
        </pc:sldMkLst>
        <pc:spChg chg="mod">
          <ac:chgData name="AHMET CETIN" userId="2e2693f6-b6ea-444e-bae2-ae104160d18b" providerId="ADAL" clId="{7BC76AA0-B10D-4224-8D1A-F26F6C93C4DE}" dt="2025-10-02T15:10:54.637" v="60" actId="20577"/>
          <ac:spMkLst>
            <pc:docMk/>
            <pc:sldMk cId="3128619987" sldId="256"/>
            <ac:spMk id="2" creationId="{B44E0187-7F77-2CD8-E1F6-33A770DDC7B1}"/>
          </ac:spMkLst>
        </pc:spChg>
        <pc:spChg chg="mod">
          <ac:chgData name="AHMET CETIN" userId="2e2693f6-b6ea-444e-bae2-ae104160d18b" providerId="ADAL" clId="{7BC76AA0-B10D-4224-8D1A-F26F6C93C4DE}" dt="2025-10-02T15:11:09.270" v="77" actId="20577"/>
          <ac:spMkLst>
            <pc:docMk/>
            <pc:sldMk cId="3128619987" sldId="256"/>
            <ac:spMk id="3" creationId="{5707F2E3-BFA7-8F19-BB38-9BAC4392D653}"/>
          </ac:spMkLst>
        </pc:spChg>
      </pc:sldChg>
      <pc:sldChg chg="modSp new mod">
        <pc:chgData name="AHMET CETIN" userId="2e2693f6-b6ea-444e-bae2-ae104160d18b" providerId="ADAL" clId="{7BC76AA0-B10D-4224-8D1A-F26F6C93C4DE}" dt="2025-10-07T12:11:07.351" v="590" actId="27636"/>
        <pc:sldMkLst>
          <pc:docMk/>
          <pc:sldMk cId="1206900857" sldId="257"/>
        </pc:sldMkLst>
        <pc:spChg chg="mod">
          <ac:chgData name="AHMET CETIN" userId="2e2693f6-b6ea-444e-bae2-ae104160d18b" providerId="ADAL" clId="{7BC76AA0-B10D-4224-8D1A-F26F6C93C4DE}" dt="2025-10-02T15:11:17.276" v="79"/>
          <ac:spMkLst>
            <pc:docMk/>
            <pc:sldMk cId="1206900857" sldId="257"/>
            <ac:spMk id="2" creationId="{67750578-010F-A648-4CFA-89C3DCB51BDD}"/>
          </ac:spMkLst>
        </pc:spChg>
        <pc:spChg chg="mod">
          <ac:chgData name="AHMET CETIN" userId="2e2693f6-b6ea-444e-bae2-ae104160d18b" providerId="ADAL" clId="{7BC76AA0-B10D-4224-8D1A-F26F6C93C4DE}" dt="2025-10-07T12:11:07.351" v="590" actId="27636"/>
          <ac:spMkLst>
            <pc:docMk/>
            <pc:sldMk cId="1206900857" sldId="257"/>
            <ac:spMk id="3" creationId="{7DCF72DD-2E7F-A042-21AA-4FCD5CE3B3D8}"/>
          </ac:spMkLst>
        </pc:spChg>
      </pc:sldChg>
      <pc:sldChg chg="delSp modSp new mod">
        <pc:chgData name="AHMET CETIN" userId="2e2693f6-b6ea-444e-bae2-ae104160d18b" providerId="ADAL" clId="{7BC76AA0-B10D-4224-8D1A-F26F6C93C4DE}" dt="2025-10-07T12:11:45.525" v="600" actId="6549"/>
        <pc:sldMkLst>
          <pc:docMk/>
          <pc:sldMk cId="912158149" sldId="258"/>
        </pc:sldMkLst>
        <pc:spChg chg="mod">
          <ac:chgData name="AHMET CETIN" userId="2e2693f6-b6ea-444e-bae2-ae104160d18b" providerId="ADAL" clId="{7BC76AA0-B10D-4224-8D1A-F26F6C93C4DE}" dt="2025-10-07T12:11:45.525" v="600" actId="6549"/>
          <ac:spMkLst>
            <pc:docMk/>
            <pc:sldMk cId="912158149" sldId="258"/>
            <ac:spMk id="3" creationId="{459286AE-0328-5F2C-2CF1-112D1FAA3A73}"/>
          </ac:spMkLst>
        </pc:spChg>
      </pc:sldChg>
      <pc:sldChg chg="modSp new mod">
        <pc:chgData name="AHMET CETIN" userId="2e2693f6-b6ea-444e-bae2-ae104160d18b" providerId="ADAL" clId="{7BC76AA0-B10D-4224-8D1A-F26F6C93C4DE}" dt="2025-10-07T12:19:57.381" v="658" actId="114"/>
        <pc:sldMkLst>
          <pc:docMk/>
          <pc:sldMk cId="3299753846" sldId="259"/>
        </pc:sldMkLst>
        <pc:spChg chg="mod">
          <ac:chgData name="AHMET CETIN" userId="2e2693f6-b6ea-444e-bae2-ae104160d18b" providerId="ADAL" clId="{7BC76AA0-B10D-4224-8D1A-F26F6C93C4DE}" dt="2025-10-02T15:14:43.058" v="177" actId="20577"/>
          <ac:spMkLst>
            <pc:docMk/>
            <pc:sldMk cId="3299753846" sldId="259"/>
            <ac:spMk id="2" creationId="{D00E4B31-B6F6-D8A3-F4E6-903E35E5BC1B}"/>
          </ac:spMkLst>
        </pc:spChg>
        <pc:spChg chg="mod">
          <ac:chgData name="AHMET CETIN" userId="2e2693f6-b6ea-444e-bae2-ae104160d18b" providerId="ADAL" clId="{7BC76AA0-B10D-4224-8D1A-F26F6C93C4DE}" dt="2025-10-07T12:19:57.381" v="658" actId="114"/>
          <ac:spMkLst>
            <pc:docMk/>
            <pc:sldMk cId="3299753846" sldId="259"/>
            <ac:spMk id="3" creationId="{EF7D519A-AD36-3E6A-D91E-5FF6D3CABEAD}"/>
          </ac:spMkLst>
        </pc:spChg>
      </pc:sldChg>
      <pc:sldChg chg="delSp modSp new mod">
        <pc:chgData name="AHMET CETIN" userId="2e2693f6-b6ea-444e-bae2-ae104160d18b" providerId="ADAL" clId="{7BC76AA0-B10D-4224-8D1A-F26F6C93C4DE}" dt="2025-10-07T12:20:23.832" v="660" actId="114"/>
        <pc:sldMkLst>
          <pc:docMk/>
          <pc:sldMk cId="3565530713" sldId="260"/>
        </pc:sldMkLst>
        <pc:spChg chg="mod">
          <ac:chgData name="AHMET CETIN" userId="2e2693f6-b6ea-444e-bae2-ae104160d18b" providerId="ADAL" clId="{7BC76AA0-B10D-4224-8D1A-F26F6C93C4DE}" dt="2025-10-07T12:20:23.832" v="660" actId="114"/>
          <ac:spMkLst>
            <pc:docMk/>
            <pc:sldMk cId="3565530713" sldId="260"/>
            <ac:spMk id="3" creationId="{6AE62046-0C2D-5DF1-C45A-0AF86D13676E}"/>
          </ac:spMkLst>
        </pc:spChg>
      </pc:sldChg>
      <pc:sldChg chg="delSp modSp new mod">
        <pc:chgData name="AHMET CETIN" userId="2e2693f6-b6ea-444e-bae2-ae104160d18b" providerId="ADAL" clId="{7BC76AA0-B10D-4224-8D1A-F26F6C93C4DE}" dt="2025-10-07T12:20:50.937" v="663" actId="114"/>
        <pc:sldMkLst>
          <pc:docMk/>
          <pc:sldMk cId="2943380976" sldId="261"/>
        </pc:sldMkLst>
        <pc:spChg chg="mod">
          <ac:chgData name="AHMET CETIN" userId="2e2693f6-b6ea-444e-bae2-ae104160d18b" providerId="ADAL" clId="{7BC76AA0-B10D-4224-8D1A-F26F6C93C4DE}" dt="2025-10-07T12:20:50.937" v="663" actId="114"/>
          <ac:spMkLst>
            <pc:docMk/>
            <pc:sldMk cId="2943380976" sldId="261"/>
            <ac:spMk id="3" creationId="{F19577F1-701D-7A0A-5F3C-BAFFCCBC4A7E}"/>
          </ac:spMkLst>
        </pc:spChg>
      </pc:sldChg>
      <pc:sldChg chg="delSp modSp new mod">
        <pc:chgData name="AHMET CETIN" userId="2e2693f6-b6ea-444e-bae2-ae104160d18b" providerId="ADAL" clId="{7BC76AA0-B10D-4224-8D1A-F26F6C93C4DE}" dt="2025-10-07T12:21:23.502" v="665" actId="114"/>
        <pc:sldMkLst>
          <pc:docMk/>
          <pc:sldMk cId="1211524550" sldId="262"/>
        </pc:sldMkLst>
        <pc:spChg chg="mod">
          <ac:chgData name="AHMET CETIN" userId="2e2693f6-b6ea-444e-bae2-ae104160d18b" providerId="ADAL" clId="{7BC76AA0-B10D-4224-8D1A-F26F6C93C4DE}" dt="2025-10-07T12:21:23.502" v="665" actId="114"/>
          <ac:spMkLst>
            <pc:docMk/>
            <pc:sldMk cId="1211524550" sldId="262"/>
            <ac:spMk id="3" creationId="{771600FD-7EF9-0657-B5BF-F988BE6705C5}"/>
          </ac:spMkLst>
        </pc:spChg>
      </pc:sldChg>
      <pc:sldChg chg="delSp modSp new mod">
        <pc:chgData name="AHMET CETIN" userId="2e2693f6-b6ea-444e-bae2-ae104160d18b" providerId="ADAL" clId="{7BC76AA0-B10D-4224-8D1A-F26F6C93C4DE}" dt="2025-10-07T12:21:59.070" v="668" actId="114"/>
        <pc:sldMkLst>
          <pc:docMk/>
          <pc:sldMk cId="2812704900" sldId="263"/>
        </pc:sldMkLst>
        <pc:spChg chg="mod">
          <ac:chgData name="AHMET CETIN" userId="2e2693f6-b6ea-444e-bae2-ae104160d18b" providerId="ADAL" clId="{7BC76AA0-B10D-4224-8D1A-F26F6C93C4DE}" dt="2025-10-07T12:21:59.070" v="668" actId="114"/>
          <ac:spMkLst>
            <pc:docMk/>
            <pc:sldMk cId="2812704900" sldId="263"/>
            <ac:spMk id="3" creationId="{42581167-6AC8-1B59-E289-F5B7981055C6}"/>
          </ac:spMkLst>
        </pc:spChg>
      </pc:sldChg>
      <pc:sldChg chg="delSp modSp new mod">
        <pc:chgData name="AHMET CETIN" userId="2e2693f6-b6ea-444e-bae2-ae104160d18b" providerId="ADAL" clId="{7BC76AA0-B10D-4224-8D1A-F26F6C93C4DE}" dt="2025-10-07T12:22:21.416" v="670" actId="114"/>
        <pc:sldMkLst>
          <pc:docMk/>
          <pc:sldMk cId="1944755992" sldId="264"/>
        </pc:sldMkLst>
        <pc:spChg chg="mod">
          <ac:chgData name="AHMET CETIN" userId="2e2693f6-b6ea-444e-bae2-ae104160d18b" providerId="ADAL" clId="{7BC76AA0-B10D-4224-8D1A-F26F6C93C4DE}" dt="2025-10-07T12:22:21.416" v="670" actId="114"/>
          <ac:spMkLst>
            <pc:docMk/>
            <pc:sldMk cId="1944755992" sldId="264"/>
            <ac:spMk id="3" creationId="{72FEC064-AA2F-1B91-2C1A-4E59B6ED2B06}"/>
          </ac:spMkLst>
        </pc:spChg>
      </pc:sldChg>
      <pc:sldChg chg="modSp new mod">
        <pc:chgData name="AHMET CETIN" userId="2e2693f6-b6ea-444e-bae2-ae104160d18b" providerId="ADAL" clId="{7BC76AA0-B10D-4224-8D1A-F26F6C93C4DE}" dt="2025-10-02T15:27:34.355" v="393"/>
        <pc:sldMkLst>
          <pc:docMk/>
          <pc:sldMk cId="3261315709" sldId="265"/>
        </pc:sldMkLst>
        <pc:spChg chg="mod">
          <ac:chgData name="AHMET CETIN" userId="2e2693f6-b6ea-444e-bae2-ae104160d18b" providerId="ADAL" clId="{7BC76AA0-B10D-4224-8D1A-F26F6C93C4DE}" dt="2025-10-02T15:26:57.929" v="390"/>
          <ac:spMkLst>
            <pc:docMk/>
            <pc:sldMk cId="3261315709" sldId="265"/>
            <ac:spMk id="2" creationId="{1B9981B8-F311-F849-0AFF-D484B4721756}"/>
          </ac:spMkLst>
        </pc:spChg>
        <pc:spChg chg="mod">
          <ac:chgData name="AHMET CETIN" userId="2e2693f6-b6ea-444e-bae2-ae104160d18b" providerId="ADAL" clId="{7BC76AA0-B10D-4224-8D1A-F26F6C93C4DE}" dt="2025-10-02T15:27:34.355" v="393"/>
          <ac:spMkLst>
            <pc:docMk/>
            <pc:sldMk cId="3261315709" sldId="265"/>
            <ac:spMk id="3" creationId="{2E01B410-39B4-7301-398D-7C9F56BA9309}"/>
          </ac:spMkLst>
        </pc:spChg>
      </pc:sldChg>
      <pc:sldChg chg="modSp new mod">
        <pc:chgData name="AHMET CETIN" userId="2e2693f6-b6ea-444e-bae2-ae104160d18b" providerId="ADAL" clId="{7BC76AA0-B10D-4224-8D1A-F26F6C93C4DE}" dt="2025-10-07T12:22:48.311" v="672" actId="207"/>
        <pc:sldMkLst>
          <pc:docMk/>
          <pc:sldMk cId="2086393639" sldId="266"/>
        </pc:sldMkLst>
        <pc:spChg chg="mod">
          <ac:chgData name="AHMET CETIN" userId="2e2693f6-b6ea-444e-bae2-ae104160d18b" providerId="ADAL" clId="{7BC76AA0-B10D-4224-8D1A-F26F6C93C4DE}" dt="2025-10-02T15:27:51.607" v="395"/>
          <ac:spMkLst>
            <pc:docMk/>
            <pc:sldMk cId="2086393639" sldId="266"/>
            <ac:spMk id="2" creationId="{33B9EFCB-9771-03D4-CF3E-C4A1FFD274FD}"/>
          </ac:spMkLst>
        </pc:spChg>
        <pc:spChg chg="mod">
          <ac:chgData name="AHMET CETIN" userId="2e2693f6-b6ea-444e-bae2-ae104160d18b" providerId="ADAL" clId="{7BC76AA0-B10D-4224-8D1A-F26F6C93C4DE}" dt="2025-10-07T12:22:48.311" v="672" actId="207"/>
          <ac:spMkLst>
            <pc:docMk/>
            <pc:sldMk cId="2086393639" sldId="266"/>
            <ac:spMk id="3" creationId="{99024635-F992-63EC-D42C-C47C3B2F3723}"/>
          </ac:spMkLst>
        </pc:spChg>
      </pc:sldChg>
      <pc:sldChg chg="delSp modSp new mod">
        <pc:chgData name="AHMET CETIN" userId="2e2693f6-b6ea-444e-bae2-ae104160d18b" providerId="ADAL" clId="{7BC76AA0-B10D-4224-8D1A-F26F6C93C4DE}" dt="2025-10-02T15:28:40.835" v="412" actId="20577"/>
        <pc:sldMkLst>
          <pc:docMk/>
          <pc:sldMk cId="706000171" sldId="267"/>
        </pc:sldMkLst>
        <pc:spChg chg="mod">
          <ac:chgData name="AHMET CETIN" userId="2e2693f6-b6ea-444e-bae2-ae104160d18b" providerId="ADAL" clId="{7BC76AA0-B10D-4224-8D1A-F26F6C93C4DE}" dt="2025-10-02T15:28:40.835" v="412" actId="20577"/>
          <ac:spMkLst>
            <pc:docMk/>
            <pc:sldMk cId="706000171" sldId="267"/>
            <ac:spMk id="3" creationId="{8AAB5041-2C2D-0EF6-FE2E-B5E753F824D2}"/>
          </ac:spMkLst>
        </pc:spChg>
      </pc:sldChg>
      <pc:sldChg chg="modSp new mod">
        <pc:chgData name="AHMET CETIN" userId="2e2693f6-b6ea-444e-bae2-ae104160d18b" providerId="ADAL" clId="{7BC76AA0-B10D-4224-8D1A-F26F6C93C4DE}" dt="2025-10-02T15:29:06.164" v="415"/>
        <pc:sldMkLst>
          <pc:docMk/>
          <pc:sldMk cId="503867880" sldId="268"/>
        </pc:sldMkLst>
        <pc:spChg chg="mod">
          <ac:chgData name="AHMET CETIN" userId="2e2693f6-b6ea-444e-bae2-ae104160d18b" providerId="ADAL" clId="{7BC76AA0-B10D-4224-8D1A-F26F6C93C4DE}" dt="2025-10-02T15:28:52.083" v="414"/>
          <ac:spMkLst>
            <pc:docMk/>
            <pc:sldMk cId="503867880" sldId="268"/>
            <ac:spMk id="2" creationId="{E3DF1909-5D3E-5499-11A5-CD47310FFE7D}"/>
          </ac:spMkLst>
        </pc:spChg>
        <pc:spChg chg="mod">
          <ac:chgData name="AHMET CETIN" userId="2e2693f6-b6ea-444e-bae2-ae104160d18b" providerId="ADAL" clId="{7BC76AA0-B10D-4224-8D1A-F26F6C93C4DE}" dt="2025-10-02T15:29:06.164" v="415"/>
          <ac:spMkLst>
            <pc:docMk/>
            <pc:sldMk cId="503867880" sldId="268"/>
            <ac:spMk id="3" creationId="{B95BF8CE-0D33-2114-825D-F0607CE221EE}"/>
          </ac:spMkLst>
        </pc:spChg>
      </pc:sldChg>
      <pc:sldChg chg="delSp modSp new mod">
        <pc:chgData name="AHMET CETIN" userId="2e2693f6-b6ea-444e-bae2-ae104160d18b" providerId="ADAL" clId="{7BC76AA0-B10D-4224-8D1A-F26F6C93C4DE}" dt="2025-10-02T15:29:21.291" v="420" actId="20577"/>
        <pc:sldMkLst>
          <pc:docMk/>
          <pc:sldMk cId="3146545671" sldId="269"/>
        </pc:sldMkLst>
        <pc:spChg chg="mod">
          <ac:chgData name="AHMET CETIN" userId="2e2693f6-b6ea-444e-bae2-ae104160d18b" providerId="ADAL" clId="{7BC76AA0-B10D-4224-8D1A-F26F6C93C4DE}" dt="2025-10-02T15:29:21.291" v="420" actId="20577"/>
          <ac:spMkLst>
            <pc:docMk/>
            <pc:sldMk cId="3146545671" sldId="269"/>
            <ac:spMk id="3" creationId="{28EA0C4B-2C4C-C1EF-9957-2EC2426B29D2}"/>
          </ac:spMkLst>
        </pc:spChg>
      </pc:sldChg>
      <pc:sldChg chg="delSp modSp new mod">
        <pc:chgData name="AHMET CETIN" userId="2e2693f6-b6ea-444e-bae2-ae104160d18b" providerId="ADAL" clId="{7BC76AA0-B10D-4224-8D1A-F26F6C93C4DE}" dt="2025-10-02T15:29:37.039" v="425" actId="478"/>
        <pc:sldMkLst>
          <pc:docMk/>
          <pc:sldMk cId="2377078731" sldId="270"/>
        </pc:sldMkLst>
        <pc:spChg chg="mod">
          <ac:chgData name="AHMET CETIN" userId="2e2693f6-b6ea-444e-bae2-ae104160d18b" providerId="ADAL" clId="{7BC76AA0-B10D-4224-8D1A-F26F6C93C4DE}" dt="2025-10-02T15:29:34.834" v="424" actId="20577"/>
          <ac:spMkLst>
            <pc:docMk/>
            <pc:sldMk cId="2377078731" sldId="270"/>
            <ac:spMk id="3" creationId="{B318B7E6-6B3C-F08C-3883-739141B27D34}"/>
          </ac:spMkLst>
        </pc:spChg>
      </pc:sldChg>
      <pc:sldChg chg="delSp modSp new mod">
        <pc:chgData name="AHMET CETIN" userId="2e2693f6-b6ea-444e-bae2-ae104160d18b" providerId="ADAL" clId="{7BC76AA0-B10D-4224-8D1A-F26F6C93C4DE}" dt="2025-10-02T15:29:57.552" v="432" actId="478"/>
        <pc:sldMkLst>
          <pc:docMk/>
          <pc:sldMk cId="703832590" sldId="271"/>
        </pc:sldMkLst>
        <pc:spChg chg="mod">
          <ac:chgData name="AHMET CETIN" userId="2e2693f6-b6ea-444e-bae2-ae104160d18b" providerId="ADAL" clId="{7BC76AA0-B10D-4224-8D1A-F26F6C93C4DE}" dt="2025-10-02T15:29:54.751" v="431" actId="20577"/>
          <ac:spMkLst>
            <pc:docMk/>
            <pc:sldMk cId="703832590" sldId="271"/>
            <ac:spMk id="3" creationId="{6E02F797-0EB2-D26B-EC06-CC10F4FE201B}"/>
          </ac:spMkLst>
        </pc:spChg>
      </pc:sldChg>
      <pc:sldChg chg="modSp new mod">
        <pc:chgData name="AHMET CETIN" userId="2e2693f6-b6ea-444e-bae2-ae104160d18b" providerId="ADAL" clId="{7BC76AA0-B10D-4224-8D1A-F26F6C93C4DE}" dt="2025-10-02T15:30:23.222" v="439" actId="20577"/>
        <pc:sldMkLst>
          <pc:docMk/>
          <pc:sldMk cId="1238291393" sldId="272"/>
        </pc:sldMkLst>
        <pc:spChg chg="mod">
          <ac:chgData name="AHMET CETIN" userId="2e2693f6-b6ea-444e-bae2-ae104160d18b" providerId="ADAL" clId="{7BC76AA0-B10D-4224-8D1A-F26F6C93C4DE}" dt="2025-10-02T15:30:06.807" v="434"/>
          <ac:spMkLst>
            <pc:docMk/>
            <pc:sldMk cId="1238291393" sldId="272"/>
            <ac:spMk id="2" creationId="{18C2A7DD-0811-5B70-4DBF-FFE547207B9B}"/>
          </ac:spMkLst>
        </pc:spChg>
        <pc:spChg chg="mod">
          <ac:chgData name="AHMET CETIN" userId="2e2693f6-b6ea-444e-bae2-ae104160d18b" providerId="ADAL" clId="{7BC76AA0-B10D-4224-8D1A-F26F6C93C4DE}" dt="2025-10-02T15:30:23.222" v="439" actId="20577"/>
          <ac:spMkLst>
            <pc:docMk/>
            <pc:sldMk cId="1238291393" sldId="272"/>
            <ac:spMk id="3" creationId="{1821F26E-E59F-CF09-B046-A13125EF3A4A}"/>
          </ac:spMkLst>
        </pc:spChg>
      </pc:sldChg>
      <pc:sldChg chg="modSp new mod">
        <pc:chgData name="AHMET CETIN" userId="2e2693f6-b6ea-444e-bae2-ae104160d18b" providerId="ADAL" clId="{7BC76AA0-B10D-4224-8D1A-F26F6C93C4DE}" dt="2025-10-02T15:30:40.848" v="441"/>
        <pc:sldMkLst>
          <pc:docMk/>
          <pc:sldMk cId="1806889073" sldId="273"/>
        </pc:sldMkLst>
        <pc:spChg chg="mod">
          <ac:chgData name="AHMET CETIN" userId="2e2693f6-b6ea-444e-bae2-ae104160d18b" providerId="ADAL" clId="{7BC76AA0-B10D-4224-8D1A-F26F6C93C4DE}" dt="2025-10-02T15:30:40.848" v="441"/>
          <ac:spMkLst>
            <pc:docMk/>
            <pc:sldMk cId="1806889073" sldId="273"/>
            <ac:spMk id="3" creationId="{A13E43AB-603C-5BCE-5997-62B9DD2D41F0}"/>
          </ac:spMkLst>
        </pc:spChg>
      </pc:sldChg>
      <pc:sldChg chg="modSp new mod">
        <pc:chgData name="AHMET CETIN" userId="2e2693f6-b6ea-444e-bae2-ae104160d18b" providerId="ADAL" clId="{7BC76AA0-B10D-4224-8D1A-F26F6C93C4DE}" dt="2025-10-02T15:31:28.041" v="449" actId="20577"/>
        <pc:sldMkLst>
          <pc:docMk/>
          <pc:sldMk cId="3408638328" sldId="274"/>
        </pc:sldMkLst>
        <pc:spChg chg="mod">
          <ac:chgData name="AHMET CETIN" userId="2e2693f6-b6ea-444e-bae2-ae104160d18b" providerId="ADAL" clId="{7BC76AA0-B10D-4224-8D1A-F26F6C93C4DE}" dt="2025-10-02T15:31:02.485" v="443"/>
          <ac:spMkLst>
            <pc:docMk/>
            <pc:sldMk cId="3408638328" sldId="274"/>
            <ac:spMk id="2" creationId="{A82922C2-1005-4D94-2648-27972F707D82}"/>
          </ac:spMkLst>
        </pc:spChg>
        <pc:spChg chg="mod">
          <ac:chgData name="AHMET CETIN" userId="2e2693f6-b6ea-444e-bae2-ae104160d18b" providerId="ADAL" clId="{7BC76AA0-B10D-4224-8D1A-F26F6C93C4DE}" dt="2025-10-02T15:31:28.041" v="449" actId="20577"/>
          <ac:spMkLst>
            <pc:docMk/>
            <pc:sldMk cId="3408638328" sldId="274"/>
            <ac:spMk id="3" creationId="{9D6D8115-B333-FB03-0D17-7FE7D0E7440C}"/>
          </ac:spMkLst>
        </pc:spChg>
      </pc:sldChg>
      <pc:sldChg chg="delSp modSp new mod">
        <pc:chgData name="AHMET CETIN" userId="2e2693f6-b6ea-444e-bae2-ae104160d18b" providerId="ADAL" clId="{7BC76AA0-B10D-4224-8D1A-F26F6C93C4DE}" dt="2025-10-02T15:31:58.421" v="461" actId="27636"/>
        <pc:sldMkLst>
          <pc:docMk/>
          <pc:sldMk cId="2415362737" sldId="275"/>
        </pc:sldMkLst>
        <pc:spChg chg="mod">
          <ac:chgData name="AHMET CETIN" userId="2e2693f6-b6ea-444e-bae2-ae104160d18b" providerId="ADAL" clId="{7BC76AA0-B10D-4224-8D1A-F26F6C93C4DE}" dt="2025-10-02T15:31:58.421" v="461" actId="27636"/>
          <ac:spMkLst>
            <pc:docMk/>
            <pc:sldMk cId="2415362737" sldId="275"/>
            <ac:spMk id="3" creationId="{2946F8F1-2E86-1548-3E3C-CC535639B984}"/>
          </ac:spMkLst>
        </pc:spChg>
      </pc:sldChg>
      <pc:sldChg chg="modSp new mod">
        <pc:chgData name="AHMET CETIN" userId="2e2693f6-b6ea-444e-bae2-ae104160d18b" providerId="ADAL" clId="{7BC76AA0-B10D-4224-8D1A-F26F6C93C4DE}" dt="2025-10-02T15:32:37.084" v="470" actId="20577"/>
        <pc:sldMkLst>
          <pc:docMk/>
          <pc:sldMk cId="4061370995" sldId="276"/>
        </pc:sldMkLst>
        <pc:spChg chg="mod">
          <ac:chgData name="AHMET CETIN" userId="2e2693f6-b6ea-444e-bae2-ae104160d18b" providerId="ADAL" clId="{7BC76AA0-B10D-4224-8D1A-F26F6C93C4DE}" dt="2025-10-02T15:32:19.370" v="463"/>
          <ac:spMkLst>
            <pc:docMk/>
            <pc:sldMk cId="4061370995" sldId="276"/>
            <ac:spMk id="2" creationId="{61D307AF-3FA2-74AB-DE86-6A86DF849CFA}"/>
          </ac:spMkLst>
        </pc:spChg>
        <pc:spChg chg="mod">
          <ac:chgData name="AHMET CETIN" userId="2e2693f6-b6ea-444e-bae2-ae104160d18b" providerId="ADAL" clId="{7BC76AA0-B10D-4224-8D1A-F26F6C93C4DE}" dt="2025-10-02T15:32:37.084" v="470" actId="20577"/>
          <ac:spMkLst>
            <pc:docMk/>
            <pc:sldMk cId="4061370995" sldId="276"/>
            <ac:spMk id="3" creationId="{76705DB3-A866-F61D-D252-3B90E68E88E0}"/>
          </ac:spMkLst>
        </pc:spChg>
      </pc:sldChg>
      <pc:sldChg chg="modSp new mod">
        <pc:chgData name="AHMET CETIN" userId="2e2693f6-b6ea-444e-bae2-ae104160d18b" providerId="ADAL" clId="{7BC76AA0-B10D-4224-8D1A-F26F6C93C4DE}" dt="2025-10-02T15:34:13.227" v="511" actId="5793"/>
        <pc:sldMkLst>
          <pc:docMk/>
          <pc:sldMk cId="2464395909" sldId="277"/>
        </pc:sldMkLst>
        <pc:spChg chg="mod">
          <ac:chgData name="AHMET CETIN" userId="2e2693f6-b6ea-444e-bae2-ae104160d18b" providerId="ADAL" clId="{7BC76AA0-B10D-4224-8D1A-F26F6C93C4DE}" dt="2025-10-02T15:32:50.039" v="472"/>
          <ac:spMkLst>
            <pc:docMk/>
            <pc:sldMk cId="2464395909" sldId="277"/>
            <ac:spMk id="2" creationId="{A5C2BA05-6EB2-7F3A-3A12-2F103D60C90A}"/>
          </ac:spMkLst>
        </pc:spChg>
        <pc:spChg chg="mod">
          <ac:chgData name="AHMET CETIN" userId="2e2693f6-b6ea-444e-bae2-ae104160d18b" providerId="ADAL" clId="{7BC76AA0-B10D-4224-8D1A-F26F6C93C4DE}" dt="2025-10-02T15:34:13.227" v="511" actId="5793"/>
          <ac:spMkLst>
            <pc:docMk/>
            <pc:sldMk cId="2464395909" sldId="277"/>
            <ac:spMk id="3" creationId="{FEC3B77B-76E6-438F-227B-E9BE22E90398}"/>
          </ac:spMkLst>
        </pc:spChg>
      </pc:sldChg>
      <pc:sldChg chg="modSp new mod ord">
        <pc:chgData name="AHMET CETIN" userId="2e2693f6-b6ea-444e-bae2-ae104160d18b" providerId="ADAL" clId="{7BC76AA0-B10D-4224-8D1A-F26F6C93C4DE}" dt="2025-10-02T15:37:59.968" v="576" actId="114"/>
        <pc:sldMkLst>
          <pc:docMk/>
          <pc:sldMk cId="2445368123" sldId="278"/>
        </pc:sldMkLst>
        <pc:spChg chg="mod">
          <ac:chgData name="AHMET CETIN" userId="2e2693f6-b6ea-444e-bae2-ae104160d18b" providerId="ADAL" clId="{7BC76AA0-B10D-4224-8D1A-F26F6C93C4DE}" dt="2025-10-02T15:35:09.753" v="534" actId="20577"/>
          <ac:spMkLst>
            <pc:docMk/>
            <pc:sldMk cId="2445368123" sldId="278"/>
            <ac:spMk id="2" creationId="{CB1C1290-B5DE-A277-E35A-B99A6A1A5FB0}"/>
          </ac:spMkLst>
        </pc:spChg>
        <pc:spChg chg="mod">
          <ac:chgData name="AHMET CETIN" userId="2e2693f6-b6ea-444e-bae2-ae104160d18b" providerId="ADAL" clId="{7BC76AA0-B10D-4224-8D1A-F26F6C93C4DE}" dt="2025-10-02T15:37:59.968" v="576" actId="114"/>
          <ac:spMkLst>
            <pc:docMk/>
            <pc:sldMk cId="2445368123" sldId="278"/>
            <ac:spMk id="3" creationId="{6D449483-D6FA-831B-1779-2D274FB8875F}"/>
          </ac:spMkLst>
        </pc:spChg>
      </pc:sldChg>
      <pc:sldChg chg="delSp modSp new mod ord">
        <pc:chgData name="AHMET CETIN" userId="2e2693f6-b6ea-444e-bae2-ae104160d18b" providerId="ADAL" clId="{7BC76AA0-B10D-4224-8D1A-F26F6C93C4DE}" dt="2025-10-02T15:38:19.694" v="579" actId="114"/>
        <pc:sldMkLst>
          <pc:docMk/>
          <pc:sldMk cId="2243557696" sldId="279"/>
        </pc:sldMkLst>
        <pc:spChg chg="mod">
          <ac:chgData name="AHMET CETIN" userId="2e2693f6-b6ea-444e-bae2-ae104160d18b" providerId="ADAL" clId="{7BC76AA0-B10D-4224-8D1A-F26F6C93C4DE}" dt="2025-10-02T15:38:19.694" v="579" actId="114"/>
          <ac:spMkLst>
            <pc:docMk/>
            <pc:sldMk cId="2243557696" sldId="279"/>
            <ac:spMk id="3" creationId="{9810396F-C4D0-6AB0-2B0A-2975A9129B2F}"/>
          </ac:spMkLst>
        </pc:spChg>
      </pc:sldChg>
      <pc:sldChg chg="delSp modSp new mod ord modNotesTx">
        <pc:chgData name="AHMET CETIN" userId="2e2693f6-b6ea-444e-bae2-ae104160d18b" providerId="ADAL" clId="{7BC76AA0-B10D-4224-8D1A-F26F6C93C4DE}" dt="2025-10-07T12:09:01.529" v="584"/>
        <pc:sldMkLst>
          <pc:docMk/>
          <pc:sldMk cId="4153510817" sldId="280"/>
        </pc:sldMkLst>
        <pc:spChg chg="mod">
          <ac:chgData name="AHMET CETIN" userId="2e2693f6-b6ea-444e-bae2-ae104160d18b" providerId="ADAL" clId="{7BC76AA0-B10D-4224-8D1A-F26F6C93C4DE}" dt="2025-10-02T15:38:38.076" v="583" actId="114"/>
          <ac:spMkLst>
            <pc:docMk/>
            <pc:sldMk cId="4153510817" sldId="280"/>
            <ac:spMk id="3" creationId="{BA947C18-84D3-7F82-AF21-69A559FA9EAB}"/>
          </ac:spMkLst>
        </pc:spChg>
      </pc:sldChg>
      <pc:sldChg chg="delSp modSp new mod">
        <pc:chgData name="AHMET CETIN" userId="2e2693f6-b6ea-444e-bae2-ae104160d18b" providerId="ADAL" clId="{7BC76AA0-B10D-4224-8D1A-F26F6C93C4DE}" dt="2025-10-07T12:16:16.899" v="628" actId="20577"/>
        <pc:sldMkLst>
          <pc:docMk/>
          <pc:sldMk cId="2609814799" sldId="281"/>
        </pc:sldMkLst>
        <pc:spChg chg="del">
          <ac:chgData name="AHMET CETIN" userId="2e2693f6-b6ea-444e-bae2-ae104160d18b" providerId="ADAL" clId="{7BC76AA0-B10D-4224-8D1A-F26F6C93C4DE}" dt="2025-10-07T12:15:54.408" v="613" actId="478"/>
          <ac:spMkLst>
            <pc:docMk/>
            <pc:sldMk cId="2609814799" sldId="281"/>
            <ac:spMk id="2" creationId="{AD95C9FA-295B-FF1D-FCE9-F398C52BC1D8}"/>
          </ac:spMkLst>
        </pc:spChg>
        <pc:spChg chg="mod">
          <ac:chgData name="AHMET CETIN" userId="2e2693f6-b6ea-444e-bae2-ae104160d18b" providerId="ADAL" clId="{7BC76AA0-B10D-4224-8D1A-F26F6C93C4DE}" dt="2025-10-07T12:16:16.899" v="628" actId="20577"/>
          <ac:spMkLst>
            <pc:docMk/>
            <pc:sldMk cId="2609814799" sldId="281"/>
            <ac:spMk id="3" creationId="{7016EBAE-7AE4-73DF-4034-6234DBDD7CF5}"/>
          </ac:spMkLst>
        </pc:spChg>
      </pc:sldChg>
      <pc:sldChg chg="addSp delSp modSp new mod">
        <pc:chgData name="AHMET CETIN" userId="2e2693f6-b6ea-444e-bae2-ae104160d18b" providerId="ADAL" clId="{7BC76AA0-B10D-4224-8D1A-F26F6C93C4DE}" dt="2025-10-07T12:18:08.502" v="653" actId="478"/>
        <pc:sldMkLst>
          <pc:docMk/>
          <pc:sldMk cId="3985194126" sldId="282"/>
        </pc:sldMkLst>
        <pc:spChg chg="del">
          <ac:chgData name="AHMET CETIN" userId="2e2693f6-b6ea-444e-bae2-ae104160d18b" providerId="ADAL" clId="{7BC76AA0-B10D-4224-8D1A-F26F6C93C4DE}" dt="2025-10-07T12:18:08.502" v="653" actId="478"/>
          <ac:spMkLst>
            <pc:docMk/>
            <pc:sldMk cId="3985194126" sldId="282"/>
            <ac:spMk id="2" creationId="{0E44B738-AE5B-EF4E-D6AB-24BFCD1EB398}"/>
          </ac:spMkLst>
        </pc:spChg>
        <pc:spChg chg="add del mod">
          <ac:chgData name="AHMET CETIN" userId="2e2693f6-b6ea-444e-bae2-ae104160d18b" providerId="ADAL" clId="{7BC76AA0-B10D-4224-8D1A-F26F6C93C4DE}" dt="2025-10-07T12:16:59.677" v="640" actId="20577"/>
          <ac:spMkLst>
            <pc:docMk/>
            <pc:sldMk cId="3985194126" sldId="282"/>
            <ac:spMk id="3" creationId="{259D9581-E9A4-58BC-D3E6-9E709CA0EE99}"/>
          </ac:spMkLst>
        </pc:spChg>
        <pc:spChg chg="add mod">
          <ac:chgData name="AHMET CETIN" userId="2e2693f6-b6ea-444e-bae2-ae104160d18b" providerId="ADAL" clId="{7BC76AA0-B10D-4224-8D1A-F26F6C93C4DE}" dt="2025-10-07T12:16:40.913" v="631"/>
          <ac:spMkLst>
            <pc:docMk/>
            <pc:sldMk cId="3985194126" sldId="282"/>
            <ac:spMk id="4" creationId="{8190FEA1-5200-E6AC-CC18-A1D25C06039A}"/>
          </ac:spMkLst>
        </pc:spChg>
      </pc:sldChg>
      <pc:sldChg chg="delSp modSp new mod">
        <pc:chgData name="AHMET CETIN" userId="2e2693f6-b6ea-444e-bae2-ae104160d18b" providerId="ADAL" clId="{7BC76AA0-B10D-4224-8D1A-F26F6C93C4DE}" dt="2025-10-07T12:19:35.612" v="656" actId="14100"/>
        <pc:sldMkLst>
          <pc:docMk/>
          <pc:sldMk cId="918386035" sldId="283"/>
        </pc:sldMkLst>
        <pc:spChg chg="del">
          <ac:chgData name="AHMET CETIN" userId="2e2693f6-b6ea-444e-bae2-ae104160d18b" providerId="ADAL" clId="{7BC76AA0-B10D-4224-8D1A-F26F6C93C4DE}" dt="2025-10-07T12:18:13.189" v="654" actId="478"/>
          <ac:spMkLst>
            <pc:docMk/>
            <pc:sldMk cId="918386035" sldId="283"/>
            <ac:spMk id="2" creationId="{C9198637-20A6-C541-7303-0976781C1A19}"/>
          </ac:spMkLst>
        </pc:spChg>
        <pc:spChg chg="mod">
          <ac:chgData name="AHMET CETIN" userId="2e2693f6-b6ea-444e-bae2-ae104160d18b" providerId="ADAL" clId="{7BC76AA0-B10D-4224-8D1A-F26F6C93C4DE}" dt="2025-10-07T12:19:35.612" v="656" actId="14100"/>
          <ac:spMkLst>
            <pc:docMk/>
            <pc:sldMk cId="918386035" sldId="283"/>
            <ac:spMk id="3" creationId="{2D4CBDF7-92AD-5DFF-65D7-8EAF1D686B6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BA3052-2BA0-4D5E-9238-AD1C0D0635B2}" type="datetimeFigureOut">
              <a:rPr lang="tr-TR" smtClean="0"/>
              <a:t>7.10.2025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13E9A2-08A7-4E9E-BA34-DFBBBE5B0676}" type="slidenum">
              <a:rPr lang="tr-TR" smtClean="0"/>
              <a:t>‹#›</a:t>
            </a:fld>
            <a:endParaRPr lang="tr-TR"/>
          </a:p>
        </p:txBody>
      </p:sp>
    </p:spTree>
    <p:extLst>
      <p:ext uri="{BB962C8B-B14F-4D97-AF65-F5344CB8AC3E}">
        <p14:creationId xmlns:p14="http://schemas.microsoft.com/office/powerpoint/2010/main" val="4011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a:t> girişimcinin veya bir karar vericinin (yöneticinin), belirsizlik ve riskin yüksek olduğu ortamlarda, sınırlı olan kaynakları (para, insan gücü, zaman vb.) en doğru ve kârlı şekilde nasıl bir araya getireceğine ve hangi projelere tahsis edeceğine dair önemli, kişisel öngörü gerektiren ve kesin olmayan kararlar vermesi yeteneğini ifade eder.</a:t>
            </a:r>
          </a:p>
        </p:txBody>
      </p:sp>
      <p:sp>
        <p:nvSpPr>
          <p:cNvPr id="4" name="Slayt Numarası Yer Tutucusu 3"/>
          <p:cNvSpPr>
            <a:spLocks noGrp="1"/>
          </p:cNvSpPr>
          <p:nvPr>
            <p:ph type="sldNum" sz="quarter" idx="5"/>
          </p:nvPr>
        </p:nvSpPr>
        <p:spPr/>
        <p:txBody>
          <a:bodyPr/>
          <a:lstStyle/>
          <a:p>
            <a:fld id="{E513E9A2-08A7-4E9E-BA34-DFBBBE5B0676}" type="slidenum">
              <a:rPr lang="tr-TR" smtClean="0"/>
              <a:t>4</a:t>
            </a:fld>
            <a:endParaRPr lang="tr-TR"/>
          </a:p>
        </p:txBody>
      </p:sp>
    </p:spTree>
    <p:extLst>
      <p:ext uri="{BB962C8B-B14F-4D97-AF65-F5344CB8AC3E}">
        <p14:creationId xmlns:p14="http://schemas.microsoft.com/office/powerpoint/2010/main" val="36085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283ADF6-1B0C-2519-CCE0-C318D7D85886}"/>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2D4364E2-3450-A7FE-1602-1F5C0B15FE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F0C96ACB-1F5B-FDC6-A0CD-430F8E82DCCD}"/>
              </a:ext>
            </a:extLst>
          </p:cNvPr>
          <p:cNvSpPr>
            <a:spLocks noGrp="1"/>
          </p:cNvSpPr>
          <p:nvPr>
            <p:ph type="dt" sz="half" idx="10"/>
          </p:nvPr>
        </p:nvSpPr>
        <p:spPr/>
        <p:txBody>
          <a:bodyPr/>
          <a:lstStyle/>
          <a:p>
            <a:fld id="{50A68343-CE86-46F7-9E72-FA5D97220764}" type="datetimeFigureOut">
              <a:rPr lang="tr-TR" smtClean="0"/>
              <a:t>7.10.2025</a:t>
            </a:fld>
            <a:endParaRPr lang="tr-TR"/>
          </a:p>
        </p:txBody>
      </p:sp>
      <p:sp>
        <p:nvSpPr>
          <p:cNvPr id="5" name="Alt Bilgi Yer Tutucusu 4">
            <a:extLst>
              <a:ext uri="{FF2B5EF4-FFF2-40B4-BE49-F238E27FC236}">
                <a16:creationId xmlns:a16="http://schemas.microsoft.com/office/drawing/2014/main" id="{792C455B-51C7-5918-C280-F7D05A94244D}"/>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0BD62325-1DBF-BB3F-74C3-A33A36328912}"/>
              </a:ext>
            </a:extLst>
          </p:cNvPr>
          <p:cNvSpPr>
            <a:spLocks noGrp="1"/>
          </p:cNvSpPr>
          <p:nvPr>
            <p:ph type="sldNum" sz="quarter" idx="12"/>
          </p:nvPr>
        </p:nvSpPr>
        <p:spPr/>
        <p:txBody>
          <a:bodyPr/>
          <a:lstStyle/>
          <a:p>
            <a:fld id="{B0103776-98F8-4C83-B081-74C2EFC90223}" type="slidenum">
              <a:rPr lang="tr-TR" smtClean="0"/>
              <a:t>‹#›</a:t>
            </a:fld>
            <a:endParaRPr lang="tr-TR"/>
          </a:p>
        </p:txBody>
      </p:sp>
    </p:spTree>
    <p:extLst>
      <p:ext uri="{BB962C8B-B14F-4D97-AF65-F5344CB8AC3E}">
        <p14:creationId xmlns:p14="http://schemas.microsoft.com/office/powerpoint/2010/main" val="393177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EAC768D-80D7-519B-A502-51B59A1C37C6}"/>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EC5087A7-745D-B886-E528-E6E5E0FF45D4}"/>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EB65D50-9E50-E9B0-60BD-C67A0B12A7E0}"/>
              </a:ext>
            </a:extLst>
          </p:cNvPr>
          <p:cNvSpPr>
            <a:spLocks noGrp="1"/>
          </p:cNvSpPr>
          <p:nvPr>
            <p:ph type="dt" sz="half" idx="10"/>
          </p:nvPr>
        </p:nvSpPr>
        <p:spPr/>
        <p:txBody>
          <a:bodyPr/>
          <a:lstStyle/>
          <a:p>
            <a:fld id="{50A68343-CE86-46F7-9E72-FA5D97220764}" type="datetimeFigureOut">
              <a:rPr lang="tr-TR" smtClean="0"/>
              <a:t>7.10.2025</a:t>
            </a:fld>
            <a:endParaRPr lang="tr-TR"/>
          </a:p>
        </p:txBody>
      </p:sp>
      <p:sp>
        <p:nvSpPr>
          <p:cNvPr id="5" name="Alt Bilgi Yer Tutucusu 4">
            <a:extLst>
              <a:ext uri="{FF2B5EF4-FFF2-40B4-BE49-F238E27FC236}">
                <a16:creationId xmlns:a16="http://schemas.microsoft.com/office/drawing/2014/main" id="{BF63318A-E73B-FC6B-072E-591BDE9B17D6}"/>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567A91C5-54E5-D38B-235C-4E138418E745}"/>
              </a:ext>
            </a:extLst>
          </p:cNvPr>
          <p:cNvSpPr>
            <a:spLocks noGrp="1"/>
          </p:cNvSpPr>
          <p:nvPr>
            <p:ph type="sldNum" sz="quarter" idx="12"/>
          </p:nvPr>
        </p:nvSpPr>
        <p:spPr/>
        <p:txBody>
          <a:bodyPr/>
          <a:lstStyle/>
          <a:p>
            <a:fld id="{B0103776-98F8-4C83-B081-74C2EFC90223}" type="slidenum">
              <a:rPr lang="tr-TR" smtClean="0"/>
              <a:t>‹#›</a:t>
            </a:fld>
            <a:endParaRPr lang="tr-TR"/>
          </a:p>
        </p:txBody>
      </p:sp>
    </p:spTree>
    <p:extLst>
      <p:ext uri="{BB962C8B-B14F-4D97-AF65-F5344CB8AC3E}">
        <p14:creationId xmlns:p14="http://schemas.microsoft.com/office/powerpoint/2010/main" val="2297019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30F9AC9-233E-AE5F-DD80-2D07066E7B8F}"/>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060C48F7-4A77-F2DB-3BBB-255531028E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A6E93590-BFF8-9D9D-7CCC-6A6ECED45080}"/>
              </a:ext>
            </a:extLst>
          </p:cNvPr>
          <p:cNvSpPr>
            <a:spLocks noGrp="1"/>
          </p:cNvSpPr>
          <p:nvPr>
            <p:ph type="dt" sz="half" idx="10"/>
          </p:nvPr>
        </p:nvSpPr>
        <p:spPr/>
        <p:txBody>
          <a:bodyPr/>
          <a:lstStyle/>
          <a:p>
            <a:fld id="{50A68343-CE86-46F7-9E72-FA5D97220764}" type="datetimeFigureOut">
              <a:rPr lang="tr-TR" smtClean="0"/>
              <a:t>7.10.2025</a:t>
            </a:fld>
            <a:endParaRPr lang="tr-TR"/>
          </a:p>
        </p:txBody>
      </p:sp>
      <p:sp>
        <p:nvSpPr>
          <p:cNvPr id="5" name="Alt Bilgi Yer Tutucusu 4">
            <a:extLst>
              <a:ext uri="{FF2B5EF4-FFF2-40B4-BE49-F238E27FC236}">
                <a16:creationId xmlns:a16="http://schemas.microsoft.com/office/drawing/2014/main" id="{9813720C-9728-4B59-2626-6C6956E08463}"/>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8AD05FB7-120F-2AC7-6028-49E467B76677}"/>
              </a:ext>
            </a:extLst>
          </p:cNvPr>
          <p:cNvSpPr>
            <a:spLocks noGrp="1"/>
          </p:cNvSpPr>
          <p:nvPr>
            <p:ph type="sldNum" sz="quarter" idx="12"/>
          </p:nvPr>
        </p:nvSpPr>
        <p:spPr/>
        <p:txBody>
          <a:bodyPr/>
          <a:lstStyle/>
          <a:p>
            <a:fld id="{B0103776-98F8-4C83-B081-74C2EFC90223}" type="slidenum">
              <a:rPr lang="tr-TR" smtClean="0"/>
              <a:t>‹#›</a:t>
            </a:fld>
            <a:endParaRPr lang="tr-TR"/>
          </a:p>
        </p:txBody>
      </p:sp>
    </p:spTree>
    <p:extLst>
      <p:ext uri="{BB962C8B-B14F-4D97-AF65-F5344CB8AC3E}">
        <p14:creationId xmlns:p14="http://schemas.microsoft.com/office/powerpoint/2010/main" val="294879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FE5015C-326F-8129-7BD1-12BA0E994E61}"/>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F6EEDEAB-481A-D112-592E-3D01B25FB6D1}"/>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7A06F5FC-AFF9-4994-C02F-CD194A4AFAE3}"/>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41AAC6D5-5D3A-8C14-CF24-32A213CFCD70}"/>
              </a:ext>
            </a:extLst>
          </p:cNvPr>
          <p:cNvSpPr>
            <a:spLocks noGrp="1"/>
          </p:cNvSpPr>
          <p:nvPr>
            <p:ph type="dt" sz="half" idx="10"/>
          </p:nvPr>
        </p:nvSpPr>
        <p:spPr/>
        <p:txBody>
          <a:bodyPr/>
          <a:lstStyle/>
          <a:p>
            <a:fld id="{50A68343-CE86-46F7-9E72-FA5D97220764}" type="datetimeFigureOut">
              <a:rPr lang="tr-TR" smtClean="0"/>
              <a:t>7.10.2025</a:t>
            </a:fld>
            <a:endParaRPr lang="tr-TR"/>
          </a:p>
        </p:txBody>
      </p:sp>
      <p:sp>
        <p:nvSpPr>
          <p:cNvPr id="6" name="Alt Bilgi Yer Tutucusu 5">
            <a:extLst>
              <a:ext uri="{FF2B5EF4-FFF2-40B4-BE49-F238E27FC236}">
                <a16:creationId xmlns:a16="http://schemas.microsoft.com/office/drawing/2014/main" id="{E4865637-0AF7-B437-0447-B99E481EC047}"/>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4C7A3651-1212-1EB8-BC4D-C8C7750B2A0C}"/>
              </a:ext>
            </a:extLst>
          </p:cNvPr>
          <p:cNvSpPr>
            <a:spLocks noGrp="1"/>
          </p:cNvSpPr>
          <p:nvPr>
            <p:ph type="sldNum" sz="quarter" idx="12"/>
          </p:nvPr>
        </p:nvSpPr>
        <p:spPr/>
        <p:txBody>
          <a:bodyPr/>
          <a:lstStyle/>
          <a:p>
            <a:fld id="{B0103776-98F8-4C83-B081-74C2EFC90223}" type="slidenum">
              <a:rPr lang="tr-TR" smtClean="0"/>
              <a:t>‹#›</a:t>
            </a:fld>
            <a:endParaRPr lang="tr-TR"/>
          </a:p>
        </p:txBody>
      </p:sp>
    </p:spTree>
    <p:extLst>
      <p:ext uri="{BB962C8B-B14F-4D97-AF65-F5344CB8AC3E}">
        <p14:creationId xmlns:p14="http://schemas.microsoft.com/office/powerpoint/2010/main" val="2728506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41D82B0-D74E-F2CA-2684-9C52D520CABA}"/>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912715B5-0626-BB42-CA54-6433A20285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32489D15-DC42-44A0-F247-4A0521688E01}"/>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00A6F645-2621-EB51-674E-87CF89E8D1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8A3B73F3-334E-F50F-F7E0-F89AE664025C}"/>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71C86C21-D206-F2F7-C5FD-644D3C081019}"/>
              </a:ext>
            </a:extLst>
          </p:cNvPr>
          <p:cNvSpPr>
            <a:spLocks noGrp="1"/>
          </p:cNvSpPr>
          <p:nvPr>
            <p:ph type="dt" sz="half" idx="10"/>
          </p:nvPr>
        </p:nvSpPr>
        <p:spPr/>
        <p:txBody>
          <a:bodyPr/>
          <a:lstStyle/>
          <a:p>
            <a:fld id="{50A68343-CE86-46F7-9E72-FA5D97220764}" type="datetimeFigureOut">
              <a:rPr lang="tr-TR" smtClean="0"/>
              <a:t>7.10.2025</a:t>
            </a:fld>
            <a:endParaRPr lang="tr-TR"/>
          </a:p>
        </p:txBody>
      </p:sp>
      <p:sp>
        <p:nvSpPr>
          <p:cNvPr id="8" name="Alt Bilgi Yer Tutucusu 7">
            <a:extLst>
              <a:ext uri="{FF2B5EF4-FFF2-40B4-BE49-F238E27FC236}">
                <a16:creationId xmlns:a16="http://schemas.microsoft.com/office/drawing/2014/main" id="{F12D67D4-8678-CBFF-710D-41E5A74782CD}"/>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C1586BF0-DACA-DC74-E435-44C4F09377BD}"/>
              </a:ext>
            </a:extLst>
          </p:cNvPr>
          <p:cNvSpPr>
            <a:spLocks noGrp="1"/>
          </p:cNvSpPr>
          <p:nvPr>
            <p:ph type="sldNum" sz="quarter" idx="12"/>
          </p:nvPr>
        </p:nvSpPr>
        <p:spPr/>
        <p:txBody>
          <a:bodyPr/>
          <a:lstStyle/>
          <a:p>
            <a:fld id="{B0103776-98F8-4C83-B081-74C2EFC90223}" type="slidenum">
              <a:rPr lang="tr-TR" smtClean="0"/>
              <a:t>‹#›</a:t>
            </a:fld>
            <a:endParaRPr lang="tr-TR"/>
          </a:p>
        </p:txBody>
      </p:sp>
    </p:spTree>
    <p:extLst>
      <p:ext uri="{BB962C8B-B14F-4D97-AF65-F5344CB8AC3E}">
        <p14:creationId xmlns:p14="http://schemas.microsoft.com/office/powerpoint/2010/main" val="3081166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813914C-5207-FCB0-7DAE-4A8C91E58001}"/>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98F94CC9-C657-3580-4007-037CEC769AE7}"/>
              </a:ext>
            </a:extLst>
          </p:cNvPr>
          <p:cNvSpPr>
            <a:spLocks noGrp="1"/>
          </p:cNvSpPr>
          <p:nvPr>
            <p:ph type="dt" sz="half" idx="10"/>
          </p:nvPr>
        </p:nvSpPr>
        <p:spPr/>
        <p:txBody>
          <a:bodyPr/>
          <a:lstStyle/>
          <a:p>
            <a:fld id="{50A68343-CE86-46F7-9E72-FA5D97220764}" type="datetimeFigureOut">
              <a:rPr lang="tr-TR" smtClean="0"/>
              <a:t>7.10.2025</a:t>
            </a:fld>
            <a:endParaRPr lang="tr-TR"/>
          </a:p>
        </p:txBody>
      </p:sp>
      <p:sp>
        <p:nvSpPr>
          <p:cNvPr id="4" name="Alt Bilgi Yer Tutucusu 3">
            <a:extLst>
              <a:ext uri="{FF2B5EF4-FFF2-40B4-BE49-F238E27FC236}">
                <a16:creationId xmlns:a16="http://schemas.microsoft.com/office/drawing/2014/main" id="{199E84F8-B3B9-3061-69A5-06EBAA057D93}"/>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814A22BE-C68B-8063-1B9F-7BA9C5BB5C97}"/>
              </a:ext>
            </a:extLst>
          </p:cNvPr>
          <p:cNvSpPr>
            <a:spLocks noGrp="1"/>
          </p:cNvSpPr>
          <p:nvPr>
            <p:ph type="sldNum" sz="quarter" idx="12"/>
          </p:nvPr>
        </p:nvSpPr>
        <p:spPr/>
        <p:txBody>
          <a:bodyPr/>
          <a:lstStyle/>
          <a:p>
            <a:fld id="{B0103776-98F8-4C83-B081-74C2EFC90223}" type="slidenum">
              <a:rPr lang="tr-TR" smtClean="0"/>
              <a:t>‹#›</a:t>
            </a:fld>
            <a:endParaRPr lang="tr-TR"/>
          </a:p>
        </p:txBody>
      </p:sp>
    </p:spTree>
    <p:extLst>
      <p:ext uri="{BB962C8B-B14F-4D97-AF65-F5344CB8AC3E}">
        <p14:creationId xmlns:p14="http://schemas.microsoft.com/office/powerpoint/2010/main" val="3135251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F67A2900-A087-0142-A709-1C187E99CAD4}"/>
              </a:ext>
            </a:extLst>
          </p:cNvPr>
          <p:cNvSpPr>
            <a:spLocks noGrp="1"/>
          </p:cNvSpPr>
          <p:nvPr>
            <p:ph type="dt" sz="half" idx="10"/>
          </p:nvPr>
        </p:nvSpPr>
        <p:spPr/>
        <p:txBody>
          <a:bodyPr/>
          <a:lstStyle/>
          <a:p>
            <a:fld id="{50A68343-CE86-46F7-9E72-FA5D97220764}" type="datetimeFigureOut">
              <a:rPr lang="tr-TR" smtClean="0"/>
              <a:t>7.10.2025</a:t>
            </a:fld>
            <a:endParaRPr lang="tr-TR"/>
          </a:p>
        </p:txBody>
      </p:sp>
      <p:sp>
        <p:nvSpPr>
          <p:cNvPr id="3" name="Alt Bilgi Yer Tutucusu 2">
            <a:extLst>
              <a:ext uri="{FF2B5EF4-FFF2-40B4-BE49-F238E27FC236}">
                <a16:creationId xmlns:a16="http://schemas.microsoft.com/office/drawing/2014/main" id="{73A26DE4-9F07-84FA-E6E9-E779B4ADD4CD}"/>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10E852F3-926B-3E34-5924-63967A8B7975}"/>
              </a:ext>
            </a:extLst>
          </p:cNvPr>
          <p:cNvSpPr>
            <a:spLocks noGrp="1"/>
          </p:cNvSpPr>
          <p:nvPr>
            <p:ph type="sldNum" sz="quarter" idx="12"/>
          </p:nvPr>
        </p:nvSpPr>
        <p:spPr/>
        <p:txBody>
          <a:bodyPr/>
          <a:lstStyle/>
          <a:p>
            <a:fld id="{B0103776-98F8-4C83-B081-74C2EFC90223}" type="slidenum">
              <a:rPr lang="tr-TR" smtClean="0"/>
              <a:t>‹#›</a:t>
            </a:fld>
            <a:endParaRPr lang="tr-TR"/>
          </a:p>
        </p:txBody>
      </p:sp>
    </p:spTree>
    <p:extLst>
      <p:ext uri="{BB962C8B-B14F-4D97-AF65-F5344CB8AC3E}">
        <p14:creationId xmlns:p14="http://schemas.microsoft.com/office/powerpoint/2010/main" val="329477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0FBA183-7289-306C-98A0-B4F90DE786B4}"/>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551E503B-9340-BEA6-F083-228A186BF6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023E4A49-215B-A776-E957-16A5DC85C0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0036C9ED-BD9D-00FE-E603-9C76F2CD97D6}"/>
              </a:ext>
            </a:extLst>
          </p:cNvPr>
          <p:cNvSpPr>
            <a:spLocks noGrp="1"/>
          </p:cNvSpPr>
          <p:nvPr>
            <p:ph type="dt" sz="half" idx="10"/>
          </p:nvPr>
        </p:nvSpPr>
        <p:spPr/>
        <p:txBody>
          <a:bodyPr/>
          <a:lstStyle/>
          <a:p>
            <a:fld id="{50A68343-CE86-46F7-9E72-FA5D97220764}" type="datetimeFigureOut">
              <a:rPr lang="tr-TR" smtClean="0"/>
              <a:t>7.10.2025</a:t>
            </a:fld>
            <a:endParaRPr lang="tr-TR"/>
          </a:p>
        </p:txBody>
      </p:sp>
      <p:sp>
        <p:nvSpPr>
          <p:cNvPr id="6" name="Alt Bilgi Yer Tutucusu 5">
            <a:extLst>
              <a:ext uri="{FF2B5EF4-FFF2-40B4-BE49-F238E27FC236}">
                <a16:creationId xmlns:a16="http://schemas.microsoft.com/office/drawing/2014/main" id="{9F6E291D-8741-EF65-C407-2143B6527F02}"/>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AE7F3569-382C-6284-CDA0-A6A8B5D6B79C}"/>
              </a:ext>
            </a:extLst>
          </p:cNvPr>
          <p:cNvSpPr>
            <a:spLocks noGrp="1"/>
          </p:cNvSpPr>
          <p:nvPr>
            <p:ph type="sldNum" sz="quarter" idx="12"/>
          </p:nvPr>
        </p:nvSpPr>
        <p:spPr/>
        <p:txBody>
          <a:bodyPr/>
          <a:lstStyle/>
          <a:p>
            <a:fld id="{B0103776-98F8-4C83-B081-74C2EFC90223}" type="slidenum">
              <a:rPr lang="tr-TR" smtClean="0"/>
              <a:t>‹#›</a:t>
            </a:fld>
            <a:endParaRPr lang="tr-TR"/>
          </a:p>
        </p:txBody>
      </p:sp>
    </p:spTree>
    <p:extLst>
      <p:ext uri="{BB962C8B-B14F-4D97-AF65-F5344CB8AC3E}">
        <p14:creationId xmlns:p14="http://schemas.microsoft.com/office/powerpoint/2010/main" val="823639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E2BB0CC-4369-68C9-4191-2F04707D6F0E}"/>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A31F7F5D-0E41-8061-F5B0-E597BC333A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59662600-204A-33EE-76BD-94D22FDCCB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63C263D3-DE94-FB4D-C84B-4F03B2681944}"/>
              </a:ext>
            </a:extLst>
          </p:cNvPr>
          <p:cNvSpPr>
            <a:spLocks noGrp="1"/>
          </p:cNvSpPr>
          <p:nvPr>
            <p:ph type="dt" sz="half" idx="10"/>
          </p:nvPr>
        </p:nvSpPr>
        <p:spPr/>
        <p:txBody>
          <a:bodyPr/>
          <a:lstStyle/>
          <a:p>
            <a:fld id="{50A68343-CE86-46F7-9E72-FA5D97220764}" type="datetimeFigureOut">
              <a:rPr lang="tr-TR" smtClean="0"/>
              <a:t>7.10.2025</a:t>
            </a:fld>
            <a:endParaRPr lang="tr-TR"/>
          </a:p>
        </p:txBody>
      </p:sp>
      <p:sp>
        <p:nvSpPr>
          <p:cNvPr id="6" name="Alt Bilgi Yer Tutucusu 5">
            <a:extLst>
              <a:ext uri="{FF2B5EF4-FFF2-40B4-BE49-F238E27FC236}">
                <a16:creationId xmlns:a16="http://schemas.microsoft.com/office/drawing/2014/main" id="{D767CF1C-9412-96E5-736E-DFE6D195ED81}"/>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A88859F0-0367-4E64-E10B-42978645C43B}"/>
              </a:ext>
            </a:extLst>
          </p:cNvPr>
          <p:cNvSpPr>
            <a:spLocks noGrp="1"/>
          </p:cNvSpPr>
          <p:nvPr>
            <p:ph type="sldNum" sz="quarter" idx="12"/>
          </p:nvPr>
        </p:nvSpPr>
        <p:spPr/>
        <p:txBody>
          <a:bodyPr/>
          <a:lstStyle/>
          <a:p>
            <a:fld id="{B0103776-98F8-4C83-B081-74C2EFC90223}" type="slidenum">
              <a:rPr lang="tr-TR" smtClean="0"/>
              <a:t>‹#›</a:t>
            </a:fld>
            <a:endParaRPr lang="tr-TR"/>
          </a:p>
        </p:txBody>
      </p:sp>
    </p:spTree>
    <p:extLst>
      <p:ext uri="{BB962C8B-B14F-4D97-AF65-F5344CB8AC3E}">
        <p14:creationId xmlns:p14="http://schemas.microsoft.com/office/powerpoint/2010/main" val="1063078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A1BA191-CB03-046D-6328-3795EAA1009F}"/>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98D67027-900F-3C6F-98B9-2F2B81C2F4FA}"/>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B5A3988A-F614-F736-21E7-33FE735A3D47}"/>
              </a:ext>
            </a:extLst>
          </p:cNvPr>
          <p:cNvSpPr>
            <a:spLocks noGrp="1"/>
          </p:cNvSpPr>
          <p:nvPr>
            <p:ph type="dt" sz="half" idx="10"/>
          </p:nvPr>
        </p:nvSpPr>
        <p:spPr/>
        <p:txBody>
          <a:bodyPr/>
          <a:lstStyle/>
          <a:p>
            <a:fld id="{50A68343-CE86-46F7-9E72-FA5D97220764}" type="datetimeFigureOut">
              <a:rPr lang="tr-TR" smtClean="0"/>
              <a:t>7.10.2025</a:t>
            </a:fld>
            <a:endParaRPr lang="tr-TR"/>
          </a:p>
        </p:txBody>
      </p:sp>
      <p:sp>
        <p:nvSpPr>
          <p:cNvPr id="5" name="Alt Bilgi Yer Tutucusu 4">
            <a:extLst>
              <a:ext uri="{FF2B5EF4-FFF2-40B4-BE49-F238E27FC236}">
                <a16:creationId xmlns:a16="http://schemas.microsoft.com/office/drawing/2014/main" id="{75711387-3E51-7407-74F0-278311289E28}"/>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5CD9E5C1-9719-CE09-9686-FD242CC9F3AF}"/>
              </a:ext>
            </a:extLst>
          </p:cNvPr>
          <p:cNvSpPr>
            <a:spLocks noGrp="1"/>
          </p:cNvSpPr>
          <p:nvPr>
            <p:ph type="sldNum" sz="quarter" idx="12"/>
          </p:nvPr>
        </p:nvSpPr>
        <p:spPr/>
        <p:txBody>
          <a:bodyPr/>
          <a:lstStyle/>
          <a:p>
            <a:fld id="{B0103776-98F8-4C83-B081-74C2EFC90223}" type="slidenum">
              <a:rPr lang="tr-TR" smtClean="0"/>
              <a:t>‹#›</a:t>
            </a:fld>
            <a:endParaRPr lang="tr-TR"/>
          </a:p>
        </p:txBody>
      </p:sp>
    </p:spTree>
    <p:extLst>
      <p:ext uri="{BB962C8B-B14F-4D97-AF65-F5344CB8AC3E}">
        <p14:creationId xmlns:p14="http://schemas.microsoft.com/office/powerpoint/2010/main" val="1700173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E0162985-9700-CDE7-1CEA-88464E5ECA54}"/>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0DE00714-DB2A-05F0-2D38-5293D6C6917F}"/>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930CCE9-B3BC-0C71-1BD8-EF30915F2DB7}"/>
              </a:ext>
            </a:extLst>
          </p:cNvPr>
          <p:cNvSpPr>
            <a:spLocks noGrp="1"/>
          </p:cNvSpPr>
          <p:nvPr>
            <p:ph type="dt" sz="half" idx="10"/>
          </p:nvPr>
        </p:nvSpPr>
        <p:spPr/>
        <p:txBody>
          <a:bodyPr/>
          <a:lstStyle/>
          <a:p>
            <a:fld id="{50A68343-CE86-46F7-9E72-FA5D97220764}" type="datetimeFigureOut">
              <a:rPr lang="tr-TR" smtClean="0"/>
              <a:t>7.10.2025</a:t>
            </a:fld>
            <a:endParaRPr lang="tr-TR"/>
          </a:p>
        </p:txBody>
      </p:sp>
      <p:sp>
        <p:nvSpPr>
          <p:cNvPr id="5" name="Alt Bilgi Yer Tutucusu 4">
            <a:extLst>
              <a:ext uri="{FF2B5EF4-FFF2-40B4-BE49-F238E27FC236}">
                <a16:creationId xmlns:a16="http://schemas.microsoft.com/office/drawing/2014/main" id="{4C0EE9F8-B2F2-6EED-FD7F-319167E9BBCB}"/>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D078D3A0-D796-C37D-DCDF-6D62EA28DB69}"/>
              </a:ext>
            </a:extLst>
          </p:cNvPr>
          <p:cNvSpPr>
            <a:spLocks noGrp="1"/>
          </p:cNvSpPr>
          <p:nvPr>
            <p:ph type="sldNum" sz="quarter" idx="12"/>
          </p:nvPr>
        </p:nvSpPr>
        <p:spPr/>
        <p:txBody>
          <a:bodyPr/>
          <a:lstStyle/>
          <a:p>
            <a:fld id="{B0103776-98F8-4C83-B081-74C2EFC90223}" type="slidenum">
              <a:rPr lang="tr-TR" smtClean="0"/>
              <a:t>‹#›</a:t>
            </a:fld>
            <a:endParaRPr lang="tr-TR"/>
          </a:p>
        </p:txBody>
      </p:sp>
    </p:spTree>
    <p:extLst>
      <p:ext uri="{BB962C8B-B14F-4D97-AF65-F5344CB8AC3E}">
        <p14:creationId xmlns:p14="http://schemas.microsoft.com/office/powerpoint/2010/main" val="907371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5C85DEC0-DF0E-0C5E-C073-231C90F9CD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ECA813A4-4463-704F-00DB-FCED81BA35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BB273D95-30CA-805B-D941-124AF13852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0A68343-CE86-46F7-9E72-FA5D97220764}" type="datetimeFigureOut">
              <a:rPr lang="tr-TR" smtClean="0"/>
              <a:t>7.10.2025</a:t>
            </a:fld>
            <a:endParaRPr lang="tr-TR"/>
          </a:p>
        </p:txBody>
      </p:sp>
      <p:sp>
        <p:nvSpPr>
          <p:cNvPr id="5" name="Alt Bilgi Yer Tutucusu 4">
            <a:extLst>
              <a:ext uri="{FF2B5EF4-FFF2-40B4-BE49-F238E27FC236}">
                <a16:creationId xmlns:a16="http://schemas.microsoft.com/office/drawing/2014/main" id="{A52F201B-26B5-81C7-4673-632A7BA9D0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66FB06D2-9B91-DF7A-B9AE-361104A9F5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0103776-98F8-4C83-B081-74C2EFC90223}" type="slidenum">
              <a:rPr lang="tr-TR" smtClean="0"/>
              <a:t>‹#›</a:t>
            </a:fld>
            <a:endParaRPr lang="tr-TR"/>
          </a:p>
        </p:txBody>
      </p:sp>
    </p:spTree>
    <p:extLst>
      <p:ext uri="{BB962C8B-B14F-4D97-AF65-F5344CB8AC3E}">
        <p14:creationId xmlns:p14="http://schemas.microsoft.com/office/powerpoint/2010/main" val="25163444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44E0187-7F77-2CD8-E1F6-33A770DDC7B1}"/>
              </a:ext>
            </a:extLst>
          </p:cNvPr>
          <p:cNvSpPr>
            <a:spLocks noGrp="1"/>
          </p:cNvSpPr>
          <p:nvPr>
            <p:ph type="ctrTitle"/>
          </p:nvPr>
        </p:nvSpPr>
        <p:spPr/>
        <p:txBody>
          <a:bodyPr/>
          <a:lstStyle/>
          <a:p>
            <a:r>
              <a:rPr lang="tr-TR" dirty="0"/>
              <a:t>Girişimcilik Özellikleri ve Motivasyonları</a:t>
            </a:r>
          </a:p>
        </p:txBody>
      </p:sp>
      <p:sp>
        <p:nvSpPr>
          <p:cNvPr id="3" name="Alt Başlık 2">
            <a:extLst>
              <a:ext uri="{FF2B5EF4-FFF2-40B4-BE49-F238E27FC236}">
                <a16:creationId xmlns:a16="http://schemas.microsoft.com/office/drawing/2014/main" id="{5707F2E3-BFA7-8F19-BB38-9BAC4392D653}"/>
              </a:ext>
            </a:extLst>
          </p:cNvPr>
          <p:cNvSpPr>
            <a:spLocks noGrp="1"/>
          </p:cNvSpPr>
          <p:nvPr>
            <p:ph type="subTitle" idx="1"/>
          </p:nvPr>
        </p:nvSpPr>
        <p:spPr/>
        <p:txBody>
          <a:bodyPr/>
          <a:lstStyle/>
          <a:p>
            <a:r>
              <a:rPr lang="tr-TR" dirty="0"/>
              <a:t>Dr. Ahmet ÇETİN</a:t>
            </a:r>
          </a:p>
        </p:txBody>
      </p:sp>
    </p:spTree>
    <p:extLst>
      <p:ext uri="{BB962C8B-B14F-4D97-AF65-F5344CB8AC3E}">
        <p14:creationId xmlns:p14="http://schemas.microsoft.com/office/powerpoint/2010/main" val="3128619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B1C1290-B5DE-A277-E35A-B99A6A1A5FB0}"/>
              </a:ext>
            </a:extLst>
          </p:cNvPr>
          <p:cNvSpPr>
            <a:spLocks noGrp="1"/>
          </p:cNvSpPr>
          <p:nvPr>
            <p:ph type="title"/>
          </p:nvPr>
        </p:nvSpPr>
        <p:spPr/>
        <p:txBody>
          <a:bodyPr/>
          <a:lstStyle/>
          <a:p>
            <a:r>
              <a:rPr lang="tr-TR" dirty="0"/>
              <a:t>Girişimcilik Kuramları</a:t>
            </a:r>
          </a:p>
        </p:txBody>
      </p:sp>
      <p:sp>
        <p:nvSpPr>
          <p:cNvPr id="3" name="İçerik Yer Tutucusu 2">
            <a:extLst>
              <a:ext uri="{FF2B5EF4-FFF2-40B4-BE49-F238E27FC236}">
                <a16:creationId xmlns:a16="http://schemas.microsoft.com/office/drawing/2014/main" id="{6D449483-D6FA-831B-1779-2D274FB8875F}"/>
              </a:ext>
            </a:extLst>
          </p:cNvPr>
          <p:cNvSpPr>
            <a:spLocks noGrp="1"/>
          </p:cNvSpPr>
          <p:nvPr>
            <p:ph idx="1"/>
          </p:nvPr>
        </p:nvSpPr>
        <p:spPr/>
        <p:txBody>
          <a:bodyPr/>
          <a:lstStyle/>
          <a:p>
            <a:r>
              <a:rPr lang="tr-TR" b="1" dirty="0"/>
              <a:t>Klasik Yaklaşımlar</a:t>
            </a:r>
          </a:p>
          <a:p>
            <a:r>
              <a:rPr lang="tr-TR" i="1" dirty="0"/>
              <a:t>Richard </a:t>
            </a:r>
            <a:r>
              <a:rPr lang="tr-TR" i="1" dirty="0" err="1"/>
              <a:t>Cantillon</a:t>
            </a:r>
            <a:r>
              <a:rPr lang="tr-TR" i="1" dirty="0"/>
              <a:t>: </a:t>
            </a:r>
            <a:r>
              <a:rPr lang="tr-TR" dirty="0"/>
              <a:t>Girişimciyi, sabit maliyetlerle üretim yapıp belirsiz bir gelir elde etme riski alan kişi olarak tanımlayarak risk ve belirsizlik unsurunu öne çıkarmıştır.</a:t>
            </a:r>
          </a:p>
          <a:p>
            <a:r>
              <a:rPr lang="tr-TR" i="1" dirty="0"/>
              <a:t>Jean-</a:t>
            </a:r>
            <a:r>
              <a:rPr lang="tr-TR" i="1" dirty="0" err="1"/>
              <a:t>Baptiste</a:t>
            </a:r>
            <a:r>
              <a:rPr lang="tr-TR" i="1" dirty="0"/>
              <a:t> Say: </a:t>
            </a:r>
            <a:r>
              <a:rPr lang="tr-TR" dirty="0"/>
              <a:t>Girişimcinin üretim faktörlerini bir araya getiren ve yöneten bir koordinatör rolü olduğunu belirtmiştir.</a:t>
            </a:r>
          </a:p>
          <a:p>
            <a:r>
              <a:rPr lang="tr-TR" i="1" dirty="0"/>
              <a:t>Alfred Marshall: </a:t>
            </a:r>
            <a:r>
              <a:rPr lang="tr-TR" dirty="0"/>
              <a:t>Girişimcinin hem mal ve hizmet ürettiğini hem de yenilikler sunduğunu, maliyetleri minimize edecek fırsatları aradığını ifade etmiştir.</a:t>
            </a:r>
          </a:p>
          <a:p>
            <a:endParaRPr lang="tr-TR" dirty="0"/>
          </a:p>
        </p:txBody>
      </p:sp>
    </p:spTree>
    <p:extLst>
      <p:ext uri="{BB962C8B-B14F-4D97-AF65-F5344CB8AC3E}">
        <p14:creationId xmlns:p14="http://schemas.microsoft.com/office/powerpoint/2010/main" val="2445368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9810396F-C4D0-6AB0-2B0A-2975A9129B2F}"/>
              </a:ext>
            </a:extLst>
          </p:cNvPr>
          <p:cNvSpPr>
            <a:spLocks noGrp="1"/>
          </p:cNvSpPr>
          <p:nvPr>
            <p:ph idx="1"/>
          </p:nvPr>
        </p:nvSpPr>
        <p:spPr>
          <a:xfrm>
            <a:off x="838200" y="1042737"/>
            <a:ext cx="10515600" cy="5134226"/>
          </a:xfrm>
        </p:spPr>
        <p:txBody>
          <a:bodyPr>
            <a:normAutofit lnSpcReduction="10000"/>
          </a:bodyPr>
          <a:lstStyle/>
          <a:p>
            <a:r>
              <a:rPr lang="tr-TR" i="1" dirty="0"/>
              <a:t>Joseph Schumpeter: </a:t>
            </a:r>
            <a:r>
              <a:rPr lang="tr-TR" dirty="0"/>
              <a:t>Girişimcilik teorisinin en önemli isimlerinden biridir. Onun kuramı "yenilik" kavramına odaklanır. Girişimci, yeni ürünler, yeni üretim teknikleri, yeni pazarlar, yeni kaynaklar veya yeni organizasyonlar yaratarak mevcut ekonomik dengeyi bozan ve "yaratıcı yıkım" yoluyla ekonomik gelişmeyi sağlayan kişidir.</a:t>
            </a:r>
          </a:p>
          <a:p>
            <a:r>
              <a:rPr lang="tr-TR" i="1" dirty="0"/>
              <a:t>Frank Knight: </a:t>
            </a:r>
            <a:r>
              <a:rPr lang="tr-TR" dirty="0"/>
              <a:t>Risk ve belirsizlik arasındaki farkı ortaya koymuştur. Ona göre girişimci, ölçülemeyen belirsizliği üstlenen ve bunun karşılığında kâr elde eden kişidir.</a:t>
            </a:r>
          </a:p>
          <a:p>
            <a:r>
              <a:rPr lang="tr-TR" i="1" dirty="0"/>
              <a:t>David McClelland (Psikolojik Yaklaşım): </a:t>
            </a:r>
            <a:r>
              <a:rPr lang="tr-TR" dirty="0"/>
              <a:t>Girişimciliğin temelinde ekonomik güdülerden çok, başarı ihtiyacı (başarı güdüsü) gibi psikolojik faktörlerin yattığını savunmuştur. Yüksek başarı güdüsüne sahip bireylerin orta düzeyde risk alma, kişisel sorumluluk yüklenme ve geri bildirim alma eğiliminde olduklarını belirtmiştir.</a:t>
            </a:r>
          </a:p>
          <a:p>
            <a:endParaRPr lang="tr-TR" dirty="0"/>
          </a:p>
        </p:txBody>
      </p:sp>
    </p:spTree>
    <p:extLst>
      <p:ext uri="{BB962C8B-B14F-4D97-AF65-F5344CB8AC3E}">
        <p14:creationId xmlns:p14="http://schemas.microsoft.com/office/powerpoint/2010/main" val="2243557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A947C18-84D3-7F82-AF21-69A559FA9EAB}"/>
              </a:ext>
            </a:extLst>
          </p:cNvPr>
          <p:cNvSpPr>
            <a:spLocks noGrp="1"/>
          </p:cNvSpPr>
          <p:nvPr>
            <p:ph idx="1"/>
          </p:nvPr>
        </p:nvSpPr>
        <p:spPr>
          <a:xfrm>
            <a:off x="838200" y="609600"/>
            <a:ext cx="10515600" cy="5567363"/>
          </a:xfrm>
        </p:spPr>
        <p:txBody>
          <a:bodyPr>
            <a:normAutofit lnSpcReduction="10000"/>
          </a:bodyPr>
          <a:lstStyle/>
          <a:p>
            <a:r>
              <a:rPr lang="tr-TR" b="1" dirty="0"/>
              <a:t>Çağdaş Yaklaşımlar</a:t>
            </a:r>
          </a:p>
          <a:p>
            <a:r>
              <a:rPr lang="tr-TR" i="1" dirty="0" err="1"/>
              <a:t>Israel</a:t>
            </a:r>
            <a:r>
              <a:rPr lang="tr-TR" i="1" dirty="0"/>
              <a:t> </a:t>
            </a:r>
            <a:r>
              <a:rPr lang="tr-TR" i="1" dirty="0" err="1"/>
              <a:t>Kirzner</a:t>
            </a:r>
            <a:r>
              <a:rPr lang="tr-TR" i="1" dirty="0"/>
              <a:t>: </a:t>
            </a:r>
            <a:r>
              <a:rPr lang="tr-TR" dirty="0"/>
              <a:t>Girişimciyi, pazardaki dengesizliklerden kaynaklanan kâr fırsatlarına karşı "tetikte olan" ve bu fırsatları keşfederek dengeleyici bir rol oynayan kişi olarak tanımlar.</a:t>
            </a:r>
          </a:p>
          <a:p>
            <a:r>
              <a:rPr lang="tr-TR" i="1" dirty="0"/>
              <a:t>Marc </a:t>
            </a:r>
            <a:r>
              <a:rPr lang="tr-TR" i="1" dirty="0" err="1"/>
              <a:t>Casson</a:t>
            </a:r>
            <a:r>
              <a:rPr lang="tr-TR" i="1" dirty="0"/>
              <a:t>: </a:t>
            </a:r>
            <a:r>
              <a:rPr lang="tr-TR" dirty="0"/>
              <a:t>Girişimcinin, kıt kaynakların koordinasyonuna ilişkin "yargısal kararlar verme" konusunda uzmanlaşmış kişi olduğunu ileri sürmüştür.</a:t>
            </a:r>
          </a:p>
          <a:p>
            <a:r>
              <a:rPr lang="tr-TR" i="1" dirty="0"/>
              <a:t>Robert </a:t>
            </a:r>
            <a:r>
              <a:rPr lang="tr-TR" i="1" dirty="0" err="1"/>
              <a:t>Hisrich</a:t>
            </a:r>
            <a:r>
              <a:rPr lang="tr-TR" i="1" dirty="0"/>
              <a:t>: </a:t>
            </a:r>
            <a:r>
              <a:rPr lang="tr-TR" dirty="0"/>
              <a:t>Girişimciliği; zaman ve çaba harcayarak farklı bir değer yaratma, finansal, psikolojik ve sosyal riskler üstlenme ve sonuçta parasal ödüller ile kişisel tatmin elde etme süreci olarak tanımlamıştır.</a:t>
            </a:r>
          </a:p>
          <a:p>
            <a:r>
              <a:rPr lang="tr-TR" i="1" dirty="0"/>
              <a:t>William Gartner: </a:t>
            </a:r>
            <a:r>
              <a:rPr lang="tr-TR" dirty="0"/>
              <a:t>Girişimciliği "yeni örgütlerin yaratılması" olarak tanımlamıştır.</a:t>
            </a:r>
          </a:p>
          <a:p>
            <a:endParaRPr lang="tr-TR" dirty="0"/>
          </a:p>
        </p:txBody>
      </p:sp>
    </p:spTree>
    <p:extLst>
      <p:ext uri="{BB962C8B-B14F-4D97-AF65-F5344CB8AC3E}">
        <p14:creationId xmlns:p14="http://schemas.microsoft.com/office/powerpoint/2010/main" val="4153510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7750578-010F-A648-4CFA-89C3DCB51BDD}"/>
              </a:ext>
            </a:extLst>
          </p:cNvPr>
          <p:cNvSpPr>
            <a:spLocks noGrp="1"/>
          </p:cNvSpPr>
          <p:nvPr>
            <p:ph type="title"/>
          </p:nvPr>
        </p:nvSpPr>
        <p:spPr/>
        <p:txBody>
          <a:bodyPr/>
          <a:lstStyle/>
          <a:p>
            <a:r>
              <a:rPr lang="tr-TR" dirty="0"/>
              <a:t>TEMEL GİRİŞİMCİLİK ÖZELLİKLERİ</a:t>
            </a:r>
          </a:p>
        </p:txBody>
      </p:sp>
      <p:sp>
        <p:nvSpPr>
          <p:cNvPr id="3" name="İçerik Yer Tutucusu 2">
            <a:extLst>
              <a:ext uri="{FF2B5EF4-FFF2-40B4-BE49-F238E27FC236}">
                <a16:creationId xmlns:a16="http://schemas.microsoft.com/office/drawing/2014/main" id="{7DCF72DD-2E7F-A042-21AA-4FCD5CE3B3D8}"/>
              </a:ext>
            </a:extLst>
          </p:cNvPr>
          <p:cNvSpPr>
            <a:spLocks noGrp="1"/>
          </p:cNvSpPr>
          <p:nvPr>
            <p:ph idx="1"/>
          </p:nvPr>
        </p:nvSpPr>
        <p:spPr>
          <a:xfrm>
            <a:off x="838200" y="1528997"/>
            <a:ext cx="10515600" cy="4647966"/>
          </a:xfrm>
        </p:spPr>
        <p:txBody>
          <a:bodyPr>
            <a:normAutofit fontScale="92500"/>
          </a:bodyPr>
          <a:lstStyle/>
          <a:p>
            <a:r>
              <a:rPr lang="tr-TR" dirty="0"/>
              <a:t>Girişim kavramı, para sahibi olmanın ötesinde, yeni ürün veya üretim tekniklerini bilme, geniş bir ufuk sahibi olma veya yeni ve değişen şartlara uyum sağlama kabiliyetine vurgu yapmaktadır.</a:t>
            </a:r>
          </a:p>
          <a:p>
            <a:r>
              <a:rPr lang="tr-TR" dirty="0"/>
              <a:t>İşletmenin başarısını etkileyecek temel girişimci özellikleri şunlardır:</a:t>
            </a:r>
          </a:p>
          <a:p>
            <a:r>
              <a:rPr lang="tr-TR" dirty="0"/>
              <a:t>• Problemin tespit edilmesi</a:t>
            </a:r>
          </a:p>
          <a:p>
            <a:r>
              <a:rPr lang="tr-TR" dirty="0"/>
              <a:t>• Uzun süre yorulmadan çalışabilme,</a:t>
            </a:r>
          </a:p>
          <a:p>
            <a:r>
              <a:rPr lang="tr-TR" dirty="0"/>
              <a:t>• Zorluklara kolaylıkla karşı koyabilme,</a:t>
            </a:r>
          </a:p>
          <a:p>
            <a:r>
              <a:rPr lang="tr-TR" dirty="0"/>
              <a:t>• Davranış ve kararlarda azimli olma,</a:t>
            </a:r>
          </a:p>
          <a:p>
            <a:r>
              <a:rPr lang="tr-TR" dirty="0"/>
              <a:t>• Mali gücünü kuvvetlendirinceye kadar az kârla yetinme,</a:t>
            </a:r>
          </a:p>
          <a:p>
            <a:r>
              <a:rPr lang="tr-TR" dirty="0"/>
              <a:t>• İşin gerektirdiği teknik ve sosyal beceriye sahip olma</a:t>
            </a:r>
          </a:p>
        </p:txBody>
      </p:sp>
    </p:spTree>
    <p:extLst>
      <p:ext uri="{BB962C8B-B14F-4D97-AF65-F5344CB8AC3E}">
        <p14:creationId xmlns:p14="http://schemas.microsoft.com/office/powerpoint/2010/main" val="1206900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59286AE-0328-5F2C-2CF1-112D1FAA3A73}"/>
              </a:ext>
            </a:extLst>
          </p:cNvPr>
          <p:cNvSpPr>
            <a:spLocks noGrp="1"/>
          </p:cNvSpPr>
          <p:nvPr>
            <p:ph idx="1"/>
          </p:nvPr>
        </p:nvSpPr>
        <p:spPr>
          <a:xfrm>
            <a:off x="838200" y="1055077"/>
            <a:ext cx="10515600" cy="5121886"/>
          </a:xfrm>
        </p:spPr>
        <p:txBody>
          <a:bodyPr>
            <a:normAutofit lnSpcReduction="10000"/>
          </a:bodyPr>
          <a:lstStyle/>
          <a:p>
            <a:r>
              <a:rPr lang="tr-TR" dirty="0"/>
              <a:t>Literatürde başarılı bir girişimcinin kişilik özellikleri de tanımlanmıştır. Başarılı girişimcilerin kişisel özelliklerini aşağıdaki gibi sıralamak mümkündür</a:t>
            </a:r>
          </a:p>
          <a:p>
            <a:r>
              <a:rPr lang="tr-TR" dirty="0"/>
              <a:t>• Başarı İhtiyacı</a:t>
            </a:r>
          </a:p>
          <a:p>
            <a:r>
              <a:rPr lang="tr-TR" dirty="0"/>
              <a:t>• Risk Alma Eğilimi</a:t>
            </a:r>
          </a:p>
          <a:p>
            <a:r>
              <a:rPr lang="tr-TR" dirty="0"/>
              <a:t>• Belirsizliğe Karşı Tolerans</a:t>
            </a:r>
          </a:p>
          <a:p>
            <a:r>
              <a:rPr lang="tr-TR" dirty="0"/>
              <a:t>• Kontrol Odağı</a:t>
            </a:r>
          </a:p>
          <a:p>
            <a:r>
              <a:rPr lang="tr-TR" dirty="0"/>
              <a:t>• İyimserlik ve Sorunlarla Başa Çıkma</a:t>
            </a:r>
          </a:p>
          <a:p>
            <a:r>
              <a:rPr lang="tr-TR" dirty="0"/>
              <a:t>• Liderlik</a:t>
            </a:r>
          </a:p>
          <a:p>
            <a:r>
              <a:rPr lang="tr-TR" dirty="0"/>
              <a:t>• Yenilikçilik ve Yaratıcılık</a:t>
            </a:r>
          </a:p>
          <a:p>
            <a:r>
              <a:rPr lang="tr-TR" dirty="0"/>
              <a:t>• Kendine Güven</a:t>
            </a:r>
          </a:p>
        </p:txBody>
      </p:sp>
    </p:spTree>
    <p:extLst>
      <p:ext uri="{BB962C8B-B14F-4D97-AF65-F5344CB8AC3E}">
        <p14:creationId xmlns:p14="http://schemas.microsoft.com/office/powerpoint/2010/main" val="912158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016EBAE-7AE4-73DF-4034-6234DBDD7CF5}"/>
              </a:ext>
            </a:extLst>
          </p:cNvPr>
          <p:cNvSpPr>
            <a:spLocks noGrp="1"/>
          </p:cNvSpPr>
          <p:nvPr>
            <p:ph idx="1"/>
          </p:nvPr>
        </p:nvSpPr>
        <p:spPr/>
        <p:txBody>
          <a:bodyPr>
            <a:normAutofit fontScale="92500" lnSpcReduction="20000"/>
          </a:bodyPr>
          <a:lstStyle/>
          <a:p>
            <a:r>
              <a:rPr lang="tr-TR" dirty="0"/>
              <a:t>Başarı İhtiyacı: Bu, yüksek standartlara ulaşma, zorlu görevleri tamamlama ve sürekli olarak mükemmel sonuçlar üretme yönünde güçlü bir içsel dürtüdür. Girişimciler için başarı sadece para kazanmak değil, aynı zamanda bir şey inşa etmek ve iz bırakmaktır. </a:t>
            </a:r>
          </a:p>
          <a:p>
            <a:r>
              <a:rPr lang="tr-TR" dirty="0"/>
              <a:t>Risk Alma Eğilimi: Başarılı girişimciler hesaplanmış riskler almaktan çekinmezler. Bu, kumar oynamak anlamına gelmez; potansiyel fayda ve zararları dikkatle analiz ettikten sonra, başkalarının çekineceği kararları alma cesaretine sahip olmaktır. Girişim, doğası gereği risk içerir.</a:t>
            </a:r>
          </a:p>
          <a:p>
            <a:r>
              <a:rPr lang="tr-TR" dirty="0"/>
              <a:t>Belirsizliğe Karşı Tolerans: Girişimcilik yolu nadiren nettir. Başarılı girişimciler, iş dünyasındaki sık ve ani değişimleri, öngörülemezlikleri ve eksik bilgiyi bir engel olarak değil, işin doğal bir parçası olarak kabul ederler. Stres ve baskı altında dahi karar alabilme ve ilerleyebilme yeteneğidir.</a:t>
            </a:r>
          </a:p>
        </p:txBody>
      </p:sp>
    </p:spTree>
    <p:extLst>
      <p:ext uri="{BB962C8B-B14F-4D97-AF65-F5344CB8AC3E}">
        <p14:creationId xmlns:p14="http://schemas.microsoft.com/office/powerpoint/2010/main" val="2609814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59D9581-E9A4-58BC-D3E6-9E709CA0EE99}"/>
              </a:ext>
            </a:extLst>
          </p:cNvPr>
          <p:cNvSpPr>
            <a:spLocks noGrp="1"/>
          </p:cNvSpPr>
          <p:nvPr>
            <p:ph idx="1"/>
          </p:nvPr>
        </p:nvSpPr>
        <p:spPr/>
        <p:txBody>
          <a:bodyPr>
            <a:normAutofit fontScale="92500" lnSpcReduction="20000"/>
          </a:bodyPr>
          <a:lstStyle/>
          <a:p>
            <a:r>
              <a:rPr lang="tr-TR" dirty="0"/>
              <a:t>Kontrol Odağı: Bu, kişinin hayatındaki olayların sonuçlarını kendi çabalarına ve kararlarına bağlama eğilimidir (İçsel Kontrol Odağı). Başarılı girişimciler, çevrelerindeki olaylardan şikayet etmek yerine, sonuçları değiştirmek için eyleme geçerler ve kendilerini işlerinin kaderinden sorumlu hissederler.</a:t>
            </a:r>
          </a:p>
          <a:p>
            <a:r>
              <a:rPr lang="tr-TR" dirty="0"/>
              <a:t>İyimserlik ve Sorunlarla Başa Çıkma: Girişimci, işler ters gittiğinde dahi pozitif kalabilme yeteneğine sahiptir. Sorunlar karşısında pes etmek yerine, bunları öğrenme ve gelişme fırsatları olarak görür. Karşılaştığı engelleri aşmak için yılmaz bir dirence ve çözüm odaklı bir yaklaşıma sahiptir.</a:t>
            </a:r>
          </a:p>
          <a:p>
            <a:r>
              <a:rPr lang="tr-TR" dirty="0"/>
              <a:t>Liderlik: Bir vizyon belirleme, bu vizyonu başkalarına ilham verme ve onları hedefe doğru yönlendirme yeteneğidir. Başarılı girişimciler, ekibini, yatırımcıları ve müşterileri kendi fikirlerinin peşinden gitmeye ikna edebilen etkili iletişim ve motivasyon becerilerine sahiptir.</a:t>
            </a:r>
          </a:p>
        </p:txBody>
      </p:sp>
    </p:spTree>
    <p:extLst>
      <p:ext uri="{BB962C8B-B14F-4D97-AF65-F5344CB8AC3E}">
        <p14:creationId xmlns:p14="http://schemas.microsoft.com/office/powerpoint/2010/main" val="3985194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D4CBDF7-92AD-5DFF-65D7-8EAF1D686B62}"/>
              </a:ext>
            </a:extLst>
          </p:cNvPr>
          <p:cNvSpPr>
            <a:spLocks noGrp="1"/>
          </p:cNvSpPr>
          <p:nvPr>
            <p:ph idx="1"/>
          </p:nvPr>
        </p:nvSpPr>
        <p:spPr>
          <a:xfrm>
            <a:off x="524656" y="1825625"/>
            <a:ext cx="10829144" cy="4351338"/>
          </a:xfrm>
        </p:spPr>
        <p:txBody>
          <a:bodyPr>
            <a:normAutofit lnSpcReduction="10000"/>
          </a:bodyPr>
          <a:lstStyle/>
          <a:p>
            <a:r>
              <a:rPr lang="tr-TR" dirty="0"/>
              <a:t>Yenilikçilik ve Yaratıcılık: Piyasadaki bir sorunu farklı ve benzersiz bir yolla çözme yeteneğidir. Mevcut yöntemleri sorgular, yeni fikirler geliştirir ve bunları somut ürünlere veya hizmetlere dönüştürür. Bu, girişimciliğin özünü oluşturan temel itici güçtür.</a:t>
            </a:r>
          </a:p>
          <a:p>
            <a:r>
              <a:rPr lang="tr-TR" dirty="0"/>
              <a:t>Kendine Güven: Kendi yeteneklerine, yargılarına ve kararlarına olan sarsılmaz inançtır. Bu özellik, özellikle eleştiri ve başarısızlıklarla karşılaşıldığında hayati önem taşır. Yüksek özgüven, risk almayı ve zorlu kararları verme cesaretini destekler.</a:t>
            </a:r>
          </a:p>
          <a:p>
            <a:pPr marL="0" indent="0">
              <a:buNone/>
            </a:pPr>
            <a:r>
              <a:rPr lang="tr-TR" dirty="0"/>
              <a:t>Bu özellikler, bir kişinin girişim yolculuğunda karşılaşacağı zorluklara, belirsizliklere ve rekabete karşı koymasını sağlayan temel zihinsel ve duygusal altyapıyı oluşturur.</a:t>
            </a:r>
          </a:p>
        </p:txBody>
      </p:sp>
    </p:spTree>
    <p:extLst>
      <p:ext uri="{BB962C8B-B14F-4D97-AF65-F5344CB8AC3E}">
        <p14:creationId xmlns:p14="http://schemas.microsoft.com/office/powerpoint/2010/main" val="918386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00E4B31-B6F6-D8A3-F4E6-903E35E5BC1B}"/>
              </a:ext>
            </a:extLst>
          </p:cNvPr>
          <p:cNvSpPr>
            <a:spLocks noGrp="1"/>
          </p:cNvSpPr>
          <p:nvPr>
            <p:ph type="title"/>
          </p:nvPr>
        </p:nvSpPr>
        <p:spPr/>
        <p:txBody>
          <a:bodyPr/>
          <a:lstStyle/>
          <a:p>
            <a:r>
              <a:rPr lang="tr-TR" dirty="0"/>
              <a:t>Uluslararası Literatürde Girişimci Özellikleri ve Açıklamaları </a:t>
            </a:r>
          </a:p>
        </p:txBody>
      </p:sp>
      <p:sp>
        <p:nvSpPr>
          <p:cNvPr id="3" name="İçerik Yer Tutucusu 2">
            <a:extLst>
              <a:ext uri="{FF2B5EF4-FFF2-40B4-BE49-F238E27FC236}">
                <a16:creationId xmlns:a16="http://schemas.microsoft.com/office/drawing/2014/main" id="{EF7D519A-AD36-3E6A-D91E-5FF6D3CABEAD}"/>
              </a:ext>
            </a:extLst>
          </p:cNvPr>
          <p:cNvSpPr>
            <a:spLocks noGrp="1"/>
          </p:cNvSpPr>
          <p:nvPr>
            <p:ph idx="1"/>
          </p:nvPr>
        </p:nvSpPr>
        <p:spPr/>
        <p:txBody>
          <a:bodyPr>
            <a:normAutofit fontScale="92500" lnSpcReduction="10000"/>
          </a:bodyPr>
          <a:lstStyle/>
          <a:p>
            <a:r>
              <a:rPr lang="tr-TR" dirty="0">
                <a:solidFill>
                  <a:schemeClr val="accent2">
                    <a:lumMod val="75000"/>
                  </a:schemeClr>
                </a:solidFill>
              </a:rPr>
              <a:t>Sorumluluk İsteği: </a:t>
            </a:r>
            <a:r>
              <a:rPr lang="tr-TR" i="1" dirty="0"/>
              <a:t>Girişimciler kurdukları işletmenin faaliyetlerinden dolayı kişisel sorumluluk hissederler</a:t>
            </a:r>
            <a:r>
              <a:rPr lang="tr-TR" dirty="0"/>
              <a:t>. Kaynaklarını kendi kontrolleri altında tutarak kendi belirledikleri amaçlara ulaşmak için bu kaynakları kullanmayı tercih ederler.</a:t>
            </a:r>
          </a:p>
          <a:p>
            <a:r>
              <a:rPr lang="tr-TR" dirty="0">
                <a:solidFill>
                  <a:schemeClr val="accent2">
                    <a:lumMod val="75000"/>
                  </a:schemeClr>
                </a:solidFill>
              </a:rPr>
              <a:t>Makul risk almayı tercih ederler: </a:t>
            </a:r>
            <a:r>
              <a:rPr lang="tr-TR" i="1" dirty="0"/>
              <a:t>Girişimciler aşırı riskten ziyade hesaplanabilir risk alırlar</a:t>
            </a:r>
            <a:r>
              <a:rPr lang="tr-TR" dirty="0"/>
              <a:t>. Makinelerde kumar oynayan kumarbazların aksine onlar sonucundan emin olunmayan bir işe değil öngörülebilir sonuçları olan işe girişirler. Girişimciler, kişisel seviyelerine ve algıladıkları riske göre bir proje veya yatırımla ilgilenirler. Bu amaç belki başkalarının algıladıkları düzeyden yüksek – hatta imkânsız- olabilir fakat girişimci bu durumu dikkate alır ve bu amacın makul ve ulaşılabilir olduğuna inanır.</a:t>
            </a:r>
          </a:p>
        </p:txBody>
      </p:sp>
    </p:spTree>
    <p:extLst>
      <p:ext uri="{BB962C8B-B14F-4D97-AF65-F5344CB8AC3E}">
        <p14:creationId xmlns:p14="http://schemas.microsoft.com/office/powerpoint/2010/main" val="3299753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6AE62046-0C2D-5DF1-C45A-0AF86D13676E}"/>
              </a:ext>
            </a:extLst>
          </p:cNvPr>
          <p:cNvSpPr>
            <a:spLocks noGrp="1"/>
          </p:cNvSpPr>
          <p:nvPr>
            <p:ph idx="1"/>
          </p:nvPr>
        </p:nvSpPr>
        <p:spPr>
          <a:xfrm>
            <a:off x="838200" y="1411705"/>
            <a:ext cx="10515600" cy="4765258"/>
          </a:xfrm>
        </p:spPr>
        <p:txBody>
          <a:bodyPr>
            <a:normAutofit/>
          </a:bodyPr>
          <a:lstStyle/>
          <a:p>
            <a:r>
              <a:rPr lang="tr-TR" dirty="0">
                <a:solidFill>
                  <a:schemeClr val="accent2">
                    <a:lumMod val="75000"/>
                  </a:schemeClr>
                </a:solidFill>
              </a:rPr>
              <a:t>Başarmak için kendi kabiliyetine güveniler: </a:t>
            </a:r>
            <a:r>
              <a:rPr lang="tr-TR" i="1" dirty="0"/>
              <a:t>Girişimciler tipik olarak kendi kabiliyetlerinin zenginliğine güvenirler</a:t>
            </a:r>
            <a:r>
              <a:rPr lang="tr-TR" dirty="0"/>
              <a:t>. Başarı için şanslarının olduğuna inanırlar ve bu iyimserlik gerçeğe dayanır. Amerika’da yapılan bir araştırmada girişimcilerin üçte birinin başarı şanslarının % 100 olduğuna inandıklarını göstermiştir. Bu yüksek iyimserlik oranı aynı zamanda birçok başarılı girişimcinin başarıya ulaşmadan önce en az birkaç kere başarısız olduklarını da açıklamaktadır.</a:t>
            </a:r>
          </a:p>
          <a:p>
            <a:r>
              <a:rPr lang="tr-TR" dirty="0">
                <a:solidFill>
                  <a:schemeClr val="accent2">
                    <a:lumMod val="75000"/>
                  </a:schemeClr>
                </a:solidFill>
              </a:rPr>
              <a:t>Anında tepki almak isterler: </a:t>
            </a:r>
            <a:r>
              <a:rPr lang="tr-TR" i="1" dirty="0"/>
              <a:t>Girişimciler işlerinin nasıl gittiğini anında bilmek isterler.</a:t>
            </a:r>
          </a:p>
        </p:txBody>
      </p:sp>
    </p:spTree>
    <p:extLst>
      <p:ext uri="{BB962C8B-B14F-4D97-AF65-F5344CB8AC3E}">
        <p14:creationId xmlns:p14="http://schemas.microsoft.com/office/powerpoint/2010/main" val="3565530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19577F1-701D-7A0A-5F3C-BAFFCCBC4A7E}"/>
              </a:ext>
            </a:extLst>
          </p:cNvPr>
          <p:cNvSpPr>
            <a:spLocks noGrp="1"/>
          </p:cNvSpPr>
          <p:nvPr>
            <p:ph idx="1"/>
          </p:nvPr>
        </p:nvSpPr>
        <p:spPr>
          <a:xfrm>
            <a:off x="838200" y="1253331"/>
            <a:ext cx="10515600" cy="4351338"/>
          </a:xfrm>
        </p:spPr>
        <p:txBody>
          <a:bodyPr>
            <a:normAutofit/>
          </a:bodyPr>
          <a:lstStyle/>
          <a:p>
            <a:r>
              <a:rPr lang="tr-TR" dirty="0">
                <a:solidFill>
                  <a:schemeClr val="accent2">
                    <a:lumMod val="75000"/>
                  </a:schemeClr>
                </a:solidFill>
              </a:rPr>
              <a:t>Yüksek enerji düzeyi: </a:t>
            </a:r>
            <a:r>
              <a:rPr lang="tr-TR" i="1" dirty="0"/>
              <a:t>Girişimciler ortalama kişiden daha enerjiktirler. </a:t>
            </a:r>
            <a:r>
              <a:rPr lang="tr-TR" dirty="0"/>
              <a:t>Yeni bir iş kurmak için inanılmaz bir çaba harcanmasında en önemli faktör bu enerjidir. Uzun çalışma saatleri –haftada 60 ila 80 saat- ve zor çalışma şartları girişimciler için istisna değil kuraldır.</a:t>
            </a:r>
          </a:p>
          <a:p>
            <a:r>
              <a:rPr lang="tr-TR" dirty="0">
                <a:solidFill>
                  <a:schemeClr val="accent2">
                    <a:lumMod val="75000"/>
                  </a:schemeClr>
                </a:solidFill>
              </a:rPr>
              <a:t>Geleceğe Yönelme: </a:t>
            </a:r>
            <a:r>
              <a:rPr lang="tr-TR" i="1" dirty="0"/>
              <a:t>Girişimciler fırsatları belirleme yeteneğine sahiptirler. İleriye bakarlar ve dün ne yaptıkları ile değil yarın ne yapacakları ile daha fazla ilgilenirler</a:t>
            </a:r>
            <a:r>
              <a:rPr lang="tr-TR" dirty="0"/>
              <a:t>. Yeni iş fırsatları konusunda sürekli uyanık olan girişimciler, başka insanların yaptığı aynı olayı gözlemlerler fakat farklı şeyler görürler.</a:t>
            </a:r>
          </a:p>
        </p:txBody>
      </p:sp>
    </p:spTree>
    <p:extLst>
      <p:ext uri="{BB962C8B-B14F-4D97-AF65-F5344CB8AC3E}">
        <p14:creationId xmlns:p14="http://schemas.microsoft.com/office/powerpoint/2010/main" val="2943380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71600FD-7EF9-0657-B5BF-F988BE6705C5}"/>
              </a:ext>
            </a:extLst>
          </p:cNvPr>
          <p:cNvSpPr>
            <a:spLocks noGrp="1"/>
          </p:cNvSpPr>
          <p:nvPr>
            <p:ph idx="1"/>
          </p:nvPr>
        </p:nvSpPr>
        <p:spPr>
          <a:xfrm>
            <a:off x="838200" y="1459832"/>
            <a:ext cx="10515600" cy="4717131"/>
          </a:xfrm>
        </p:spPr>
        <p:txBody>
          <a:bodyPr>
            <a:normAutofit/>
          </a:bodyPr>
          <a:lstStyle/>
          <a:p>
            <a:r>
              <a:rPr lang="tr-TR" dirty="0">
                <a:solidFill>
                  <a:schemeClr val="accent2">
                    <a:lumMod val="75000"/>
                  </a:schemeClr>
                </a:solidFill>
              </a:rPr>
              <a:t>Organizasyon yeteneği: </a:t>
            </a:r>
            <a:r>
              <a:rPr lang="tr-TR" dirty="0"/>
              <a:t>Sıfırdan bir işletmenin kurulması büyük bir yapboz yapmaya benzer. </a:t>
            </a:r>
            <a:r>
              <a:rPr lang="tr-TR" i="1" dirty="0"/>
              <a:t>Girişimciler bir işi başarmak için uygun insanları ve uygun kaynakları bir araya getirmeyi bilirler</a:t>
            </a:r>
            <a:r>
              <a:rPr lang="tr-TR" dirty="0"/>
              <a:t>. İnsanların ve işin etkin bir şekilde birleştirilmesi girişimcinin vizyonunu gerçeğe dönüştürür.</a:t>
            </a:r>
          </a:p>
          <a:p>
            <a:r>
              <a:rPr lang="tr-TR" dirty="0">
                <a:solidFill>
                  <a:schemeClr val="accent2">
                    <a:lumMod val="75000"/>
                  </a:schemeClr>
                </a:solidFill>
              </a:rPr>
              <a:t>Başarmanın paradan daha değerli olması: </a:t>
            </a:r>
            <a:r>
              <a:rPr lang="tr-TR" dirty="0"/>
              <a:t>Girişimciler hakkındaki yanlış düşüncelerden biri onların para kazanmak amacıyla bir iş kurduklarıdır. Aksine, </a:t>
            </a:r>
            <a:r>
              <a:rPr lang="tr-TR" i="1" dirty="0"/>
              <a:t>başarma duygusu, girişimcilerin arkasındaki en önemli itici güçtür.</a:t>
            </a:r>
            <a:r>
              <a:rPr lang="tr-TR" dirty="0"/>
              <a:t> Para sadece başarının ölçülmesinde kullanılan bir araçtır, başarının sembolüdür.</a:t>
            </a:r>
          </a:p>
        </p:txBody>
      </p:sp>
    </p:spTree>
    <p:extLst>
      <p:ext uri="{BB962C8B-B14F-4D97-AF65-F5344CB8AC3E}">
        <p14:creationId xmlns:p14="http://schemas.microsoft.com/office/powerpoint/2010/main" val="1211524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2581167-6AC8-1B59-E289-F5B7981055C6}"/>
              </a:ext>
            </a:extLst>
          </p:cNvPr>
          <p:cNvSpPr>
            <a:spLocks noGrp="1"/>
          </p:cNvSpPr>
          <p:nvPr>
            <p:ph idx="1"/>
          </p:nvPr>
        </p:nvSpPr>
        <p:spPr/>
        <p:txBody>
          <a:bodyPr>
            <a:normAutofit/>
          </a:bodyPr>
          <a:lstStyle/>
          <a:p>
            <a:pPr algn="l"/>
            <a:r>
              <a:rPr lang="tr-TR" sz="2800" b="0" i="1" u="none" strike="noStrike" baseline="0" dirty="0">
                <a:solidFill>
                  <a:srgbClr val="994806"/>
                </a:solidFill>
                <a:latin typeface="Calibri-Italic"/>
              </a:rPr>
              <a:t>Yüksek sorumluluk ve bağlılık düzeyi: </a:t>
            </a:r>
            <a:r>
              <a:rPr lang="tr-TR" sz="2800" b="0" i="1" u="none" strike="noStrike" baseline="0" dirty="0">
                <a:solidFill>
                  <a:srgbClr val="000000"/>
                </a:solidFill>
                <a:latin typeface="Calibri" panose="020F0502020204030204" pitchFamily="34" charset="0"/>
              </a:rPr>
              <a:t>Bir işletmenin başarılı bir şekilde kurulması için girişimcinin tümüyle kendisini işletmeye vermesi gerekir</a:t>
            </a:r>
            <a:r>
              <a:rPr lang="tr-TR" sz="2800" b="0" i="0" u="none" strike="noStrike" baseline="0" dirty="0">
                <a:solidFill>
                  <a:srgbClr val="000000"/>
                </a:solidFill>
                <a:latin typeface="Calibri" panose="020F0502020204030204" pitchFamily="34" charset="0"/>
              </a:rPr>
              <a:t>. İşletme kurucuları sık sık balıklama işletmelerine dalarlar. Girişimcinin kendisini işine adaması işletmeyi tehdit eden hata ve engellerle başa çıkmasına yardımcı olur.</a:t>
            </a:r>
          </a:p>
          <a:p>
            <a:pPr algn="l"/>
            <a:r>
              <a:rPr lang="tr-TR" sz="2800" b="0" i="1" u="none" strike="noStrike" baseline="0" dirty="0">
                <a:solidFill>
                  <a:srgbClr val="994806"/>
                </a:solidFill>
                <a:latin typeface="Calibri-Italic"/>
              </a:rPr>
              <a:t>Belirsizliğe tolerans gösterme: </a:t>
            </a:r>
            <a:r>
              <a:rPr lang="tr-TR" sz="2800" b="0" i="1" u="none" strike="noStrike" baseline="0" dirty="0">
                <a:solidFill>
                  <a:srgbClr val="000000"/>
                </a:solidFill>
                <a:latin typeface="Calibri" panose="020F0502020204030204" pitchFamily="34" charset="0"/>
              </a:rPr>
              <a:t>Girişimciler, faaliyette bulundukları ortamlardaki belirsizliğe ve sürekli ortaya çıkan değişikliklere karşı aşırı tolerans gösterirler.</a:t>
            </a:r>
            <a:r>
              <a:rPr lang="tr-TR" sz="2800" b="0" i="0" u="none" strike="noStrike" baseline="0" dirty="0">
                <a:solidFill>
                  <a:srgbClr val="000000"/>
                </a:solidFill>
                <a:latin typeface="Calibri" panose="020F0502020204030204" pitchFamily="34" charset="0"/>
              </a:rPr>
              <a:t> Belirsizlikle uğraşmak için bu yetenek gereklidir çünkü işletme kuranlar belirli olmayan kaynaklardan elde edilen yeni ve bazen çelişkili bilgileri kullanarak karar verirler.</a:t>
            </a:r>
            <a:endParaRPr lang="tr-TR" dirty="0"/>
          </a:p>
        </p:txBody>
      </p:sp>
    </p:spTree>
    <p:extLst>
      <p:ext uri="{BB962C8B-B14F-4D97-AF65-F5344CB8AC3E}">
        <p14:creationId xmlns:p14="http://schemas.microsoft.com/office/powerpoint/2010/main" val="2812704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2FEC064-AA2F-1B91-2C1A-4E59B6ED2B06}"/>
              </a:ext>
            </a:extLst>
          </p:cNvPr>
          <p:cNvSpPr>
            <a:spLocks noGrp="1"/>
          </p:cNvSpPr>
          <p:nvPr>
            <p:ph idx="1"/>
          </p:nvPr>
        </p:nvSpPr>
        <p:spPr/>
        <p:txBody>
          <a:bodyPr>
            <a:normAutofit/>
          </a:bodyPr>
          <a:lstStyle/>
          <a:p>
            <a:pPr algn="l"/>
            <a:r>
              <a:rPr lang="tr-TR" b="0" i="1" u="none" strike="noStrike" baseline="0" dirty="0">
                <a:solidFill>
                  <a:srgbClr val="994806"/>
                </a:solidFill>
                <a:latin typeface="Calibri-Italic"/>
              </a:rPr>
              <a:t>Esneklik: </a:t>
            </a:r>
            <a:r>
              <a:rPr lang="tr-TR" b="0" i="1" u="none" strike="noStrike" baseline="0" dirty="0">
                <a:solidFill>
                  <a:srgbClr val="000000"/>
                </a:solidFill>
                <a:latin typeface="Calibri" panose="020F0502020204030204" pitchFamily="34" charset="0"/>
              </a:rPr>
              <a:t>Gerçek girişimcilerin bir işareti de müşterilerinin ve işletmelerinin değişen taleplerine uyum kabiliyetleridir. </a:t>
            </a:r>
            <a:r>
              <a:rPr lang="tr-TR" b="0" i="0" u="none" strike="noStrike" baseline="0" dirty="0">
                <a:solidFill>
                  <a:srgbClr val="000000"/>
                </a:solidFill>
                <a:latin typeface="Calibri" panose="020F0502020204030204" pitchFamily="34" charset="0"/>
              </a:rPr>
              <a:t>Hızla değişen dünya ekonomisinde katı olmak başarısızlığa yol açar. Toplumda mutlaka zevkler ve tercihler değişir.</a:t>
            </a:r>
          </a:p>
          <a:p>
            <a:pPr algn="l"/>
            <a:r>
              <a:rPr lang="tr-TR" b="0" i="1" u="none" strike="noStrike" baseline="0" dirty="0">
                <a:solidFill>
                  <a:srgbClr val="994806"/>
                </a:solidFill>
                <a:latin typeface="Calibri-Italic"/>
              </a:rPr>
              <a:t>Azimli olma: </a:t>
            </a:r>
            <a:r>
              <a:rPr lang="tr-TR" b="0" i="1" u="none" strike="noStrike" baseline="0" dirty="0">
                <a:solidFill>
                  <a:srgbClr val="000000"/>
                </a:solidFill>
                <a:latin typeface="Calibri" panose="020F0502020204030204" pitchFamily="34" charset="0"/>
              </a:rPr>
              <a:t>Zorluklar, engeller ve hezimetler girişimciyi yolundan döndürmemelidir.</a:t>
            </a:r>
            <a:r>
              <a:rPr lang="tr-TR" b="0" i="0" u="none" strike="noStrike" baseline="0" dirty="0">
                <a:solidFill>
                  <a:srgbClr val="000000"/>
                </a:solidFill>
                <a:latin typeface="Calibri" panose="020F0502020204030204" pitchFamily="34" charset="0"/>
              </a:rPr>
              <a:t> Bu engelleri aşma yeteneğine sahip olmalıdır.</a:t>
            </a:r>
            <a:endParaRPr lang="tr-TR" dirty="0"/>
          </a:p>
        </p:txBody>
      </p:sp>
    </p:spTree>
    <p:extLst>
      <p:ext uri="{BB962C8B-B14F-4D97-AF65-F5344CB8AC3E}">
        <p14:creationId xmlns:p14="http://schemas.microsoft.com/office/powerpoint/2010/main" val="1944755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B9981B8-F311-F849-0AFF-D484B4721756}"/>
              </a:ext>
            </a:extLst>
          </p:cNvPr>
          <p:cNvSpPr>
            <a:spLocks noGrp="1"/>
          </p:cNvSpPr>
          <p:nvPr>
            <p:ph type="title"/>
          </p:nvPr>
        </p:nvSpPr>
        <p:spPr/>
        <p:txBody>
          <a:bodyPr/>
          <a:lstStyle/>
          <a:p>
            <a:r>
              <a:rPr lang="nn-NO" dirty="0"/>
              <a:t>Türk ve dünya girişimcilerinin motivasyonları</a:t>
            </a:r>
            <a:endParaRPr lang="tr-TR" dirty="0"/>
          </a:p>
        </p:txBody>
      </p:sp>
      <p:sp>
        <p:nvSpPr>
          <p:cNvPr id="3" name="İçerik Yer Tutucusu 2">
            <a:extLst>
              <a:ext uri="{FF2B5EF4-FFF2-40B4-BE49-F238E27FC236}">
                <a16:creationId xmlns:a16="http://schemas.microsoft.com/office/drawing/2014/main" id="{2E01B410-39B4-7301-398D-7C9F56BA9309}"/>
              </a:ext>
            </a:extLst>
          </p:cNvPr>
          <p:cNvSpPr>
            <a:spLocks noGrp="1"/>
          </p:cNvSpPr>
          <p:nvPr>
            <p:ph idx="1"/>
          </p:nvPr>
        </p:nvSpPr>
        <p:spPr/>
        <p:txBody>
          <a:bodyPr/>
          <a:lstStyle/>
          <a:p>
            <a:r>
              <a:rPr lang="tr-TR" dirty="0"/>
              <a:t>Türk ve dünya girişimcilerinin motivasyonları ile onlara yönelik kültürel destek sistemleri arasında belirgin farklılıklar bulunmaktadır. Bazı motivasyonlar evrensel nitelikteyken, kültürel ve tarihsel bağlamlar önemli ayrımlar yaratmaktadır.</a:t>
            </a:r>
          </a:p>
          <a:p>
            <a:r>
              <a:rPr lang="tr-TR" dirty="0"/>
              <a:t>Girişimcileri harekete geçiren bazı güdüler evrensel kabul edilirken, farklı toplumlardaki girişimcilerin kendilerine özgü motivasyon kaynakları da bulunmaktadır.</a:t>
            </a:r>
          </a:p>
        </p:txBody>
      </p:sp>
    </p:spTree>
    <p:extLst>
      <p:ext uri="{BB962C8B-B14F-4D97-AF65-F5344CB8AC3E}">
        <p14:creationId xmlns:p14="http://schemas.microsoft.com/office/powerpoint/2010/main" val="3261315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3B9EFCB-9771-03D4-CF3E-C4A1FFD274FD}"/>
              </a:ext>
            </a:extLst>
          </p:cNvPr>
          <p:cNvSpPr>
            <a:spLocks noGrp="1"/>
          </p:cNvSpPr>
          <p:nvPr>
            <p:ph type="title"/>
          </p:nvPr>
        </p:nvSpPr>
        <p:spPr/>
        <p:txBody>
          <a:bodyPr/>
          <a:lstStyle/>
          <a:p>
            <a:r>
              <a:rPr lang="tr-TR" dirty="0"/>
              <a:t>Evrensel Motivasyonlar</a:t>
            </a:r>
          </a:p>
        </p:txBody>
      </p:sp>
      <p:sp>
        <p:nvSpPr>
          <p:cNvPr id="3" name="İçerik Yer Tutucusu 2">
            <a:extLst>
              <a:ext uri="{FF2B5EF4-FFF2-40B4-BE49-F238E27FC236}">
                <a16:creationId xmlns:a16="http://schemas.microsoft.com/office/drawing/2014/main" id="{99024635-F992-63EC-D42C-C47C3B2F3723}"/>
              </a:ext>
            </a:extLst>
          </p:cNvPr>
          <p:cNvSpPr>
            <a:spLocks noGrp="1"/>
          </p:cNvSpPr>
          <p:nvPr>
            <p:ph idx="1"/>
          </p:nvPr>
        </p:nvSpPr>
        <p:spPr/>
        <p:txBody>
          <a:bodyPr>
            <a:normAutofit/>
          </a:bodyPr>
          <a:lstStyle/>
          <a:p>
            <a:r>
              <a:rPr lang="tr-TR" dirty="0"/>
              <a:t>Dünyanın farklı yerlerindeki girişimciler için ortak olan bir dizi temel motivasyon sıralanmaktadır:</a:t>
            </a:r>
          </a:p>
          <a:p>
            <a:r>
              <a:rPr lang="tr-TR" dirty="0">
                <a:solidFill>
                  <a:schemeClr val="accent2">
                    <a:lumMod val="75000"/>
                  </a:schemeClr>
                </a:solidFill>
              </a:rPr>
              <a:t>Kâr Elde Etme ve Ekonomik Düzeyi Yükseltme</a:t>
            </a:r>
            <a:r>
              <a:rPr lang="tr-TR" dirty="0"/>
              <a:t>: Bireysel çıkarları en üst seviyeye çıkarma ve ekonomik fayda sağlama isteği, girişimciliği ateşleyen en temel güdülerden biridir. Girişimciler, kendilerine ve ailelerine daha iyi bir yaşam standardı sağlamak amacıyla kendi işlerini kurmaya yönelirler.</a:t>
            </a:r>
          </a:p>
          <a:p>
            <a:r>
              <a:rPr lang="tr-TR" dirty="0">
                <a:solidFill>
                  <a:schemeClr val="accent2">
                    <a:lumMod val="75000"/>
                  </a:schemeClr>
                </a:solidFill>
              </a:rPr>
              <a:t>Bağımsız Olma İsteği: </a:t>
            </a:r>
            <a:r>
              <a:rPr lang="tr-TR" dirty="0"/>
              <a:t>Kendi işinin patronu olmak, başkalarından emir almamak ve kendi geleceğini kendi kararlarıyla şekillendirme arzusu, birçok girişimci için en önemli itici güçlerdendir.</a:t>
            </a:r>
          </a:p>
          <a:p>
            <a:endParaRPr lang="tr-TR" dirty="0"/>
          </a:p>
        </p:txBody>
      </p:sp>
    </p:spTree>
    <p:extLst>
      <p:ext uri="{BB962C8B-B14F-4D97-AF65-F5344CB8AC3E}">
        <p14:creationId xmlns:p14="http://schemas.microsoft.com/office/powerpoint/2010/main" val="20863936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AAB5041-2C2D-0EF6-FE2E-B5E753F824D2}"/>
              </a:ext>
            </a:extLst>
          </p:cNvPr>
          <p:cNvSpPr>
            <a:spLocks noGrp="1"/>
          </p:cNvSpPr>
          <p:nvPr>
            <p:ph idx="1"/>
          </p:nvPr>
        </p:nvSpPr>
        <p:spPr>
          <a:xfrm>
            <a:off x="838200" y="1283368"/>
            <a:ext cx="10515600" cy="4893595"/>
          </a:xfrm>
        </p:spPr>
        <p:txBody>
          <a:bodyPr/>
          <a:lstStyle/>
          <a:p>
            <a:r>
              <a:rPr lang="tr-TR" dirty="0"/>
              <a:t>Kişisel Tatmin ve Başarı Güdüsü: Girişimcilik, bireylerin kendi yeteneklerini kullanma, bir fikri hayata geçirme ve kişisel tatmin sağlama arzusunu karşılar. Başarı güdüsü yüksek olan bireyler, zorlu hedefler belirleyerek ve bunlara ulaşarak motive olurlar.</a:t>
            </a:r>
          </a:p>
          <a:p>
            <a:r>
              <a:rPr lang="tr-TR" dirty="0"/>
              <a:t>Fırsatları Değerlendirme: Başka insanların göremediği veya değerlendiremediği iş fırsatlarını keşfedip bunlardan yararlanma isteği de önemli bir motivasyon kaynağıdır.</a:t>
            </a:r>
          </a:p>
          <a:p>
            <a:endParaRPr lang="tr-TR" dirty="0"/>
          </a:p>
        </p:txBody>
      </p:sp>
    </p:spTree>
    <p:extLst>
      <p:ext uri="{BB962C8B-B14F-4D97-AF65-F5344CB8AC3E}">
        <p14:creationId xmlns:p14="http://schemas.microsoft.com/office/powerpoint/2010/main" val="7060001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3DF1909-5D3E-5499-11A5-CD47310FFE7D}"/>
              </a:ext>
            </a:extLst>
          </p:cNvPr>
          <p:cNvSpPr>
            <a:spLocks noGrp="1"/>
          </p:cNvSpPr>
          <p:nvPr>
            <p:ph type="title"/>
          </p:nvPr>
        </p:nvSpPr>
        <p:spPr/>
        <p:txBody>
          <a:bodyPr/>
          <a:lstStyle/>
          <a:p>
            <a:r>
              <a:rPr lang="tr-TR" dirty="0"/>
              <a:t>Türk Girişimcilerine Özgü Motivasyonlar</a:t>
            </a:r>
          </a:p>
        </p:txBody>
      </p:sp>
      <p:sp>
        <p:nvSpPr>
          <p:cNvPr id="3" name="İçerik Yer Tutucusu 2">
            <a:extLst>
              <a:ext uri="{FF2B5EF4-FFF2-40B4-BE49-F238E27FC236}">
                <a16:creationId xmlns:a16="http://schemas.microsoft.com/office/drawing/2014/main" id="{B95BF8CE-0D33-2114-825D-F0607CE221EE}"/>
              </a:ext>
            </a:extLst>
          </p:cNvPr>
          <p:cNvSpPr>
            <a:spLocks noGrp="1"/>
          </p:cNvSpPr>
          <p:nvPr>
            <p:ph idx="1"/>
          </p:nvPr>
        </p:nvSpPr>
        <p:spPr/>
        <p:txBody>
          <a:bodyPr/>
          <a:lstStyle/>
          <a:p>
            <a:r>
              <a:rPr lang="tr-TR" dirty="0"/>
              <a:t>Türkiye'deki girişimciler, özellikle Orta ve Güneydoğu Anadolu'dakiler üzerine yapılan bir araştırmaya göre, evrensel motivasyonların yanı sıra kendilerine özgü </a:t>
            </a:r>
            <a:r>
              <a:rPr lang="tr-TR" dirty="0" err="1"/>
              <a:t>sosyo</a:t>
            </a:r>
            <a:r>
              <a:rPr lang="tr-TR" dirty="0"/>
              <a:t>-kültürel ve tarihsel motivasyonlara da sahiptir:</a:t>
            </a:r>
          </a:p>
        </p:txBody>
      </p:sp>
    </p:spTree>
    <p:extLst>
      <p:ext uri="{BB962C8B-B14F-4D97-AF65-F5344CB8AC3E}">
        <p14:creationId xmlns:p14="http://schemas.microsoft.com/office/powerpoint/2010/main" val="5038678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8EA0C4B-2C4C-C1EF-9957-2EC2426B29D2}"/>
              </a:ext>
            </a:extLst>
          </p:cNvPr>
          <p:cNvSpPr>
            <a:spLocks noGrp="1"/>
          </p:cNvSpPr>
          <p:nvPr>
            <p:ph idx="1"/>
          </p:nvPr>
        </p:nvSpPr>
        <p:spPr/>
        <p:txBody>
          <a:bodyPr/>
          <a:lstStyle/>
          <a:p>
            <a:r>
              <a:rPr lang="tr-TR" dirty="0"/>
              <a:t>Sosyal Statü ve Prestij Kazanma: Bu girişimciler, kendilerini tarihsel süreçte merkezi yönetimler tarafından desteklenen İstanbul sanayicileri karşısında "ikinci sınıf" olarak gördüklerini ifade etmektedirler. Bu nedenle, hak ettiklerine inandıkları toplumsal konuma ulaşmanın yolunun ekonomik olarak güçlü olmaktan geçtiğine inanmaktadırlar. Devlet desteği veya faizli banka kredisi kullanmadan işletmeler kurarak prestij kazanmayı hedeflemektedirler.</a:t>
            </a:r>
          </a:p>
        </p:txBody>
      </p:sp>
    </p:spTree>
    <p:extLst>
      <p:ext uri="{BB962C8B-B14F-4D97-AF65-F5344CB8AC3E}">
        <p14:creationId xmlns:p14="http://schemas.microsoft.com/office/powerpoint/2010/main" val="3146545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318B7E6-6B3C-F08C-3883-739141B27D34}"/>
              </a:ext>
            </a:extLst>
          </p:cNvPr>
          <p:cNvSpPr>
            <a:spLocks noGrp="1"/>
          </p:cNvSpPr>
          <p:nvPr>
            <p:ph idx="1"/>
          </p:nvPr>
        </p:nvSpPr>
        <p:spPr/>
        <p:txBody>
          <a:bodyPr/>
          <a:lstStyle/>
          <a:p>
            <a:r>
              <a:rPr lang="tr-TR" dirty="0"/>
              <a:t>Sosyal Kimlik Geliştirme: Girişimciler, kendilerine yönelik "üsten bakan tavrı" kırmanın yolunun, dahil oldukları grubun sosyal kimliğini geliştirmekten geçtiğine inanmaktadırlar. Kurdukları işletmeleri, bu sosyal kimliği geliştirmenin en önemli ekonomik ve sosyal aracı olarak görmektedirler. Bu yolla kendilerinden sonra gelen nesillere de özgüven kazandıracaklarına inanmaktadırlar.</a:t>
            </a:r>
          </a:p>
        </p:txBody>
      </p:sp>
    </p:spTree>
    <p:extLst>
      <p:ext uri="{BB962C8B-B14F-4D97-AF65-F5344CB8AC3E}">
        <p14:creationId xmlns:p14="http://schemas.microsoft.com/office/powerpoint/2010/main" val="23770787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6E02F797-0EB2-D26B-EC06-CC10F4FE201B}"/>
              </a:ext>
            </a:extLst>
          </p:cNvPr>
          <p:cNvSpPr>
            <a:spLocks noGrp="1"/>
          </p:cNvSpPr>
          <p:nvPr>
            <p:ph idx="1"/>
          </p:nvPr>
        </p:nvSpPr>
        <p:spPr/>
        <p:txBody>
          <a:bodyPr/>
          <a:lstStyle/>
          <a:p>
            <a:r>
              <a:rPr lang="tr-TR" dirty="0"/>
              <a:t>Kişisel Gelişim: İşletmeler kurmanın, sahip oldukları potansiyeli ortaya çıkarmanın ve kendilerini geliştirmenin en iyi yolu olduğuna inanmaktadırlar.</a:t>
            </a:r>
          </a:p>
          <a:p>
            <a:r>
              <a:rPr lang="tr-TR" dirty="0"/>
              <a:t>Aile Geleneği: Birçok girişimcinin babasının esnaf veya tüccar olması, aile geçmişinin etkisini gösterse de, ilginç bir şekilde "aile geleneğini sürdürme" değeri, girişimcileri işletme kurmada en az motive eden faktör olarak görülmüştür.</a:t>
            </a:r>
          </a:p>
          <a:p>
            <a:endParaRPr lang="tr-TR" dirty="0"/>
          </a:p>
        </p:txBody>
      </p:sp>
    </p:spTree>
    <p:extLst>
      <p:ext uri="{BB962C8B-B14F-4D97-AF65-F5344CB8AC3E}">
        <p14:creationId xmlns:p14="http://schemas.microsoft.com/office/powerpoint/2010/main" val="7038325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8C2A7DD-0811-5B70-4DBF-FFE547207B9B}"/>
              </a:ext>
            </a:extLst>
          </p:cNvPr>
          <p:cNvSpPr>
            <a:spLocks noGrp="1"/>
          </p:cNvSpPr>
          <p:nvPr>
            <p:ph type="title"/>
          </p:nvPr>
        </p:nvSpPr>
        <p:spPr/>
        <p:txBody>
          <a:bodyPr/>
          <a:lstStyle/>
          <a:p>
            <a:r>
              <a:rPr lang="tr-TR" dirty="0"/>
              <a:t>Diğer Ülkelerden Motivasyon Örnekleri</a:t>
            </a:r>
          </a:p>
        </p:txBody>
      </p:sp>
      <p:sp>
        <p:nvSpPr>
          <p:cNvPr id="3" name="İçerik Yer Tutucusu 2">
            <a:extLst>
              <a:ext uri="{FF2B5EF4-FFF2-40B4-BE49-F238E27FC236}">
                <a16:creationId xmlns:a16="http://schemas.microsoft.com/office/drawing/2014/main" id="{1821F26E-E59F-CF09-B046-A13125EF3A4A}"/>
              </a:ext>
            </a:extLst>
          </p:cNvPr>
          <p:cNvSpPr>
            <a:spLocks noGrp="1"/>
          </p:cNvSpPr>
          <p:nvPr>
            <p:ph idx="1"/>
          </p:nvPr>
        </p:nvSpPr>
        <p:spPr/>
        <p:txBody>
          <a:bodyPr/>
          <a:lstStyle/>
          <a:p>
            <a:r>
              <a:rPr lang="tr-TR" dirty="0"/>
              <a:t>ABD: Amerika'da yapılan araştırmalarda, iş tatminsizliğinin yeni bir işletme kurmayı motive eden önemli bir faktör olduğu görülmüştür; bu durum diğer birçok ülkede aynı derecede etkili değildir.</a:t>
            </a:r>
          </a:p>
          <a:p>
            <a:r>
              <a:rPr lang="tr-TR" dirty="0"/>
              <a:t>Japonya: Japon girişimciler için arkadaşlık yükümlülüklerinin, göç hareketlerinden daha etkili bir motivasyon kaynağı olduğu saptanmıştır. Sosyal statü elde etmek önemli bir değerken, aile geleneğini sürdürmek daha az önemlidir.</a:t>
            </a:r>
          </a:p>
          <a:p>
            <a:endParaRPr lang="tr-TR" dirty="0"/>
          </a:p>
        </p:txBody>
      </p:sp>
    </p:spTree>
    <p:extLst>
      <p:ext uri="{BB962C8B-B14F-4D97-AF65-F5344CB8AC3E}">
        <p14:creationId xmlns:p14="http://schemas.microsoft.com/office/powerpoint/2010/main" val="1238291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D0FE48A-A62A-C621-1272-E8175D7463B9}"/>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A13E43AB-603C-5BCE-5997-62B9DD2D41F0}"/>
              </a:ext>
            </a:extLst>
          </p:cNvPr>
          <p:cNvSpPr>
            <a:spLocks noGrp="1"/>
          </p:cNvSpPr>
          <p:nvPr>
            <p:ph idx="1"/>
          </p:nvPr>
        </p:nvSpPr>
        <p:spPr/>
        <p:txBody>
          <a:bodyPr/>
          <a:lstStyle/>
          <a:p>
            <a:r>
              <a:rPr lang="tr-TR" dirty="0"/>
              <a:t>Kültürel Destek Sistemlerindeki Farklılıklar</a:t>
            </a:r>
          </a:p>
          <a:p>
            <a:r>
              <a:rPr lang="tr-TR" dirty="0"/>
              <a:t>Bir toplumun kültürel yapısı, girişimciliğin gelişimi için bir destek sistemi oluşturabileceği gibi, bir engel de teşkil edebilir.</a:t>
            </a:r>
          </a:p>
          <a:p>
            <a:r>
              <a:rPr lang="tr-TR" dirty="0"/>
              <a:t>Türk Kültürünün Girişimciliğe Etkisi</a:t>
            </a:r>
          </a:p>
          <a:p>
            <a:r>
              <a:rPr lang="tr-TR" dirty="0"/>
              <a:t>Türkiye'nin tarihsel ve kültürel yapısı, girişimcilik üzerinde hem kısıtlayıcı hem de destekleyici unsurlar barındırmaktadır.</a:t>
            </a:r>
          </a:p>
          <a:p>
            <a:endParaRPr lang="tr-TR" dirty="0"/>
          </a:p>
        </p:txBody>
      </p:sp>
    </p:spTree>
    <p:extLst>
      <p:ext uri="{BB962C8B-B14F-4D97-AF65-F5344CB8AC3E}">
        <p14:creationId xmlns:p14="http://schemas.microsoft.com/office/powerpoint/2010/main" val="1806889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82922C2-1005-4D94-2648-27972F707D82}"/>
              </a:ext>
            </a:extLst>
          </p:cNvPr>
          <p:cNvSpPr>
            <a:spLocks noGrp="1"/>
          </p:cNvSpPr>
          <p:nvPr>
            <p:ph type="title"/>
          </p:nvPr>
        </p:nvSpPr>
        <p:spPr/>
        <p:txBody>
          <a:bodyPr/>
          <a:lstStyle/>
          <a:p>
            <a:r>
              <a:rPr lang="tr-TR" dirty="0"/>
              <a:t>Girişimciliği Kısıtlayan Kültürel Faktörler:</a:t>
            </a:r>
          </a:p>
        </p:txBody>
      </p:sp>
      <p:sp>
        <p:nvSpPr>
          <p:cNvPr id="3" name="İçerik Yer Tutucusu 2">
            <a:extLst>
              <a:ext uri="{FF2B5EF4-FFF2-40B4-BE49-F238E27FC236}">
                <a16:creationId xmlns:a16="http://schemas.microsoft.com/office/drawing/2014/main" id="{9D6D8115-B333-FB03-0D17-7FE7D0E7440C}"/>
              </a:ext>
            </a:extLst>
          </p:cNvPr>
          <p:cNvSpPr>
            <a:spLocks noGrp="1"/>
          </p:cNvSpPr>
          <p:nvPr>
            <p:ph idx="1"/>
          </p:nvPr>
        </p:nvSpPr>
        <p:spPr/>
        <p:txBody>
          <a:bodyPr>
            <a:normAutofit lnSpcReduction="10000"/>
          </a:bodyPr>
          <a:lstStyle/>
          <a:p>
            <a:r>
              <a:rPr lang="tr-TR" dirty="0"/>
              <a:t>Tarihsel Arka Plan: Osmanlı İmparatorluğu'nun son dönemlerinde ticaretin daha çok gayrimüslim azınlıkların elinde olması ve Türklerin askerlik, bürokrasi gibi alanlara yönlendirilmesi, Türk toplumunda ticaret kültürünün ve altyapısının arzu edilen ölçüde gelişmesini uzun süre engellemiştir.</a:t>
            </a:r>
          </a:p>
          <a:p>
            <a:r>
              <a:rPr lang="tr-TR" dirty="0"/>
              <a:t>Kültürel Boyutlar: Türkiye kültürü, bireyciliğin önünde ortaklaşa davranışı tutan kolektivist, belirsizlikten kaçınma eğilimi yüksek ve geniş bağımlı bir kültür olarak tanımlanmaktadır. Bu özelliklerin, bireysel risk almayı ve bağımsız hareket etmeyi gerektiren girişimcilik kültürünün gelişiminde engelleyici bir rol oynadığı belirtilmektedir.</a:t>
            </a:r>
          </a:p>
          <a:p>
            <a:endParaRPr lang="tr-TR" dirty="0"/>
          </a:p>
        </p:txBody>
      </p:sp>
    </p:spTree>
    <p:extLst>
      <p:ext uri="{BB962C8B-B14F-4D97-AF65-F5344CB8AC3E}">
        <p14:creationId xmlns:p14="http://schemas.microsoft.com/office/powerpoint/2010/main" val="34086383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946F8F1-2E86-1548-3E3C-CC535639B984}"/>
              </a:ext>
            </a:extLst>
          </p:cNvPr>
          <p:cNvSpPr>
            <a:spLocks noGrp="1"/>
          </p:cNvSpPr>
          <p:nvPr>
            <p:ph idx="1"/>
          </p:nvPr>
        </p:nvSpPr>
        <p:spPr>
          <a:xfrm>
            <a:off x="838200" y="1411705"/>
            <a:ext cx="10515600" cy="4765258"/>
          </a:xfrm>
        </p:spPr>
        <p:txBody>
          <a:bodyPr>
            <a:normAutofit lnSpcReduction="10000"/>
          </a:bodyPr>
          <a:lstStyle/>
          <a:p>
            <a:r>
              <a:rPr lang="tr-TR" dirty="0"/>
              <a:t>Aile Yapısı: Özellikle kırsal kesimde görülen ataerkil aile yapısı, sıkı denetim ve itaati ön plana çıkardığı için yeniliklere açık, risk alabilen dinamik girişimci tipinin yetişmesini zorlaştırmaktadır. Bu kesimdeki bireylerin güvence arayışıyla "devlet kapısında" çalışmayı istemeleri de bu durumu pekiştirmektedir.</a:t>
            </a:r>
          </a:p>
          <a:p>
            <a:r>
              <a:rPr lang="tr-TR" dirty="0"/>
              <a:t>Başarısızlık Algısı: Başarısızlığı büyük bir itibar kaybı olarak gören kültürlerde, başarılı girişimcilik örneklerinin görülmesi daha zordur.</a:t>
            </a:r>
          </a:p>
          <a:p>
            <a:r>
              <a:rPr lang="tr-TR" dirty="0"/>
              <a:t>Kadın Girişimcilere Yönelik Engeller: Toplumun kadınlara yüklediği annelik, ev hanımlığı gibi roller ve kadının ev dışında çalışmasına yönelik olumsuz bakış açıları, kadın girişimciliğinin önünde önemli bir </a:t>
            </a:r>
            <a:r>
              <a:rPr lang="tr-TR" dirty="0" err="1"/>
              <a:t>sosyo</a:t>
            </a:r>
            <a:r>
              <a:rPr lang="tr-TR" dirty="0"/>
              <a:t>-kültürel engel oluşturmaktadır.</a:t>
            </a:r>
          </a:p>
          <a:p>
            <a:endParaRPr lang="tr-TR" dirty="0"/>
          </a:p>
        </p:txBody>
      </p:sp>
    </p:spTree>
    <p:extLst>
      <p:ext uri="{BB962C8B-B14F-4D97-AF65-F5344CB8AC3E}">
        <p14:creationId xmlns:p14="http://schemas.microsoft.com/office/powerpoint/2010/main" val="24153627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1D307AF-3FA2-74AB-DE86-6A86DF849CFA}"/>
              </a:ext>
            </a:extLst>
          </p:cNvPr>
          <p:cNvSpPr>
            <a:spLocks noGrp="1"/>
          </p:cNvSpPr>
          <p:nvPr>
            <p:ph type="title"/>
          </p:nvPr>
        </p:nvSpPr>
        <p:spPr/>
        <p:txBody>
          <a:bodyPr/>
          <a:lstStyle/>
          <a:p>
            <a:r>
              <a:rPr lang="tr-TR" dirty="0"/>
              <a:t>Girişimciliği Destekleyen Kültürel ve Yapısal Faktörler:</a:t>
            </a:r>
          </a:p>
        </p:txBody>
      </p:sp>
      <p:sp>
        <p:nvSpPr>
          <p:cNvPr id="3" name="İçerik Yer Tutucusu 2">
            <a:extLst>
              <a:ext uri="{FF2B5EF4-FFF2-40B4-BE49-F238E27FC236}">
                <a16:creationId xmlns:a16="http://schemas.microsoft.com/office/drawing/2014/main" id="{76705DB3-A866-F61D-D252-3B90E68E88E0}"/>
              </a:ext>
            </a:extLst>
          </p:cNvPr>
          <p:cNvSpPr>
            <a:spLocks noGrp="1"/>
          </p:cNvSpPr>
          <p:nvPr>
            <p:ph idx="1"/>
          </p:nvPr>
        </p:nvSpPr>
        <p:spPr/>
        <p:txBody>
          <a:bodyPr/>
          <a:lstStyle/>
          <a:p>
            <a:r>
              <a:rPr lang="tr-TR" dirty="0"/>
              <a:t>Tarihsel Kurumlar: Selçuklu dönemindeki Ahilik Teşkilatı, bir esnaf-sanatkâr örgütü olarak önemli bir Türk girişimciliği örneğidir.</a:t>
            </a:r>
          </a:p>
          <a:p>
            <a:r>
              <a:rPr lang="tr-TR" dirty="0"/>
              <a:t>Cumhuriyet İdeolojisi: Cumhuriyetin kuruluş felsefesinde "Türk insanından girişimci meydana getirme" hedefi önemli bir yer tutmuş ve ilk yıllarda bu yönde politikalar izlenmiştir.</a:t>
            </a:r>
          </a:p>
          <a:p>
            <a:r>
              <a:rPr lang="tr-TR" dirty="0"/>
              <a:t>Sosyal Sermaye: Anadolu'daki girişimciler, belirsizlikleri aşmak için aynı dünya görüşünü ve değerleri paylaştıkları gruplar içinde oluşturdukları sosyal sermayeyi bir destek mekanizması olarak kullanmışlardır.</a:t>
            </a:r>
          </a:p>
          <a:p>
            <a:endParaRPr lang="tr-TR" dirty="0"/>
          </a:p>
        </p:txBody>
      </p:sp>
    </p:spTree>
    <p:extLst>
      <p:ext uri="{BB962C8B-B14F-4D97-AF65-F5344CB8AC3E}">
        <p14:creationId xmlns:p14="http://schemas.microsoft.com/office/powerpoint/2010/main" val="40613709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5C2BA05-6EB2-7F3A-3A12-2F103D60C90A}"/>
              </a:ext>
            </a:extLst>
          </p:cNvPr>
          <p:cNvSpPr>
            <a:spLocks noGrp="1"/>
          </p:cNvSpPr>
          <p:nvPr>
            <p:ph type="title"/>
          </p:nvPr>
        </p:nvSpPr>
        <p:spPr/>
        <p:txBody>
          <a:bodyPr/>
          <a:lstStyle/>
          <a:p>
            <a:r>
              <a:rPr lang="tr-TR" dirty="0"/>
              <a:t>Diğer Kültürlerdeki Destek Sistemleri</a:t>
            </a:r>
          </a:p>
        </p:txBody>
      </p:sp>
      <p:sp>
        <p:nvSpPr>
          <p:cNvPr id="3" name="İçerik Yer Tutucusu 2">
            <a:extLst>
              <a:ext uri="{FF2B5EF4-FFF2-40B4-BE49-F238E27FC236}">
                <a16:creationId xmlns:a16="http://schemas.microsoft.com/office/drawing/2014/main" id="{FEC3B77B-76E6-438F-227B-E9BE22E90398}"/>
              </a:ext>
            </a:extLst>
          </p:cNvPr>
          <p:cNvSpPr>
            <a:spLocks noGrp="1"/>
          </p:cNvSpPr>
          <p:nvPr>
            <p:ph idx="1"/>
          </p:nvPr>
        </p:nvSpPr>
        <p:spPr/>
        <p:txBody>
          <a:bodyPr>
            <a:normAutofit fontScale="92500" lnSpcReduction="10000"/>
          </a:bodyPr>
          <a:lstStyle/>
          <a:p>
            <a:r>
              <a:rPr lang="tr-TR" dirty="0"/>
              <a:t>Genellikle Batı toplumlarındaki kültürel yapının girişimciliği daha fazla desteklediği görülmektedir.</a:t>
            </a:r>
          </a:p>
          <a:p>
            <a:r>
              <a:rPr lang="tr-TR" dirty="0"/>
              <a:t>Bireycilik: Batı toplumlarında aile içinde ve eğitim sisteminde bireyciliğin ön plana çıkmasının, ekonomik ve teknolojik gelişmeyi sağlayan girişimciliği desteklediği düşünülmektedir. Kendi patronu olma, bireycilik, başarılı olmak ve para kazanmak gibi değerleri öne çıkaran bir kültür, girişimciliği daha fazla teşvik eder.</a:t>
            </a:r>
          </a:p>
          <a:p>
            <a:r>
              <a:rPr lang="tr-TR" dirty="0"/>
              <a:t>Güven Seviyesi: Toplumdaki güven seviyesinin yüksek olması, girişimcilerin başkalarıyla daha rahat iş birliği yapmalarını ve yetki devretmelerini kolaylaştırarak girişimcilik çabalarını hızlandırır.</a:t>
            </a:r>
          </a:p>
          <a:p>
            <a:r>
              <a:rPr lang="tr-TR" dirty="0"/>
              <a:t>Tarımın ve Üretimin Artışı</a:t>
            </a:r>
          </a:p>
          <a:p>
            <a:pPr marL="0" indent="0">
              <a:buNone/>
            </a:pPr>
            <a:endParaRPr lang="tr-TR" dirty="0"/>
          </a:p>
        </p:txBody>
      </p:sp>
    </p:spTree>
    <p:extLst>
      <p:ext uri="{BB962C8B-B14F-4D97-AF65-F5344CB8AC3E}">
        <p14:creationId xmlns:p14="http://schemas.microsoft.com/office/powerpoint/2010/main" val="2464395909"/>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TotalTime>
  <Words>2187</Words>
  <Application>Microsoft Office PowerPoint</Application>
  <PresentationFormat>Geniş ekran</PresentationFormat>
  <Paragraphs>94</Paragraphs>
  <Slides>28</Slides>
  <Notes>1</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28</vt:i4>
      </vt:variant>
    </vt:vector>
  </HeadingPairs>
  <TitlesOfParts>
    <vt:vector size="34" baseType="lpstr">
      <vt:lpstr>Aptos</vt:lpstr>
      <vt:lpstr>Aptos Display</vt:lpstr>
      <vt:lpstr>Arial</vt:lpstr>
      <vt:lpstr>Calibri</vt:lpstr>
      <vt:lpstr>Calibri-Italic</vt:lpstr>
      <vt:lpstr>Office Teması</vt:lpstr>
      <vt:lpstr>Girişimcilik Özellikleri ve Motivasyonları</vt:lpstr>
      <vt:lpstr>Girişimcilik Kuramları</vt:lpstr>
      <vt:lpstr>PowerPoint Sunusu</vt:lpstr>
      <vt:lpstr>PowerPoint Sunusu</vt:lpstr>
      <vt:lpstr>TEMEL GİRİŞİMCİLİK ÖZELLİKLERİ</vt:lpstr>
      <vt:lpstr>PowerPoint Sunusu</vt:lpstr>
      <vt:lpstr>PowerPoint Sunusu</vt:lpstr>
      <vt:lpstr>PowerPoint Sunusu</vt:lpstr>
      <vt:lpstr>PowerPoint Sunusu</vt:lpstr>
      <vt:lpstr>Uluslararası Literatürde Girişimci Özellikleri ve Açıklamaları </vt:lpstr>
      <vt:lpstr>PowerPoint Sunusu</vt:lpstr>
      <vt:lpstr>PowerPoint Sunusu</vt:lpstr>
      <vt:lpstr>PowerPoint Sunusu</vt:lpstr>
      <vt:lpstr>PowerPoint Sunusu</vt:lpstr>
      <vt:lpstr>PowerPoint Sunusu</vt:lpstr>
      <vt:lpstr>Türk ve dünya girişimcilerinin motivasyonları</vt:lpstr>
      <vt:lpstr>Evrensel Motivasyonlar</vt:lpstr>
      <vt:lpstr>PowerPoint Sunusu</vt:lpstr>
      <vt:lpstr>Türk Girişimcilerine Özgü Motivasyonlar</vt:lpstr>
      <vt:lpstr>PowerPoint Sunusu</vt:lpstr>
      <vt:lpstr>PowerPoint Sunusu</vt:lpstr>
      <vt:lpstr>PowerPoint Sunusu</vt:lpstr>
      <vt:lpstr>Diğer Ülkelerden Motivasyon Örnekleri</vt:lpstr>
      <vt:lpstr>PowerPoint Sunusu</vt:lpstr>
      <vt:lpstr>Girişimciliği Kısıtlayan Kültürel Faktörler:</vt:lpstr>
      <vt:lpstr>PowerPoint Sunusu</vt:lpstr>
      <vt:lpstr>Girişimciliği Destekleyen Kültürel ve Yapısal Faktörler:</vt:lpstr>
      <vt:lpstr>Diğer Kültürlerdeki Destek Sistemleri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RW</dc:creator>
  <cp:lastModifiedBy>RW</cp:lastModifiedBy>
  <cp:revision>1</cp:revision>
  <dcterms:created xsi:type="dcterms:W3CDTF">2025-10-02T15:06:54Z</dcterms:created>
  <dcterms:modified xsi:type="dcterms:W3CDTF">2025-10-07T12:22:54Z</dcterms:modified>
</cp:coreProperties>
</file>